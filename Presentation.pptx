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4.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5.xml" ContentType="application/vnd.openxmlformats-officedocument.theme+xml"/>
  <Override PartName="/ppt/slideLayouts/slideLayout14.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2.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3" r:id="rId1"/>
    <p:sldMasterId id="2147483668" r:id="rId2"/>
    <p:sldMasterId id="2147483674" r:id="rId3"/>
    <p:sldMasterId id="2147483648" r:id="rId4"/>
    <p:sldMasterId id="2147483684" r:id="rId5"/>
    <p:sldMasterId id="2147483697" r:id="rId6"/>
  </p:sldMasterIdLst>
  <p:notesMasterIdLst>
    <p:notesMasterId r:id="rId23"/>
  </p:notesMasterIdLst>
  <p:handoutMasterIdLst>
    <p:handoutMasterId r:id="rId24"/>
  </p:handoutMasterIdLst>
  <p:sldIdLst>
    <p:sldId id="355" r:id="rId7"/>
    <p:sldId id="357" r:id="rId8"/>
    <p:sldId id="369" r:id="rId9"/>
    <p:sldId id="406" r:id="rId10"/>
    <p:sldId id="396" r:id="rId11"/>
    <p:sldId id="397" r:id="rId12"/>
    <p:sldId id="398" r:id="rId13"/>
    <p:sldId id="399" r:id="rId14"/>
    <p:sldId id="407" r:id="rId15"/>
    <p:sldId id="400" r:id="rId16"/>
    <p:sldId id="389" r:id="rId17"/>
    <p:sldId id="402" r:id="rId18"/>
    <p:sldId id="403" r:id="rId19"/>
    <p:sldId id="404" r:id="rId20"/>
    <p:sldId id="409" r:id="rId21"/>
    <p:sldId id="405" r:id="rId22"/>
  </p:sldIdLst>
  <p:sldSz cx="9144000" cy="5143500" type="screen16x9"/>
  <p:notesSz cx="9925050" cy="6665913"/>
  <p:defaultTex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1620">
          <p15:clr>
            <a:srgbClr val="A4A3A4"/>
          </p15:clr>
        </p15:guide>
      </p15:sldGuideLst>
    </p:ext>
    <p:ext uri="{2D200454-40CA-4A62-9FC3-DE9A4176ACB9}">
      <p15:notesGuideLst xmlns:p15="http://schemas.microsoft.com/office/powerpoint/2012/main">
        <p15:guide id="1" orient="horz" pos="2100">
          <p15:clr>
            <a:srgbClr val="A4A3A4"/>
          </p15:clr>
        </p15:guide>
        <p15:guide id="2" pos="312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1A6"/>
    <a:srgbClr val="98C6EA"/>
    <a:srgbClr val="F58023"/>
    <a:srgbClr val="0063BD"/>
    <a:srgbClr val="005293"/>
    <a:srgbClr val="0064BD"/>
    <a:srgbClr val="9999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5ABB26-0587-4C30-8999-92F81FD0307C}">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ittlere Formatvorlage 2 - Akz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84E427A-3D55-4303-BF80-6455036E1DE7}" styleName="Designformatvorlage 1 - Akz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E269D01E-BC32-4049-B463-5C60D7B0CCD2}" styleName="Designformatvorlage 2 - Akz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7B26C5-4107-4FEC-AEDC-1716B250A1EF}" styleName="Helle Formatvorlag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ED083AE6-46FA-4A59-8FB0-9F97EB10719F}" styleName="Helle Formatvorlage 3 - Akz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Helle Formatvorlage 2 - Akz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D27102A9-8310-4765-A935-A1911B00CA55}" styleName="Helle Formatvorlage 1 - Akz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8EC20E35-A176-4012-BC5E-935CFFF8708E}" styleName="Mittlere Formatvorlag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C4B1156A-380E-4F78-BDF5-A606A8083BF9}" styleName="Mittlere Formatvorlage 4 - Akz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74C1A8A3-306A-4EB7-A6B1-4F7E0EB9C5D6}" styleName="Mittlere Formatvorlage 3 - Akz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D7AC3CCA-C797-4891-BE02-D94E43425B78}" styleName="Mittlere Formatvorlag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Helle Formatvorlag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5236" autoAdjust="0"/>
    <p:restoredTop sz="86803" autoAdjust="0"/>
  </p:normalViewPr>
  <p:slideViewPr>
    <p:cSldViewPr snapToGrid="0">
      <p:cViewPr varScale="1">
        <p:scale>
          <a:sx n="122" d="100"/>
          <a:sy n="122" d="100"/>
        </p:scale>
        <p:origin x="192" y="600"/>
      </p:cViewPr>
      <p:guideLst>
        <p:guide orient="horz" pos="2160"/>
        <p:guide pos="2880"/>
        <p:guide orient="horz" pos="1620"/>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100" d="100"/>
        <a:sy n="100" d="100"/>
      </p:scale>
      <p:origin x="0" y="0"/>
    </p:cViewPr>
  </p:sorterViewPr>
  <p:notesViewPr>
    <p:cSldViewPr snapToGrid="0">
      <p:cViewPr varScale="1">
        <p:scale>
          <a:sx n="131" d="100"/>
          <a:sy n="131" d="100"/>
        </p:scale>
        <p:origin x="-810" y="-96"/>
      </p:cViewPr>
      <p:guideLst>
        <p:guide orient="horz" pos="2100"/>
        <p:guide pos="3126"/>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viewProps" Target="viewProps.xml"/><Relationship Id="rId3" Type="http://schemas.openxmlformats.org/officeDocument/2006/relationships/slideMaster" Target="slideMasters/slideMaster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slide" Target="slides/slide14.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handoutMaster" Target="handoutMasters/handoutMaster1.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8356599749263258"/>
          <c:y val="0.1623539968753053"/>
          <c:w val="0.69236816677053614"/>
          <c:h val="0.41872699008493836"/>
        </c:manualLayout>
      </c:layout>
      <c:barChart>
        <c:barDir val="col"/>
        <c:grouping val="clustered"/>
        <c:varyColors val="0"/>
        <c:ser>
          <c:idx val="0"/>
          <c:order val="0"/>
          <c:tx>
            <c:strRef>
              <c:f>Sheet1!$B$1</c:f>
              <c:strCache>
                <c:ptCount val="1"/>
                <c:pt idx="0">
                  <c:v>Tang's</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Precision</c:v>
                </c:pt>
                <c:pt idx="1">
                  <c:v>Recall</c:v>
                </c:pt>
                <c:pt idx="2">
                  <c:v>F1-score</c:v>
                </c:pt>
              </c:strCache>
            </c:strRef>
          </c:cat>
          <c:val>
            <c:numRef>
              <c:f>Sheet1!$B$2:$B$4</c:f>
              <c:numCache>
                <c:formatCode>0.0%</c:formatCode>
                <c:ptCount val="3"/>
                <c:pt idx="0">
                  <c:v>0.57099999999999995</c:v>
                </c:pt>
                <c:pt idx="1">
                  <c:v>0.126</c:v>
                </c:pt>
                <c:pt idx="2">
                  <c:v>0.20599999999999999</c:v>
                </c:pt>
              </c:numCache>
            </c:numRef>
          </c:val>
          <c:extLst>
            <c:ext xmlns:c16="http://schemas.microsoft.com/office/drawing/2014/chart" uri="{C3380CC4-5D6E-409C-BE32-E72D297353CC}">
              <c16:uniqueId val="{00000000-4139-594C-A30D-CBB816D47CD6}"/>
            </c:ext>
          </c:extLst>
        </c:ser>
        <c:ser>
          <c:idx val="1"/>
          <c:order val="1"/>
          <c:tx>
            <c:strRef>
              <c:f>Sheet1!$C$1</c:f>
              <c:strCache>
                <c:ptCount val="1"/>
                <c:pt idx="0">
                  <c:v>Soup_p</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Precision</c:v>
                </c:pt>
                <c:pt idx="1">
                  <c:v>Recall</c:v>
                </c:pt>
                <c:pt idx="2">
                  <c:v>F1-score</c:v>
                </c:pt>
              </c:strCache>
            </c:strRef>
          </c:cat>
          <c:val>
            <c:numRef>
              <c:f>Sheet1!$C$2:$C$4</c:f>
              <c:numCache>
                <c:formatCode>0.0%</c:formatCode>
                <c:ptCount val="3"/>
                <c:pt idx="0">
                  <c:v>0.80800000000000005</c:v>
                </c:pt>
                <c:pt idx="1">
                  <c:v>0.74</c:v>
                </c:pt>
                <c:pt idx="2">
                  <c:v>0.77300000000000002</c:v>
                </c:pt>
              </c:numCache>
            </c:numRef>
          </c:val>
          <c:extLst>
            <c:ext xmlns:c16="http://schemas.microsoft.com/office/drawing/2014/chart" uri="{C3380CC4-5D6E-409C-BE32-E72D297353CC}">
              <c16:uniqueId val="{00000001-4139-594C-A30D-CBB816D47CD6}"/>
            </c:ext>
          </c:extLst>
        </c:ser>
        <c:dLbls>
          <c:dLblPos val="outEnd"/>
          <c:showLegendKey val="0"/>
          <c:showVal val="1"/>
          <c:showCatName val="0"/>
          <c:showSerName val="0"/>
          <c:showPercent val="0"/>
          <c:showBubbleSize val="0"/>
        </c:dLbls>
        <c:gapWidth val="0"/>
        <c:axId val="2002023647"/>
        <c:axId val="1961165631"/>
      </c:barChart>
      <c:catAx>
        <c:axId val="200202364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961165631"/>
        <c:crosses val="autoZero"/>
        <c:auto val="1"/>
        <c:lblAlgn val="ctr"/>
        <c:lblOffset val="100"/>
        <c:noMultiLvlLbl val="0"/>
      </c:catAx>
      <c:valAx>
        <c:axId val="1961165631"/>
        <c:scaling>
          <c:orientation val="minMax"/>
        </c:scaling>
        <c:delete val="1"/>
        <c:axPos val="l"/>
        <c:majorGridlines>
          <c:spPr>
            <a:ln w="9525" cap="flat" cmpd="sng" algn="ctr">
              <a:solidFill>
                <a:schemeClr val="tx1">
                  <a:lumMod val="15000"/>
                  <a:lumOff val="85000"/>
                </a:schemeClr>
              </a:solidFill>
              <a:round/>
            </a:ln>
            <a:effectLst/>
          </c:spPr>
        </c:majorGridlines>
        <c:numFmt formatCode="0.0%" sourceLinked="1"/>
        <c:majorTickMark val="out"/>
        <c:minorTickMark val="none"/>
        <c:tickLblPos val="nextTo"/>
        <c:crossAx val="2002023647"/>
        <c:crosses val="autoZero"/>
        <c:crossBetween val="between"/>
      </c:valAx>
      <c:dTable>
        <c:showHorzBorder val="1"/>
        <c:showVertBorder val="1"/>
        <c:showOutline val="1"/>
        <c:showKeys val="0"/>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1197" b="0" i="0" u="none" strike="noStrike" kern="1200" baseline="0">
                <a:solidFill>
                  <a:schemeClr val="tx1">
                    <a:lumMod val="65000"/>
                    <a:lumOff val="35000"/>
                  </a:schemeClr>
                </a:solidFill>
                <a:latin typeface="+mn-lt"/>
                <a:ea typeface="+mn-ea"/>
                <a:cs typeface="+mn-cs"/>
              </a:defRPr>
            </a:pPr>
            <a:endParaRPr lang="en-US"/>
          </a:p>
        </c:txPr>
      </c:dTable>
      <c:spPr>
        <a:noFill/>
        <a:ln>
          <a:noFill/>
        </a:ln>
        <a:effectLst/>
      </c:spPr>
    </c:plotArea>
    <c:legend>
      <c:legendPos val="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200" dirty="0">
                <a:latin typeface="Arial" panose="020B0604020202020204" pitchFamily="34" charset="0"/>
                <a:cs typeface="Arial" panose="020B0604020202020204" pitchFamily="34" charset="0"/>
              </a:rPr>
              <a:t>Positive</a:t>
            </a:r>
          </a:p>
        </c:rich>
      </c:tx>
      <c:layout>
        <c:manualLayout>
          <c:xMode val="edge"/>
          <c:yMode val="edge"/>
          <c:x val="0.3717233518257973"/>
          <c:y val="0.86108834782084087"/>
        </c:manualLayout>
      </c:layout>
      <c:overlay val="1"/>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doughnutChart>
        <c:varyColors val="1"/>
        <c:ser>
          <c:idx val="0"/>
          <c:order val="0"/>
          <c:tx>
            <c:strRef>
              <c:f>Sheet1!$B$1</c:f>
              <c:strCache>
                <c:ptCount val="1"/>
                <c:pt idx="0">
                  <c:v>Positive</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2-E01A-254D-921F-7CBF92E6C00D}"/>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1-E01A-254D-921F-7CBF92E6C00D}"/>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4-E01A-254D-921F-7CBF92E6C00D}"/>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3-E01A-254D-921F-7CBF92E6C00D}"/>
              </c:ext>
            </c:extLst>
          </c:dPt>
          <c:dLbls>
            <c:dLbl>
              <c:idx val="0"/>
              <c:layout>
                <c:manualLayout>
                  <c:x val="0.13591404578329447"/>
                  <c:y val="0.16888105999286099"/>
                </c:manualLayout>
              </c:layout>
              <c:spPr>
                <a:solidFill>
                  <a:prstClr val="white"/>
                </a:solidFill>
                <a:ln>
                  <a:solidFill>
                    <a:prstClr val="black">
                      <a:lumMod val="25000"/>
                      <a:lumOff val="75000"/>
                    </a:prstClr>
                  </a:solidFill>
                </a:ln>
                <a:effectLst/>
              </c:spPr>
              <c:txPr>
                <a:bodyPr rot="0" spcFirstLastPara="1" vertOverflow="clip" horzOverflow="clip" vert="horz" wrap="square" lIns="38100" tIns="19050" rIns="38100" bIns="19050" anchor="ctr" anchorCtr="1">
                  <a:noAutofit/>
                </a:bodyPr>
                <a:lstStyle/>
                <a:p>
                  <a:pPr>
                    <a:defRPr sz="700" b="0" i="0" u="none" strike="noStrike" kern="1200" baseline="0">
                      <a:solidFill>
                        <a:schemeClr val="dk1">
                          <a:lumMod val="65000"/>
                          <a:lumOff val="35000"/>
                        </a:schemeClr>
                      </a:solidFill>
                      <a:latin typeface="Arial" panose="020B0604020202020204" pitchFamily="34" charset="0"/>
                      <a:ea typeface="+mn-ea"/>
                      <a:cs typeface="Arial" panose="020B0604020202020204" pitchFamily="34" charset="0"/>
                    </a:defRPr>
                  </a:pPr>
                  <a:endParaRPr lang="en-US"/>
                </a:p>
              </c:txPr>
              <c:showLegendKey val="0"/>
              <c:showVal val="0"/>
              <c:showCatName val="1"/>
              <c:showSerName val="0"/>
              <c:showPercent val="0"/>
              <c:showBubbleSize val="0"/>
              <c:separator>, </c:separator>
              <c:extLst>
                <c:ext xmlns:c15="http://schemas.microsoft.com/office/drawing/2012/chart" uri="{CE6537A1-D6FC-4f65-9D91-7224C49458BB}">
                  <c15:spPr xmlns:c15="http://schemas.microsoft.com/office/drawing/2012/chart">
                    <a:prstGeom prst="wedgeRectCallout">
                      <a:avLst/>
                    </a:prstGeom>
                    <a:noFill/>
                    <a:ln>
                      <a:noFill/>
                    </a:ln>
                  </c15:spPr>
                  <c15:layout>
                    <c:manualLayout>
                      <c:w val="0.29203593783911336"/>
                      <c:h val="0.16063623075863709"/>
                    </c:manualLayout>
                  </c15:layout>
                </c:ext>
                <c:ext xmlns:c16="http://schemas.microsoft.com/office/drawing/2014/chart" uri="{C3380CC4-5D6E-409C-BE32-E72D297353CC}">
                  <c16:uniqueId val="{00000002-E01A-254D-921F-7CBF92E6C00D}"/>
                </c:ext>
              </c:extLst>
            </c:dLbl>
            <c:dLbl>
              <c:idx val="1"/>
              <c:layout>
                <c:manualLayout>
                  <c:x val="-0.17419123445163298"/>
                  <c:y val="7.4641802586269096E-2"/>
                </c:manualLayout>
              </c:layout>
              <c:spPr>
                <a:solidFill>
                  <a:prstClr val="white"/>
                </a:solidFill>
                <a:ln>
                  <a:solidFill>
                    <a:prstClr val="black">
                      <a:lumMod val="25000"/>
                      <a:lumOff val="75000"/>
                    </a:prstClr>
                  </a:solidFill>
                </a:ln>
                <a:effectLst/>
              </c:spPr>
              <c:txPr>
                <a:bodyPr rot="0" spcFirstLastPara="1" vertOverflow="clip" horzOverflow="clip" vert="horz" wrap="square" lIns="38100" tIns="19050" rIns="38100" bIns="19050" anchor="ctr" anchorCtr="1">
                  <a:noAutofit/>
                </a:bodyPr>
                <a:lstStyle/>
                <a:p>
                  <a:pPr>
                    <a:defRPr sz="700" b="0" i="0" u="none" strike="noStrike" kern="1200" baseline="0">
                      <a:solidFill>
                        <a:schemeClr val="dk1">
                          <a:lumMod val="65000"/>
                          <a:lumOff val="35000"/>
                        </a:schemeClr>
                      </a:solidFill>
                      <a:latin typeface="Arial" panose="020B0604020202020204" pitchFamily="34" charset="0"/>
                      <a:ea typeface="+mn-ea"/>
                      <a:cs typeface="Arial" panose="020B0604020202020204" pitchFamily="34" charset="0"/>
                    </a:defRPr>
                  </a:pPr>
                  <a:endParaRPr lang="en-US"/>
                </a:p>
              </c:txPr>
              <c:showLegendKey val="0"/>
              <c:showVal val="0"/>
              <c:showCatName val="1"/>
              <c:showSerName val="0"/>
              <c:showPercent val="0"/>
              <c:showBubbleSize val="0"/>
              <c:separator>, </c:separator>
              <c:extLst>
                <c:ext xmlns:c15="http://schemas.microsoft.com/office/drawing/2012/chart" uri="{CE6537A1-D6FC-4f65-9D91-7224C49458BB}">
                  <c15:spPr xmlns:c15="http://schemas.microsoft.com/office/drawing/2012/chart">
                    <a:prstGeom prst="wedgeRectCallout">
                      <a:avLst/>
                    </a:prstGeom>
                    <a:noFill/>
                    <a:ln>
                      <a:noFill/>
                    </a:ln>
                  </c15:spPr>
                  <c15:layout>
                    <c:manualLayout>
                      <c:w val="0.22936043295575387"/>
                      <c:h val="0.11386100036700568"/>
                    </c:manualLayout>
                  </c15:layout>
                </c:ext>
                <c:ext xmlns:c16="http://schemas.microsoft.com/office/drawing/2014/chart" uri="{C3380CC4-5D6E-409C-BE32-E72D297353CC}">
                  <c16:uniqueId val="{00000001-E01A-254D-921F-7CBF92E6C00D}"/>
                </c:ext>
              </c:extLst>
            </c:dLbl>
            <c:dLbl>
              <c:idx val="2"/>
              <c:layout>
                <c:manualLayout>
                  <c:x val="-0.22418760905406282"/>
                  <c:y val="-9.4594594594594628E-2"/>
                </c:manualLayout>
              </c:layout>
              <c:showLegendKey val="0"/>
              <c:showVal val="0"/>
              <c:showCatName val="1"/>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4-E01A-254D-921F-7CBF92E6C00D}"/>
                </c:ext>
              </c:extLst>
            </c:dLbl>
            <c:dLbl>
              <c:idx val="3"/>
              <c:layout>
                <c:manualLayout>
                  <c:x val="5.7348123429418309E-3"/>
                  <c:y val="-0.10841813008089207"/>
                </c:manualLayout>
              </c:layout>
              <c:showLegendKey val="0"/>
              <c:showVal val="0"/>
              <c:showCatName val="1"/>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3-E01A-254D-921F-7CBF92E6C00D}"/>
                </c:ext>
              </c:extLst>
            </c:dLbl>
            <c:spPr>
              <a:solidFill>
                <a:prstClr val="white"/>
              </a:solidFill>
              <a:ln>
                <a:solidFill>
                  <a:prstClr val="black">
                    <a:lumMod val="25000"/>
                    <a:lumOff val="75000"/>
                  </a:prstClr>
                </a:solidFill>
              </a:ln>
              <a:effectLst/>
            </c:spPr>
            <c:txPr>
              <a:bodyPr rot="0" spcFirstLastPara="1" vertOverflow="clip" horzOverflow="clip" vert="horz" wrap="square" lIns="38100" tIns="19050" rIns="38100" bIns="19050" anchor="ctr" anchorCtr="1">
                <a:spAutoFit/>
              </a:bodyPr>
              <a:lstStyle/>
              <a:p>
                <a:pPr>
                  <a:defRPr sz="700" b="0" i="0" u="none" strike="noStrike" kern="1200" baseline="0">
                    <a:solidFill>
                      <a:schemeClr val="dk1">
                        <a:lumMod val="65000"/>
                        <a:lumOff val="35000"/>
                      </a:schemeClr>
                    </a:solidFill>
                    <a:latin typeface="Arial" panose="020B0604020202020204" pitchFamily="34" charset="0"/>
                    <a:ea typeface="+mn-ea"/>
                    <a:cs typeface="Arial" panose="020B0604020202020204" pitchFamily="34" charset="0"/>
                  </a:defRPr>
                </a:pPr>
                <a:endParaRPr lang="en-US"/>
              </a:p>
            </c:txPr>
            <c:showLegendKey val="0"/>
            <c:showVal val="0"/>
            <c:showCatName val="1"/>
            <c:showSerName val="0"/>
            <c:showPercent val="1"/>
            <c:showBubbleSize val="0"/>
            <c:separator>, </c:separator>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Sheet1!$A$2:$A$5</c:f>
              <c:strCache>
                <c:ptCount val="4"/>
                <c:pt idx="0">
                  <c:v>Improvement</c:v>
                </c:pt>
                <c:pt idx="1">
                  <c:v>Weakness</c:v>
                </c:pt>
                <c:pt idx="2">
                  <c:v>Inqury</c:v>
                </c:pt>
                <c:pt idx="3">
                  <c:v>Addition</c:v>
                </c:pt>
              </c:strCache>
            </c:strRef>
          </c:cat>
          <c:val>
            <c:numRef>
              <c:f>Sheet1!$B$2:$B$5</c:f>
              <c:numCache>
                <c:formatCode>General</c:formatCode>
                <c:ptCount val="4"/>
                <c:pt idx="0">
                  <c:v>28</c:v>
                </c:pt>
                <c:pt idx="1">
                  <c:v>14</c:v>
                </c:pt>
                <c:pt idx="2">
                  <c:v>7</c:v>
                </c:pt>
                <c:pt idx="3">
                  <c:v>1</c:v>
                </c:pt>
              </c:numCache>
            </c:numRef>
          </c:val>
          <c:extLst>
            <c:ext xmlns:c16="http://schemas.microsoft.com/office/drawing/2014/chart" uri="{C3380CC4-5D6E-409C-BE32-E72D297353CC}">
              <c16:uniqueId val="{00000000-E01A-254D-921F-7CBF92E6C00D}"/>
            </c:ext>
          </c:extLst>
        </c:ser>
        <c:dLbls>
          <c:showLegendKey val="0"/>
          <c:showVal val="0"/>
          <c:showCatName val="0"/>
          <c:showSerName val="0"/>
          <c:showPercent val="0"/>
          <c:showBubbleSize val="0"/>
          <c:showLeaderLines val="0"/>
        </c:dLbls>
        <c:firstSliceAng val="0"/>
        <c:holeSize val="75"/>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200" dirty="0"/>
              <a:t>Negative</a:t>
            </a:r>
          </a:p>
        </c:rich>
      </c:tx>
      <c:layout>
        <c:manualLayout>
          <c:xMode val="edge"/>
          <c:yMode val="edge"/>
          <c:x val="0.32369764443711907"/>
          <c:y val="0.86196061475966157"/>
        </c:manualLayout>
      </c:layout>
      <c:overlay val="1"/>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doughnutChart>
        <c:varyColors val="1"/>
        <c:ser>
          <c:idx val="0"/>
          <c:order val="0"/>
          <c:tx>
            <c:strRef>
              <c:f>Sheet1!$B$1</c:f>
              <c:strCache>
                <c:ptCount val="1"/>
                <c:pt idx="0">
                  <c:v>Negative</c:v>
                </c:pt>
              </c:strCache>
            </c:strRef>
          </c:tx>
          <c:dPt>
            <c:idx val="0"/>
            <c:bubble3D val="0"/>
            <c:spPr>
              <a:solidFill>
                <a:schemeClr val="accent2"/>
              </a:solidFill>
              <a:ln w="19050">
                <a:solidFill>
                  <a:schemeClr val="lt1"/>
                </a:solidFill>
              </a:ln>
              <a:effectLst/>
            </c:spPr>
            <c:extLst>
              <c:ext xmlns:c16="http://schemas.microsoft.com/office/drawing/2014/chart" uri="{C3380CC4-5D6E-409C-BE32-E72D297353CC}">
                <c16:uniqueId val="{00000002-E63A-7A47-8AB1-62FED6294420}"/>
              </c:ext>
            </c:extLst>
          </c:dPt>
          <c:dPt>
            <c:idx val="1"/>
            <c:bubble3D val="0"/>
            <c:spPr>
              <a:solidFill>
                <a:schemeClr val="accent4"/>
              </a:solidFill>
              <a:ln w="19050">
                <a:solidFill>
                  <a:schemeClr val="lt1"/>
                </a:solidFill>
              </a:ln>
              <a:effectLst/>
            </c:spPr>
            <c:extLst>
              <c:ext xmlns:c16="http://schemas.microsoft.com/office/drawing/2014/chart" uri="{C3380CC4-5D6E-409C-BE32-E72D297353CC}">
                <c16:uniqueId val="{00000001-E63A-7A47-8AB1-62FED6294420}"/>
              </c:ext>
            </c:extLst>
          </c:dPt>
          <c:dPt>
            <c:idx val="2"/>
            <c:bubble3D val="0"/>
            <c:spPr>
              <a:solidFill>
                <a:schemeClr val="accent6"/>
              </a:solidFill>
              <a:ln w="19050">
                <a:solidFill>
                  <a:schemeClr val="lt1"/>
                </a:solidFill>
              </a:ln>
              <a:effectLst/>
            </c:spPr>
            <c:extLst>
              <c:ext xmlns:c16="http://schemas.microsoft.com/office/drawing/2014/chart" uri="{C3380CC4-5D6E-409C-BE32-E72D297353CC}">
                <c16:uniqueId val="{00000003-E63A-7A47-8AB1-62FED6294420}"/>
              </c:ext>
            </c:extLst>
          </c:dPt>
          <c:dPt>
            <c:idx val="3"/>
            <c:bubble3D val="0"/>
            <c:spPr>
              <a:solidFill>
                <a:schemeClr val="accent2">
                  <a:lumMod val="60000"/>
                </a:schemeClr>
              </a:solidFill>
              <a:ln w="19050">
                <a:solidFill>
                  <a:schemeClr val="lt1"/>
                </a:solidFill>
              </a:ln>
              <a:effectLst/>
            </c:spPr>
            <c:extLst>
              <c:ext xmlns:c16="http://schemas.microsoft.com/office/drawing/2014/chart" uri="{C3380CC4-5D6E-409C-BE32-E72D297353CC}">
                <c16:uniqueId val="{00000004-E63A-7A47-8AB1-62FED6294420}"/>
              </c:ext>
            </c:extLst>
          </c:dPt>
          <c:dLbls>
            <c:dLbl>
              <c:idx val="0"/>
              <c:layout>
                <c:manualLayout>
                  <c:x val="0.25993214669646414"/>
                  <c:y val="-6.7799433260800415E-2"/>
                </c:manualLayout>
              </c:layout>
              <c:spPr>
                <a:solidFill>
                  <a:prstClr val="white"/>
                </a:solidFill>
                <a:ln>
                  <a:solidFill>
                    <a:prstClr val="black">
                      <a:lumMod val="25000"/>
                      <a:lumOff val="75000"/>
                    </a:prstClr>
                  </a:solidFill>
                </a:ln>
                <a:effectLst/>
              </c:spPr>
              <c:txPr>
                <a:bodyPr rot="0" spcFirstLastPara="1" vertOverflow="clip" horzOverflow="clip" vert="horz" wrap="square" lIns="38100" tIns="19050" rIns="38100" bIns="19050" anchor="ctr" anchorCtr="1">
                  <a:noAutofit/>
                </a:bodyPr>
                <a:lstStyle/>
                <a:p>
                  <a:pPr>
                    <a:defRPr sz="700" b="0" i="0" u="none" strike="noStrike" kern="1200" baseline="0">
                      <a:solidFill>
                        <a:schemeClr val="dk1">
                          <a:lumMod val="65000"/>
                          <a:lumOff val="35000"/>
                        </a:schemeClr>
                      </a:solidFill>
                      <a:latin typeface="Arial" panose="020B0604020202020204" pitchFamily="34" charset="0"/>
                      <a:ea typeface="+mn-ea"/>
                      <a:cs typeface="Arial" panose="020B0604020202020204" pitchFamily="34" charset="0"/>
                    </a:defRPr>
                  </a:pPr>
                  <a:endParaRPr lang="en-US"/>
                </a:p>
              </c:txPr>
              <c:showLegendKey val="0"/>
              <c:showVal val="0"/>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layout>
                    <c:manualLayout>
                      <c:w val="0.30500703191015527"/>
                      <c:h val="0.13878277061583238"/>
                    </c:manualLayout>
                  </c15:layout>
                </c:ext>
                <c:ext xmlns:c16="http://schemas.microsoft.com/office/drawing/2014/chart" uri="{C3380CC4-5D6E-409C-BE32-E72D297353CC}">
                  <c16:uniqueId val="{00000002-E63A-7A47-8AB1-62FED6294420}"/>
                </c:ext>
              </c:extLst>
            </c:dLbl>
            <c:dLbl>
              <c:idx val="1"/>
              <c:layout>
                <c:manualLayout>
                  <c:x val="0.32320250886751001"/>
                  <c:y val="9.5292649328580694E-3"/>
                </c:manualLayout>
              </c:layout>
              <c:spPr>
                <a:solidFill>
                  <a:prstClr val="white"/>
                </a:solidFill>
                <a:ln>
                  <a:solidFill>
                    <a:prstClr val="black">
                      <a:lumMod val="25000"/>
                      <a:lumOff val="75000"/>
                    </a:prstClr>
                  </a:solidFill>
                </a:ln>
                <a:effectLst/>
              </c:spPr>
              <c:txPr>
                <a:bodyPr rot="0" spcFirstLastPara="1" vertOverflow="clip" horzOverflow="clip" vert="horz" wrap="square" lIns="38100" tIns="19050" rIns="38100" bIns="19050" anchor="ctr" anchorCtr="1">
                  <a:noAutofit/>
                </a:bodyPr>
                <a:lstStyle/>
                <a:p>
                  <a:pPr>
                    <a:defRPr sz="700" b="0" i="0" u="none" strike="noStrike" kern="1200" baseline="0">
                      <a:solidFill>
                        <a:schemeClr val="dk1">
                          <a:lumMod val="65000"/>
                          <a:lumOff val="35000"/>
                        </a:schemeClr>
                      </a:solidFill>
                      <a:latin typeface="Arial" panose="020B0604020202020204" pitchFamily="34" charset="0"/>
                      <a:ea typeface="+mn-ea"/>
                      <a:cs typeface="Arial" panose="020B0604020202020204" pitchFamily="34" charset="0"/>
                    </a:defRPr>
                  </a:pPr>
                  <a:endParaRPr lang="en-US"/>
                </a:p>
              </c:txPr>
              <c:showLegendKey val="0"/>
              <c:showVal val="0"/>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layout>
                    <c:manualLayout>
                      <c:w val="0.26790456874362228"/>
                      <c:h val="0.14383658663842225"/>
                    </c:manualLayout>
                  </c15:layout>
                </c:ext>
                <c:ext xmlns:c16="http://schemas.microsoft.com/office/drawing/2014/chart" uri="{C3380CC4-5D6E-409C-BE32-E72D297353CC}">
                  <c16:uniqueId val="{00000001-E63A-7A47-8AB1-62FED6294420}"/>
                </c:ext>
              </c:extLst>
            </c:dLbl>
            <c:dLbl>
              <c:idx val="2"/>
              <c:layout>
                <c:manualLayout>
                  <c:x val="-0.2632473292873454"/>
                  <c:y val="-4.5199622173866961E-3"/>
                </c:manualLayout>
              </c:layout>
              <c:spPr>
                <a:solidFill>
                  <a:prstClr val="white"/>
                </a:solidFill>
                <a:ln>
                  <a:solidFill>
                    <a:prstClr val="black">
                      <a:lumMod val="25000"/>
                      <a:lumOff val="75000"/>
                    </a:prstClr>
                  </a:solidFill>
                </a:ln>
                <a:effectLst/>
              </c:spPr>
              <c:txPr>
                <a:bodyPr rot="0" spcFirstLastPara="1" vertOverflow="clip" horzOverflow="clip" vert="horz" wrap="square" lIns="38100" tIns="19050" rIns="38100" bIns="19050" anchor="ctr" anchorCtr="1">
                  <a:noAutofit/>
                </a:bodyPr>
                <a:lstStyle/>
                <a:p>
                  <a:pPr>
                    <a:defRPr sz="700" b="0" i="0" u="none" strike="noStrike" kern="1200" baseline="0">
                      <a:solidFill>
                        <a:schemeClr val="dk1">
                          <a:lumMod val="65000"/>
                          <a:lumOff val="35000"/>
                        </a:schemeClr>
                      </a:solidFill>
                      <a:latin typeface="Arial" panose="020B0604020202020204" pitchFamily="34" charset="0"/>
                      <a:ea typeface="+mn-ea"/>
                      <a:cs typeface="Arial" panose="020B0604020202020204" pitchFamily="34" charset="0"/>
                    </a:defRPr>
                  </a:pPr>
                  <a:endParaRPr lang="en-US"/>
                </a:p>
              </c:txPr>
              <c:showLegendKey val="0"/>
              <c:showVal val="0"/>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layout>
                    <c:manualLayout>
                      <c:w val="0.22473507290672751"/>
                      <c:h val="9.465014424729816E-2"/>
                    </c:manualLayout>
                  </c15:layout>
                </c:ext>
                <c:ext xmlns:c16="http://schemas.microsoft.com/office/drawing/2014/chart" uri="{C3380CC4-5D6E-409C-BE32-E72D297353CC}">
                  <c16:uniqueId val="{00000003-E63A-7A47-8AB1-62FED6294420}"/>
                </c:ext>
              </c:extLst>
            </c:dLbl>
            <c:dLbl>
              <c:idx val="3"/>
              <c:layout>
                <c:manualLayout>
                  <c:x val="-3.7049248400592441E-2"/>
                  <c:y val="-0.14463884108560265"/>
                </c:manualLayout>
              </c:layout>
              <c:spPr>
                <a:solidFill>
                  <a:prstClr val="white"/>
                </a:solidFill>
                <a:ln>
                  <a:solidFill>
                    <a:prstClr val="black">
                      <a:lumMod val="25000"/>
                      <a:lumOff val="75000"/>
                    </a:prstClr>
                  </a:solidFill>
                </a:ln>
                <a:effectLst/>
              </c:spPr>
              <c:txPr>
                <a:bodyPr rot="0" spcFirstLastPara="1" vertOverflow="clip" horzOverflow="clip" vert="horz" wrap="square" lIns="38100" tIns="19050" rIns="38100" bIns="19050" anchor="ctr" anchorCtr="1">
                  <a:noAutofit/>
                </a:bodyPr>
                <a:lstStyle/>
                <a:p>
                  <a:pPr>
                    <a:defRPr sz="700" b="0" i="0" u="none" strike="noStrike" kern="1200" baseline="0">
                      <a:solidFill>
                        <a:schemeClr val="dk1">
                          <a:lumMod val="65000"/>
                          <a:lumOff val="35000"/>
                        </a:schemeClr>
                      </a:solidFill>
                      <a:latin typeface="Arial" panose="020B0604020202020204" pitchFamily="34" charset="0"/>
                      <a:ea typeface="+mn-ea"/>
                      <a:cs typeface="Arial" panose="020B0604020202020204" pitchFamily="34" charset="0"/>
                    </a:defRPr>
                  </a:pPr>
                  <a:endParaRPr lang="en-US"/>
                </a:p>
              </c:txPr>
              <c:showLegendKey val="0"/>
              <c:showVal val="0"/>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layout>
                    <c:manualLayout>
                      <c:w val="0.25263338518747636"/>
                      <c:h val="7.1517090901778227E-2"/>
                    </c:manualLayout>
                  </c15:layout>
                </c:ext>
                <c:ext xmlns:c16="http://schemas.microsoft.com/office/drawing/2014/chart" uri="{C3380CC4-5D6E-409C-BE32-E72D297353CC}">
                  <c16:uniqueId val="{00000004-E63A-7A47-8AB1-62FED6294420}"/>
                </c:ext>
              </c:extLst>
            </c:dLbl>
            <c:spPr>
              <a:solidFill>
                <a:prstClr val="white"/>
              </a:solidFill>
              <a:ln>
                <a:solidFill>
                  <a:prstClr val="black">
                    <a:lumMod val="25000"/>
                    <a:lumOff val="75000"/>
                  </a:prstClr>
                </a:solidFill>
              </a:ln>
              <a:effectLst/>
            </c:spPr>
            <c:txPr>
              <a:bodyPr rot="0" spcFirstLastPara="1" vertOverflow="clip" horzOverflow="clip" vert="horz" wrap="square" lIns="38100" tIns="19050" rIns="38100" bIns="19050" anchor="ctr" anchorCtr="1">
                <a:spAutoFit/>
              </a:bodyPr>
              <a:lstStyle/>
              <a:p>
                <a:pPr>
                  <a:defRPr sz="700" b="0" i="0" u="none" strike="noStrike" kern="1200" baseline="0">
                    <a:solidFill>
                      <a:schemeClr val="dk1">
                        <a:lumMod val="65000"/>
                        <a:lumOff val="35000"/>
                      </a:schemeClr>
                    </a:solidFill>
                    <a:latin typeface="Arial" panose="020B0604020202020204" pitchFamily="34" charset="0"/>
                    <a:ea typeface="+mn-ea"/>
                    <a:cs typeface="Arial" panose="020B0604020202020204" pitchFamily="34" charset="0"/>
                  </a:defRPr>
                </a:pPr>
                <a:endParaRPr lang="en-US"/>
              </a:p>
            </c:txPr>
            <c:showLegendKey val="0"/>
            <c:showVal val="0"/>
            <c:showCatName val="1"/>
            <c:showSerName val="0"/>
            <c:showPercent val="0"/>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Sheet1!$A$2:$A$5</c:f>
              <c:strCache>
                <c:ptCount val="4"/>
                <c:pt idx="0">
                  <c:v>Improvement</c:v>
                </c:pt>
                <c:pt idx="1">
                  <c:v>Weakness</c:v>
                </c:pt>
                <c:pt idx="2">
                  <c:v>Inqury</c:v>
                </c:pt>
                <c:pt idx="3">
                  <c:v>Addition</c:v>
                </c:pt>
              </c:strCache>
            </c:strRef>
          </c:cat>
          <c:val>
            <c:numRef>
              <c:f>Sheet1!$B$2:$B$5</c:f>
              <c:numCache>
                <c:formatCode>General</c:formatCode>
                <c:ptCount val="4"/>
                <c:pt idx="0">
                  <c:v>5</c:v>
                </c:pt>
                <c:pt idx="1">
                  <c:v>27</c:v>
                </c:pt>
                <c:pt idx="2">
                  <c:v>4</c:v>
                </c:pt>
                <c:pt idx="3">
                  <c:v>2</c:v>
                </c:pt>
              </c:numCache>
            </c:numRef>
          </c:val>
          <c:extLst>
            <c:ext xmlns:c16="http://schemas.microsoft.com/office/drawing/2014/chart" uri="{C3380CC4-5D6E-409C-BE32-E72D297353CC}">
              <c16:uniqueId val="{00000000-E63A-7A47-8AB1-62FED6294420}"/>
            </c:ext>
          </c:extLst>
        </c:ser>
        <c:dLbls>
          <c:showLegendKey val="0"/>
          <c:showVal val="0"/>
          <c:showCatName val="0"/>
          <c:showSerName val="0"/>
          <c:showPercent val="0"/>
          <c:showBubbleSize val="0"/>
          <c:showLeaderLines val="0"/>
        </c:dLbls>
        <c:firstSliceAng val="0"/>
        <c:holeSize val="75"/>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200" dirty="0"/>
              <a:t>Proposal</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Sheet1!$B$1</c:f>
              <c:strCache>
                <c:ptCount val="1"/>
                <c:pt idx="0">
                  <c:v>Proposal</c:v>
                </c:pt>
              </c:strCache>
            </c:strRef>
          </c:tx>
          <c:dPt>
            <c:idx val="0"/>
            <c:bubble3D val="0"/>
            <c:spPr>
              <a:solidFill>
                <a:schemeClr val="accent2"/>
              </a:solidFill>
              <a:ln w="19050">
                <a:solidFill>
                  <a:schemeClr val="lt1"/>
                </a:solidFill>
              </a:ln>
              <a:effectLst/>
            </c:spPr>
            <c:extLst>
              <c:ext xmlns:c16="http://schemas.microsoft.com/office/drawing/2014/chart" uri="{C3380CC4-5D6E-409C-BE32-E72D297353CC}">
                <c16:uniqueId val="{00000001-571C-454F-81A4-DF3B042C7E7F}"/>
              </c:ext>
            </c:extLst>
          </c:dPt>
          <c:dPt>
            <c:idx val="1"/>
            <c:bubble3D val="0"/>
            <c:spPr>
              <a:solidFill>
                <a:schemeClr val="accent4"/>
              </a:solidFill>
              <a:ln w="19050">
                <a:solidFill>
                  <a:schemeClr val="lt1"/>
                </a:solidFill>
              </a:ln>
              <a:effectLst/>
            </c:spPr>
            <c:extLst>
              <c:ext xmlns:c16="http://schemas.microsoft.com/office/drawing/2014/chart" uri="{C3380CC4-5D6E-409C-BE32-E72D297353CC}">
                <c16:uniqueId val="{00000003-571C-454F-81A4-DF3B042C7E7F}"/>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Accapted</c:v>
                </c:pt>
                <c:pt idx="1">
                  <c:v>Rejected</c:v>
                </c:pt>
              </c:strCache>
            </c:strRef>
          </c:cat>
          <c:val>
            <c:numRef>
              <c:f>Sheet1!$B$2:$B$3</c:f>
              <c:numCache>
                <c:formatCode>General</c:formatCode>
                <c:ptCount val="2"/>
                <c:pt idx="0">
                  <c:v>21</c:v>
                </c:pt>
                <c:pt idx="1">
                  <c:v>29</c:v>
                </c:pt>
              </c:numCache>
            </c:numRef>
          </c:val>
          <c:extLst>
            <c:ext xmlns:c16="http://schemas.microsoft.com/office/drawing/2014/chart" uri="{C3380CC4-5D6E-409C-BE32-E72D297353CC}">
              <c16:uniqueId val="{00000000-2A06-B548-A038-3AD3780AF684}"/>
            </c:ext>
          </c:extLst>
        </c:ser>
        <c:dLbls>
          <c:dLblPos val="bestFit"/>
          <c:showLegendKey val="0"/>
          <c:showVal val="1"/>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2" y="0"/>
            <a:ext cx="4300855" cy="333296"/>
          </a:xfrm>
          <a:prstGeom prst="rect">
            <a:avLst/>
          </a:prstGeom>
        </p:spPr>
        <p:txBody>
          <a:bodyPr vert="horz" lIns="90708" tIns="45354" rIns="90708" bIns="45354" rtlCol="0"/>
          <a:lstStyle>
            <a:lvl1pPr algn="l" fontAlgn="auto">
              <a:spcBef>
                <a:spcPts val="0"/>
              </a:spcBef>
              <a:spcAft>
                <a:spcPts val="0"/>
              </a:spcAft>
              <a:defRPr sz="1200">
                <a:latin typeface="Arial" pitchFamily="34" charset="0"/>
                <a:cs typeface="Arial" pitchFamily="34" charset="0"/>
              </a:defRPr>
            </a:lvl1pPr>
          </a:lstStyle>
          <a:p>
            <a:pPr>
              <a:defRPr/>
            </a:pPr>
            <a:endParaRPr lang="en-GB" dirty="0"/>
          </a:p>
        </p:txBody>
      </p:sp>
      <p:sp>
        <p:nvSpPr>
          <p:cNvPr id="3" name="Datumsplatzhalter 2"/>
          <p:cNvSpPr>
            <a:spLocks noGrp="1"/>
          </p:cNvSpPr>
          <p:nvPr>
            <p:ph type="dt" sz="quarter" idx="1"/>
          </p:nvPr>
        </p:nvSpPr>
        <p:spPr>
          <a:xfrm>
            <a:off x="5621901" y="0"/>
            <a:ext cx="4300855" cy="333296"/>
          </a:xfrm>
          <a:prstGeom prst="rect">
            <a:avLst/>
          </a:prstGeom>
        </p:spPr>
        <p:txBody>
          <a:bodyPr vert="horz" lIns="90708" tIns="45354" rIns="90708" bIns="45354" rtlCol="0"/>
          <a:lstStyle>
            <a:lvl1pPr algn="r" fontAlgn="auto">
              <a:spcBef>
                <a:spcPts val="0"/>
              </a:spcBef>
              <a:spcAft>
                <a:spcPts val="0"/>
              </a:spcAft>
              <a:defRPr sz="1200">
                <a:latin typeface="Arial" pitchFamily="34" charset="0"/>
                <a:cs typeface="Arial" pitchFamily="34" charset="0"/>
              </a:defRPr>
            </a:lvl1pPr>
          </a:lstStyle>
          <a:p>
            <a:pPr>
              <a:defRPr/>
            </a:pPr>
            <a:fld id="{20751376-2EB8-4403-B858-305A8AAA6B01}" type="datetimeFigureOut">
              <a:rPr lang="en-GB"/>
              <a:pPr>
                <a:defRPr/>
              </a:pPr>
              <a:t>07/12/2025</a:t>
            </a:fld>
            <a:endParaRPr lang="en-GB" dirty="0"/>
          </a:p>
        </p:txBody>
      </p:sp>
      <p:sp>
        <p:nvSpPr>
          <p:cNvPr id="4" name="Fußzeilenplatzhalter 3"/>
          <p:cNvSpPr>
            <a:spLocks noGrp="1"/>
          </p:cNvSpPr>
          <p:nvPr>
            <p:ph type="ftr" sz="quarter" idx="2"/>
          </p:nvPr>
        </p:nvSpPr>
        <p:spPr>
          <a:xfrm>
            <a:off x="2" y="6331460"/>
            <a:ext cx="4300855" cy="333296"/>
          </a:xfrm>
          <a:prstGeom prst="rect">
            <a:avLst/>
          </a:prstGeom>
        </p:spPr>
        <p:txBody>
          <a:bodyPr vert="horz" lIns="90708" tIns="45354" rIns="90708" bIns="45354" rtlCol="0" anchor="b"/>
          <a:lstStyle>
            <a:lvl1pPr algn="l" fontAlgn="auto">
              <a:spcBef>
                <a:spcPts val="0"/>
              </a:spcBef>
              <a:spcAft>
                <a:spcPts val="0"/>
              </a:spcAft>
              <a:defRPr sz="1200">
                <a:latin typeface="Arial" pitchFamily="34" charset="0"/>
                <a:cs typeface="Arial" pitchFamily="34" charset="0"/>
              </a:defRPr>
            </a:lvl1pPr>
          </a:lstStyle>
          <a:p>
            <a:pPr>
              <a:defRPr/>
            </a:pPr>
            <a:endParaRPr lang="en-GB"/>
          </a:p>
        </p:txBody>
      </p:sp>
      <p:sp>
        <p:nvSpPr>
          <p:cNvPr id="5" name="Foliennummernplatzhalter 4"/>
          <p:cNvSpPr>
            <a:spLocks noGrp="1"/>
          </p:cNvSpPr>
          <p:nvPr>
            <p:ph type="sldNum" sz="quarter" idx="3"/>
          </p:nvPr>
        </p:nvSpPr>
        <p:spPr>
          <a:xfrm>
            <a:off x="5621901" y="6331460"/>
            <a:ext cx="4300855" cy="333296"/>
          </a:xfrm>
          <a:prstGeom prst="rect">
            <a:avLst/>
          </a:prstGeom>
        </p:spPr>
        <p:txBody>
          <a:bodyPr vert="horz" lIns="90708" tIns="45354" rIns="90708" bIns="45354" rtlCol="0" anchor="b"/>
          <a:lstStyle>
            <a:lvl1pPr algn="r" fontAlgn="auto">
              <a:spcBef>
                <a:spcPts val="0"/>
              </a:spcBef>
              <a:spcAft>
                <a:spcPts val="0"/>
              </a:spcAft>
              <a:defRPr sz="1200">
                <a:latin typeface="Arial" pitchFamily="34" charset="0"/>
                <a:cs typeface="Arial" pitchFamily="34" charset="0"/>
              </a:defRPr>
            </a:lvl1pPr>
          </a:lstStyle>
          <a:p>
            <a:pPr>
              <a:defRPr/>
            </a:pPr>
            <a:fld id="{62C15F7A-46C6-4AD2-BFEC-842DCCCC19C4}" type="slidenum">
              <a:rPr lang="en-GB"/>
              <a:pPr>
                <a:defRPr/>
              </a:pPr>
              <a:t>‹#›</a:t>
            </a:fld>
            <a:endParaRPr lang="en-GB"/>
          </a:p>
        </p:txBody>
      </p:sp>
    </p:spTree>
    <p:extLst>
      <p:ext uri="{BB962C8B-B14F-4D97-AF65-F5344CB8AC3E}">
        <p14:creationId xmlns:p14="http://schemas.microsoft.com/office/powerpoint/2010/main" val="28290957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2" y="0"/>
            <a:ext cx="4300855" cy="333296"/>
          </a:xfrm>
          <a:prstGeom prst="rect">
            <a:avLst/>
          </a:prstGeom>
        </p:spPr>
        <p:txBody>
          <a:bodyPr vert="horz" lIns="90708" tIns="45354" rIns="90708" bIns="45354" rtlCol="0"/>
          <a:lstStyle>
            <a:lvl1pPr algn="l" fontAlgn="auto">
              <a:spcBef>
                <a:spcPts val="0"/>
              </a:spcBef>
              <a:spcAft>
                <a:spcPts val="0"/>
              </a:spcAft>
              <a:defRPr sz="1200">
                <a:latin typeface="Arial" pitchFamily="34" charset="0"/>
                <a:cs typeface="Arial" pitchFamily="34" charset="0"/>
              </a:defRPr>
            </a:lvl1pPr>
          </a:lstStyle>
          <a:p>
            <a:pPr>
              <a:defRPr/>
            </a:pPr>
            <a:endParaRPr lang="en-GB"/>
          </a:p>
        </p:txBody>
      </p:sp>
      <p:sp>
        <p:nvSpPr>
          <p:cNvPr id="3" name="Datumsplatzhalter 2"/>
          <p:cNvSpPr>
            <a:spLocks noGrp="1"/>
          </p:cNvSpPr>
          <p:nvPr>
            <p:ph type="dt" idx="1"/>
          </p:nvPr>
        </p:nvSpPr>
        <p:spPr>
          <a:xfrm>
            <a:off x="5621901" y="0"/>
            <a:ext cx="4300855" cy="333296"/>
          </a:xfrm>
          <a:prstGeom prst="rect">
            <a:avLst/>
          </a:prstGeom>
        </p:spPr>
        <p:txBody>
          <a:bodyPr vert="horz" lIns="90708" tIns="45354" rIns="90708" bIns="45354" rtlCol="0"/>
          <a:lstStyle>
            <a:lvl1pPr algn="r" fontAlgn="auto">
              <a:spcBef>
                <a:spcPts val="0"/>
              </a:spcBef>
              <a:spcAft>
                <a:spcPts val="0"/>
              </a:spcAft>
              <a:defRPr sz="1200">
                <a:latin typeface="+mn-lt"/>
                <a:cs typeface="+mn-cs"/>
              </a:defRPr>
            </a:lvl1pPr>
          </a:lstStyle>
          <a:p>
            <a:pPr>
              <a:defRPr/>
            </a:pPr>
            <a:fld id="{89C46BC9-2C9E-4670-A85A-6A588BA2D405}" type="datetimeFigureOut">
              <a:rPr lang="en-GB"/>
              <a:pPr>
                <a:defRPr/>
              </a:pPr>
              <a:t>07/12/2025</a:t>
            </a:fld>
            <a:endParaRPr lang="en-GB"/>
          </a:p>
        </p:txBody>
      </p:sp>
      <p:sp>
        <p:nvSpPr>
          <p:cNvPr id="4" name="Folienbildplatzhalter 3"/>
          <p:cNvSpPr>
            <a:spLocks noGrp="1" noRot="1" noChangeAspect="1"/>
          </p:cNvSpPr>
          <p:nvPr>
            <p:ph type="sldImg" idx="2"/>
          </p:nvPr>
        </p:nvSpPr>
        <p:spPr>
          <a:xfrm>
            <a:off x="2740025" y="500063"/>
            <a:ext cx="4445000" cy="2500312"/>
          </a:xfrm>
          <a:prstGeom prst="rect">
            <a:avLst/>
          </a:prstGeom>
          <a:noFill/>
          <a:ln w="12700">
            <a:solidFill>
              <a:prstClr val="black"/>
            </a:solidFill>
          </a:ln>
        </p:spPr>
        <p:txBody>
          <a:bodyPr vert="horz" lIns="90708" tIns="45354" rIns="90708" bIns="45354" rtlCol="0" anchor="ctr"/>
          <a:lstStyle/>
          <a:p>
            <a:pPr lvl="0"/>
            <a:endParaRPr lang="en-GB" noProof="0"/>
          </a:p>
        </p:txBody>
      </p:sp>
      <p:sp>
        <p:nvSpPr>
          <p:cNvPr id="5" name="Notizenplatzhalter 4"/>
          <p:cNvSpPr>
            <a:spLocks noGrp="1"/>
          </p:cNvSpPr>
          <p:nvPr>
            <p:ph type="body" sz="quarter" idx="3"/>
          </p:nvPr>
        </p:nvSpPr>
        <p:spPr>
          <a:xfrm>
            <a:off x="992506" y="3166309"/>
            <a:ext cx="7940040" cy="2999661"/>
          </a:xfrm>
          <a:prstGeom prst="rect">
            <a:avLst/>
          </a:prstGeom>
        </p:spPr>
        <p:txBody>
          <a:bodyPr vert="horz" wrap="square" lIns="90708" tIns="45354" rIns="90708" bIns="45354" numCol="1" anchor="t" anchorCtr="0" compatLnSpc="1">
            <a:prstTxWarp prst="textNoShape">
              <a:avLst/>
            </a:prstTxWarp>
            <a:normAutofit/>
          </a:body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a:t>Fünfte Ebene</a:t>
            </a:r>
            <a:endParaRPr lang="en-GB" dirty="0"/>
          </a:p>
        </p:txBody>
      </p:sp>
      <p:sp>
        <p:nvSpPr>
          <p:cNvPr id="6" name="Fußzeilenplatzhalter 5"/>
          <p:cNvSpPr>
            <a:spLocks noGrp="1"/>
          </p:cNvSpPr>
          <p:nvPr>
            <p:ph type="ftr" sz="quarter" idx="4"/>
          </p:nvPr>
        </p:nvSpPr>
        <p:spPr>
          <a:xfrm>
            <a:off x="2" y="6331460"/>
            <a:ext cx="4300855" cy="333296"/>
          </a:xfrm>
          <a:prstGeom prst="rect">
            <a:avLst/>
          </a:prstGeom>
        </p:spPr>
        <p:txBody>
          <a:bodyPr vert="horz" lIns="90708" tIns="45354" rIns="90708" bIns="45354" rtlCol="0" anchor="b"/>
          <a:lstStyle>
            <a:lvl1pPr algn="l" fontAlgn="auto">
              <a:spcBef>
                <a:spcPts val="0"/>
              </a:spcBef>
              <a:spcAft>
                <a:spcPts val="0"/>
              </a:spcAft>
              <a:defRPr sz="1200">
                <a:latin typeface="Arial" pitchFamily="34" charset="0"/>
                <a:cs typeface="Arial" pitchFamily="34" charset="0"/>
              </a:defRPr>
            </a:lvl1pPr>
          </a:lstStyle>
          <a:p>
            <a:pPr>
              <a:defRPr/>
            </a:pPr>
            <a:endParaRPr lang="en-GB"/>
          </a:p>
        </p:txBody>
      </p:sp>
      <p:sp>
        <p:nvSpPr>
          <p:cNvPr id="7" name="Foliennummernplatzhalter 6"/>
          <p:cNvSpPr>
            <a:spLocks noGrp="1"/>
          </p:cNvSpPr>
          <p:nvPr>
            <p:ph type="sldNum" sz="quarter" idx="5"/>
          </p:nvPr>
        </p:nvSpPr>
        <p:spPr>
          <a:xfrm>
            <a:off x="5621901" y="6331460"/>
            <a:ext cx="4300855" cy="333296"/>
          </a:xfrm>
          <a:prstGeom prst="rect">
            <a:avLst/>
          </a:prstGeom>
        </p:spPr>
        <p:txBody>
          <a:bodyPr vert="horz" lIns="90708" tIns="45354" rIns="90708" bIns="45354" rtlCol="0" anchor="b"/>
          <a:lstStyle>
            <a:lvl1pPr algn="r" fontAlgn="auto">
              <a:spcBef>
                <a:spcPts val="0"/>
              </a:spcBef>
              <a:spcAft>
                <a:spcPts val="0"/>
              </a:spcAft>
              <a:defRPr sz="1200">
                <a:latin typeface="+mn-lt"/>
                <a:cs typeface="+mn-cs"/>
              </a:defRPr>
            </a:lvl1pPr>
          </a:lstStyle>
          <a:p>
            <a:pPr>
              <a:defRPr/>
            </a:pPr>
            <a:fld id="{00AFC6D0-44D5-4EB7-828F-6F464F83D79A}" type="slidenum">
              <a:rPr lang="en-GB"/>
              <a:pPr>
                <a:defRPr/>
              </a:pPr>
              <a:t>‹#›</a:t>
            </a:fld>
            <a:endParaRPr lang="en-GB"/>
          </a:p>
        </p:txBody>
      </p:sp>
    </p:spTree>
    <p:extLst>
      <p:ext uri="{BB962C8B-B14F-4D97-AF65-F5344CB8AC3E}">
        <p14:creationId xmlns:p14="http://schemas.microsoft.com/office/powerpoint/2010/main" val="2297997308"/>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itchFamily="34" charset="0"/>
        <a:ea typeface="+mn-ea"/>
        <a:cs typeface="Arial" pitchFamily="34" charset="0"/>
      </a:defRPr>
    </a:lvl1pPr>
    <a:lvl2pPr marL="182563" indent="-182563" algn="l" rtl="0" fontAlgn="base">
      <a:spcBef>
        <a:spcPct val="30000"/>
      </a:spcBef>
      <a:spcAft>
        <a:spcPct val="0"/>
      </a:spcAft>
      <a:buFont typeface="Arial" charset="0"/>
      <a:buChar char="•"/>
      <a:defRPr sz="1200" kern="1200">
        <a:solidFill>
          <a:schemeClr val="tx1"/>
        </a:solidFill>
        <a:latin typeface="+mn-lt"/>
        <a:ea typeface="+mn-ea"/>
        <a:cs typeface="Arial" charset="0"/>
      </a:defRPr>
    </a:lvl2pPr>
    <a:lvl3pPr marL="355600" indent="-173038" algn="l" rtl="0" fontAlgn="base">
      <a:spcBef>
        <a:spcPct val="30000"/>
      </a:spcBef>
      <a:spcAft>
        <a:spcPct val="0"/>
      </a:spcAft>
      <a:buFont typeface="Symbol" pitchFamily="18" charset="2"/>
      <a:buChar char="-"/>
      <a:defRPr sz="1200" kern="1200">
        <a:solidFill>
          <a:schemeClr val="tx1"/>
        </a:solidFill>
        <a:latin typeface="+mn-lt"/>
        <a:ea typeface="+mn-ea"/>
        <a:cs typeface="Arial" charset="0"/>
      </a:defRPr>
    </a:lvl3pPr>
    <a:lvl4pPr marL="538163" indent="-182563" algn="l" rtl="0" fontAlgn="base">
      <a:spcBef>
        <a:spcPct val="30000"/>
      </a:spcBef>
      <a:spcAft>
        <a:spcPct val="0"/>
      </a:spcAft>
      <a:buFont typeface="Courier New" pitchFamily="49" charset="0"/>
      <a:buChar char="o"/>
      <a:defRPr sz="1200" kern="1200">
        <a:solidFill>
          <a:schemeClr val="tx1"/>
        </a:solidFill>
        <a:latin typeface="+mn-lt"/>
        <a:ea typeface="+mn-ea"/>
        <a:cs typeface="Arial" charset="0"/>
      </a:defRPr>
    </a:lvl4pPr>
    <a:lvl5pPr marL="720725" indent="-182563" algn="l" rtl="0" fontAlgn="base">
      <a:spcBef>
        <a:spcPct val="30000"/>
      </a:spcBef>
      <a:spcAft>
        <a:spcPct val="0"/>
      </a:spcAft>
      <a:buFont typeface="Wingdings" pitchFamily="2" charset="2"/>
      <a:buChar char="§"/>
      <a:defRPr sz="1200" kern="1200">
        <a:solidFill>
          <a:schemeClr val="tx1"/>
        </a:solidFill>
        <a:latin typeface="+mn-lt"/>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2740025" y="500063"/>
            <a:ext cx="4445000" cy="2500312"/>
          </a:xfrm>
        </p:spPr>
      </p:sp>
      <p:sp>
        <p:nvSpPr>
          <p:cNvPr id="3" name="Notizenplatzhalter 2"/>
          <p:cNvSpPr>
            <a:spLocks noGrp="1"/>
          </p:cNvSpPr>
          <p:nvPr>
            <p:ph type="body" idx="1"/>
          </p:nvPr>
        </p:nvSpPr>
        <p:spPr/>
        <p:txBody>
          <a:bodyPr>
            <a:normAutofit/>
          </a:bodyPr>
          <a:lstStyle/>
          <a:p>
            <a:r>
              <a:rPr lang="de-DE" dirty="0" err="1"/>
              <a:t>Good</a:t>
            </a:r>
            <a:r>
              <a:rPr lang="de-DE" dirty="0"/>
              <a:t> </a:t>
            </a:r>
            <a:r>
              <a:rPr lang="de-DE" dirty="0" err="1"/>
              <a:t>afternoon</a:t>
            </a:r>
            <a:r>
              <a:rPr lang="de-DE" dirty="0"/>
              <a:t>! </a:t>
            </a:r>
            <a:r>
              <a:rPr lang="de-DE" dirty="0" err="1"/>
              <a:t>Everyone</a:t>
            </a:r>
            <a:r>
              <a:rPr lang="de-DE" dirty="0"/>
              <a:t> ,</a:t>
            </a:r>
            <a:r>
              <a:rPr lang="de-DE" dirty="0" err="1"/>
              <a:t>welcome</a:t>
            </a:r>
            <a:r>
              <a:rPr lang="de-DE" dirty="0"/>
              <a:t> </a:t>
            </a:r>
            <a:r>
              <a:rPr lang="de-DE" dirty="0" err="1"/>
              <a:t>to</a:t>
            </a:r>
            <a:r>
              <a:rPr lang="de-DE" dirty="0"/>
              <a:t> </a:t>
            </a:r>
            <a:r>
              <a:rPr lang="de-DE" dirty="0" err="1"/>
              <a:t>my</a:t>
            </a:r>
            <a:r>
              <a:rPr lang="de-DE" dirty="0"/>
              <a:t> </a:t>
            </a:r>
            <a:r>
              <a:rPr lang="de-DE" dirty="0" err="1"/>
              <a:t>presentation</a:t>
            </a:r>
            <a:r>
              <a:rPr lang="de-DE" dirty="0"/>
              <a:t>. My </a:t>
            </a:r>
            <a:r>
              <a:rPr lang="de-DE" dirty="0" err="1"/>
              <a:t>name</a:t>
            </a:r>
            <a:r>
              <a:rPr lang="de-DE" dirty="0"/>
              <a:t> </a:t>
            </a:r>
            <a:r>
              <a:rPr lang="de-DE" dirty="0" err="1"/>
              <a:t>is</a:t>
            </a:r>
            <a:r>
              <a:rPr lang="de-DE" dirty="0"/>
              <a:t> " ". The </a:t>
            </a:r>
            <a:r>
              <a:rPr lang="de-DE" dirty="0" err="1"/>
              <a:t>paper</a:t>
            </a:r>
            <a:r>
              <a:rPr lang="de-DE" dirty="0"/>
              <a:t> I </a:t>
            </a:r>
            <a:r>
              <a:rPr lang="de-DE" dirty="0" err="1"/>
              <a:t>want</a:t>
            </a:r>
            <a:r>
              <a:rPr lang="de-DE" dirty="0"/>
              <a:t> </a:t>
            </a:r>
            <a:r>
              <a:rPr lang="de-DE" dirty="0" err="1"/>
              <a:t>to</a:t>
            </a:r>
            <a:r>
              <a:rPr lang="de-DE" dirty="0"/>
              <a:t> </a:t>
            </a:r>
            <a:r>
              <a:rPr lang="de-DE" dirty="0" err="1"/>
              <a:t>report</a:t>
            </a:r>
            <a:r>
              <a:rPr lang="de-DE" dirty="0"/>
              <a:t> </a:t>
            </a:r>
            <a:r>
              <a:rPr lang="de-DE" dirty="0" err="1"/>
              <a:t>today</a:t>
            </a:r>
            <a:r>
              <a:rPr lang="de-DE" dirty="0"/>
              <a:t> </a:t>
            </a:r>
            <a:r>
              <a:rPr lang="de-DE" dirty="0" err="1"/>
              <a:t>is</a:t>
            </a:r>
            <a:r>
              <a:rPr lang="de-DE" dirty="0"/>
              <a:t> </a:t>
            </a:r>
            <a:r>
              <a:rPr lang="de-DE" dirty="0" err="1"/>
              <a:t>named</a:t>
            </a:r>
            <a:r>
              <a:rPr lang="de-DE" dirty="0"/>
              <a:t> " ". </a:t>
            </a:r>
          </a:p>
        </p:txBody>
      </p:sp>
      <p:sp>
        <p:nvSpPr>
          <p:cNvPr id="4" name="Foliennummernplatzhalter 3"/>
          <p:cNvSpPr>
            <a:spLocks noGrp="1"/>
          </p:cNvSpPr>
          <p:nvPr>
            <p:ph type="sldNum" sz="quarter" idx="10"/>
          </p:nvPr>
        </p:nvSpPr>
        <p:spPr/>
        <p:txBody>
          <a:bodyPr/>
          <a:lstStyle/>
          <a:p>
            <a:pPr>
              <a:defRPr/>
            </a:pPr>
            <a:fld id="{00AFC6D0-44D5-4EB7-828F-6F464F83D79A}" type="slidenum">
              <a:rPr lang="en-GB" smtClean="0"/>
              <a:pPr>
                <a:defRPr/>
              </a:pPr>
              <a:t>1</a:t>
            </a:fld>
            <a:endParaRPr 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content of my presentation.</a:t>
            </a:r>
          </a:p>
          <a:p>
            <a:r>
              <a:rPr lang="en-US" dirty="0"/>
              <a:t>I will introduce the core part of the </a:t>
            </a:r>
            <a:r>
              <a:rPr lang="en-US" dirty="0" err="1"/>
              <a:t>research.Then</a:t>
            </a:r>
            <a:r>
              <a:rPr lang="en-US" dirty="0"/>
              <a:t> an Q&amp;A section will follow. Where you can ask any question regarding to the research.</a:t>
            </a:r>
          </a:p>
        </p:txBody>
      </p:sp>
      <p:sp>
        <p:nvSpPr>
          <p:cNvPr id="4" name="Slide Number Placeholder 3"/>
          <p:cNvSpPr>
            <a:spLocks noGrp="1"/>
          </p:cNvSpPr>
          <p:nvPr>
            <p:ph type="sldNum" sz="quarter" idx="5"/>
          </p:nvPr>
        </p:nvSpPr>
        <p:spPr/>
        <p:txBody>
          <a:bodyPr/>
          <a:lstStyle/>
          <a:p>
            <a:pPr>
              <a:defRPr/>
            </a:pPr>
            <a:fld id="{00AFC6D0-44D5-4EB7-828F-6F464F83D79A}" type="slidenum">
              <a:rPr lang="en-GB" smtClean="0"/>
              <a:pPr>
                <a:defRPr/>
              </a:pPr>
              <a:t>2</a:t>
            </a:fld>
            <a:endParaRPr lang="en-GB"/>
          </a:p>
        </p:txBody>
      </p:sp>
    </p:spTree>
    <p:extLst>
      <p:ext uri="{BB962C8B-B14F-4D97-AF65-F5344CB8AC3E}">
        <p14:creationId xmlns:p14="http://schemas.microsoft.com/office/powerpoint/2010/main" val="27260754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dirty="0">
                <a:latin typeface="Arial" panose="020B0604020202020204" pitchFamily="34" charset="0"/>
                <a:cs typeface="Arial" panose="020B0604020202020204" pitchFamily="34" charset="0"/>
              </a:rPr>
              <a:t>As we all know SO is a very famous QA platform among software engineers.</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dirty="0">
                <a:latin typeface="Arial" panose="020B0604020202020204" pitchFamily="34" charset="0"/>
                <a:cs typeface="Arial" panose="020B0604020202020204" pitchFamily="34" charset="0"/>
              </a:rPr>
              <a:t>Here is an example of QA on SO. what you might ignored are these comments. Which points out the weakness in the code. </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dirty="0">
              <a:latin typeface="Arial" panose="020B0604020202020204" pitchFamily="34" charset="0"/>
              <a:cs typeface="Arial" panose="020B0604020202020204" pitchFamily="34" charset="0"/>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dirty="0">
                <a:latin typeface="Arial" panose="020B0604020202020204" pitchFamily="34" charset="0"/>
                <a:cs typeface="Arial" panose="020B0604020202020204" pitchFamily="34" charset="0"/>
              </a:rPr>
              <a:t>What I want to say is there indeed are some bugs hidden in the code of some answers. And some of them are using outdated APIs. some are suboptimal solutions.</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dirty="0">
                <a:latin typeface="Arial" panose="020B0604020202020204" pitchFamily="34" charset="0"/>
                <a:cs typeface="Arial" panose="020B0604020202020204" pitchFamily="34" charset="0"/>
              </a:rPr>
              <a:t>As showed in the example here. comment 1 and 2 were overlooked and never integrated.</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dirty="0">
                <a:latin typeface="Arial" panose="020B0604020202020204" pitchFamily="34" charset="0"/>
                <a:cs typeface="Arial" panose="020B0604020202020204" pitchFamily="34" charset="0"/>
              </a:rPr>
              <a:t>Leaving these issues a long time. Which might mislead some developers and even their related works.</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dirty="0">
              <a:latin typeface="Arial" panose="020B0604020202020204" pitchFamily="34" charset="0"/>
              <a:cs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pPr>
              <a:defRPr/>
            </a:pPr>
            <a:fld id="{00AFC6D0-44D5-4EB7-828F-6F464F83D79A}" type="slidenum">
              <a:rPr lang="en-GB" smtClean="0"/>
              <a:pPr>
                <a:defRPr/>
              </a:pPr>
              <a:t>3</a:t>
            </a:fld>
            <a:endParaRPr lang="en-GB"/>
          </a:p>
        </p:txBody>
      </p:sp>
    </p:spTree>
    <p:extLst>
      <p:ext uri="{BB962C8B-B14F-4D97-AF65-F5344CB8AC3E}">
        <p14:creationId xmlns:p14="http://schemas.microsoft.com/office/powerpoint/2010/main" val="16908388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62E3AD-09D6-3738-0F40-C77C0E0E5F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631592-9C51-5E57-26B0-CAB4022160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FEC444-F93E-F250-318F-78E4C6A8E179}"/>
              </a:ext>
            </a:extLst>
          </p:cNvPr>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dirty="0">
                <a:latin typeface="+mn-lt"/>
              </a:rPr>
              <a:t>Comments are very important part for SO, as it includes discussion to a possible solution. Normally, if problems are found by others in the comments. Corresponding code in the post should be updated.</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dirty="0">
                <a:latin typeface="+mn-lt"/>
              </a:rPr>
              <a:t>But in fact. most of these comments are ignored and left the issues for even decades. According to our investigation. only around 5 % of the answers are edited after comments are posted.</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dirty="0">
              <a:latin typeface="+mn-lt"/>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dirty="0">
                <a:latin typeface="+mn-lt"/>
              </a:rPr>
              <a:t>If you want to ask why. One of the post editor might tell you this :"   "</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dirty="0">
              <a:latin typeface="+mn-lt"/>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dirty="0">
                <a:latin typeface="+mn-lt"/>
              </a:rPr>
              <a:t>This actually make a negative influence on SO. So we want to help solve this issue.</a:t>
            </a:r>
          </a:p>
          <a:p>
            <a:endParaRPr lang="en-US" dirty="0"/>
          </a:p>
        </p:txBody>
      </p:sp>
      <p:sp>
        <p:nvSpPr>
          <p:cNvPr id="4" name="Slide Number Placeholder 3">
            <a:extLst>
              <a:ext uri="{FF2B5EF4-FFF2-40B4-BE49-F238E27FC236}">
                <a16:creationId xmlns:a16="http://schemas.microsoft.com/office/drawing/2014/main" id="{8290DF0D-3AB3-195F-2FEA-1C39032D3404}"/>
              </a:ext>
            </a:extLst>
          </p:cNvPr>
          <p:cNvSpPr>
            <a:spLocks noGrp="1"/>
          </p:cNvSpPr>
          <p:nvPr>
            <p:ph type="sldNum" sz="quarter" idx="5"/>
          </p:nvPr>
        </p:nvSpPr>
        <p:spPr/>
        <p:txBody>
          <a:bodyPr/>
          <a:lstStyle/>
          <a:p>
            <a:pPr>
              <a:defRPr/>
            </a:pPr>
            <a:fld id="{00AFC6D0-44D5-4EB7-828F-6F464F83D79A}" type="slidenum">
              <a:rPr lang="en-GB" smtClean="0"/>
              <a:pPr>
                <a:defRPr/>
              </a:pPr>
              <a:t>4</a:t>
            </a:fld>
            <a:endParaRPr lang="en-GB"/>
          </a:p>
        </p:txBody>
      </p:sp>
    </p:spTree>
    <p:extLst>
      <p:ext uri="{BB962C8B-B14F-4D97-AF65-F5344CB8AC3E}">
        <p14:creationId xmlns:p14="http://schemas.microsoft.com/office/powerpoint/2010/main" val="40211881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solve this issue, A question raise, </a:t>
            </a:r>
          </a:p>
          <a:p>
            <a:endParaRPr lang="en-US" dirty="0"/>
          </a:p>
          <a:p>
            <a:r>
              <a:rPr lang="en-US" dirty="0"/>
              <a:t>How we can recognize these weakness hidden in the solution.</a:t>
            </a:r>
          </a:p>
          <a:p>
            <a:endParaRPr lang="en-US" dirty="0"/>
          </a:p>
          <a:p>
            <a:r>
              <a:rPr lang="en-US" dirty="0"/>
              <a:t>Of course, we can do this manually, but it's very time and labor consuming.</a:t>
            </a:r>
          </a:p>
          <a:p>
            <a:endParaRPr lang="en-US" dirty="0"/>
          </a:p>
          <a:p>
            <a:r>
              <a:rPr lang="en-US" dirty="0"/>
              <a:t>You might come up with LLMs, as they nowadays provide the </a:t>
            </a:r>
            <a:r>
              <a:rPr lang="en-US" dirty="0" err="1"/>
              <a:t>possiblity</a:t>
            </a:r>
            <a:r>
              <a:rPr lang="en-US" dirty="0"/>
              <a:t> to understand codes and very powerful to construct automatic work flow.</a:t>
            </a:r>
          </a:p>
          <a:p>
            <a:endParaRPr lang="en-US" dirty="0"/>
          </a:p>
          <a:p>
            <a:r>
              <a:rPr lang="en-US" dirty="0" err="1"/>
              <a:t>Inspried</a:t>
            </a:r>
            <a:r>
              <a:rPr lang="en-US" dirty="0"/>
              <a:t> by this, we come up with the solution, we can " "</a:t>
            </a:r>
          </a:p>
        </p:txBody>
      </p:sp>
      <p:sp>
        <p:nvSpPr>
          <p:cNvPr id="4" name="Slide Number Placeholder 3"/>
          <p:cNvSpPr>
            <a:spLocks noGrp="1"/>
          </p:cNvSpPr>
          <p:nvPr>
            <p:ph type="sldNum" sz="quarter" idx="5"/>
          </p:nvPr>
        </p:nvSpPr>
        <p:spPr/>
        <p:txBody>
          <a:bodyPr/>
          <a:lstStyle/>
          <a:p>
            <a:pPr>
              <a:defRPr/>
            </a:pPr>
            <a:fld id="{00AFC6D0-44D5-4EB7-828F-6F464F83D79A}" type="slidenum">
              <a:rPr lang="en-GB" smtClean="0"/>
              <a:pPr>
                <a:defRPr/>
              </a:pPr>
              <a:t>5</a:t>
            </a:fld>
            <a:endParaRPr lang="en-GB"/>
          </a:p>
        </p:txBody>
      </p:sp>
    </p:spTree>
    <p:extLst>
      <p:ext uri="{BB962C8B-B14F-4D97-AF65-F5344CB8AC3E}">
        <p14:creationId xmlns:p14="http://schemas.microsoft.com/office/powerpoint/2010/main" val="3595974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dirty="0">
                <a:solidFill>
                  <a:srgbClr val="141413"/>
                </a:solidFill>
                <a:latin typeface="Helvetica" pitchFamily="2" charset="0"/>
              </a:rPr>
              <a:t>First, we did an investigation on related work. And we found Tang's paper is the only work in this scenario.</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dirty="0">
              <a:solidFill>
                <a:srgbClr val="141413"/>
              </a:solidFill>
              <a:latin typeface="Helvetica" pitchFamily="2" charset="0"/>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dirty="0">
                <a:solidFill>
                  <a:srgbClr val="141413"/>
                </a:solidFill>
                <a:latin typeface="Helvetica" pitchFamily="2" charset="0"/>
              </a:rPr>
              <a:t>They firstly used a match pattern to build a dataset. It follows 3 heuristic rules. which filter out all the comments posted before the editing  in timeline and  comments which has code term changes .Lastly, they only consider comments posted by different users.</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dirty="0">
              <a:solidFill>
                <a:srgbClr val="141413"/>
              </a:solidFill>
              <a:latin typeface="Helvetica" pitchFamily="2" charset="0"/>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dirty="0">
                <a:solidFill>
                  <a:srgbClr val="141413"/>
                </a:solidFill>
                <a:latin typeface="Helvetica" pitchFamily="2" charset="0"/>
              </a:rPr>
              <a:t>Finally, they get a datasets with only 56% precision. This precision is hard  for a model to train. as half of the data are noises.</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dirty="0">
              <a:solidFill>
                <a:srgbClr val="141413"/>
              </a:solidFill>
              <a:latin typeface="Helvetica" pitchFamily="2" charset="0"/>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dirty="0">
                <a:solidFill>
                  <a:srgbClr val="141413"/>
                </a:solidFill>
                <a:latin typeface="Helvetica" pitchFamily="2" charset="0"/>
              </a:rPr>
              <a:t>After manually </a:t>
            </a:r>
            <a:r>
              <a:rPr lang="en-US" sz="1200" dirty="0" err="1">
                <a:solidFill>
                  <a:srgbClr val="141413"/>
                </a:solidFill>
                <a:latin typeface="Helvetica" pitchFamily="2" charset="0"/>
              </a:rPr>
              <a:t>analzied</a:t>
            </a:r>
            <a:r>
              <a:rPr lang="en-US" sz="1200" dirty="0">
                <a:solidFill>
                  <a:srgbClr val="141413"/>
                </a:solidFill>
                <a:latin typeface="Helvetica" pitchFamily="2" charset="0"/>
              </a:rPr>
              <a:t> the dataset, we find some </a:t>
            </a:r>
            <a:r>
              <a:rPr lang="en-US" sz="1200" dirty="0" err="1">
                <a:solidFill>
                  <a:srgbClr val="141413"/>
                </a:solidFill>
                <a:latin typeface="Helvetica" pitchFamily="2" charset="0"/>
              </a:rPr>
              <a:t>limiations</a:t>
            </a:r>
            <a:r>
              <a:rPr lang="en-US" sz="1200" dirty="0">
                <a:solidFill>
                  <a:srgbClr val="141413"/>
                </a:solidFill>
                <a:latin typeface="Helvetica" pitchFamily="2" charset="0"/>
              </a:rPr>
              <a:t> of Tang’s approach.</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dirty="0">
                <a:solidFill>
                  <a:srgbClr val="141413"/>
                </a:solidFill>
                <a:latin typeface="Helvetica" pitchFamily="2" charset="0"/>
              </a:rPr>
              <a:t>1.""" 2. "" but actually they are not 3. "" making it impossible to be captured by a matching pattern.</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dirty="0">
              <a:latin typeface="Arial" panose="020B0604020202020204" pitchFamily="34" charset="0"/>
              <a:cs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pPr>
              <a:defRPr/>
            </a:pPr>
            <a:fld id="{00AFC6D0-44D5-4EB7-828F-6F464F83D79A}" type="slidenum">
              <a:rPr lang="en-GB" smtClean="0"/>
              <a:pPr>
                <a:defRPr/>
              </a:pPr>
              <a:t>6</a:t>
            </a:fld>
            <a:endParaRPr lang="en-GB"/>
          </a:p>
        </p:txBody>
      </p:sp>
    </p:spTree>
    <p:extLst>
      <p:ext uri="{BB962C8B-B14F-4D97-AF65-F5344CB8AC3E}">
        <p14:creationId xmlns:p14="http://schemas.microsoft.com/office/powerpoint/2010/main" val="36029092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We firstly defined a VCP task, which is a binary prediction task. It's designed to predict whether a tuple of post updated before, after and corresponding comments are related or not.</a:t>
            </a:r>
          </a:p>
          <a:p>
            <a:endParaRPr lang="en-US" altLang="zh-CN" dirty="0"/>
          </a:p>
          <a:p>
            <a:r>
              <a:rPr lang="en-US" altLang="zh-CN" dirty="0"/>
              <a:t>The goal of this task is to build a HQ dataset.</a:t>
            </a:r>
          </a:p>
          <a:p>
            <a:endParaRPr lang="en-US" altLang="zh-CN" dirty="0"/>
          </a:p>
          <a:p>
            <a:r>
              <a:rPr lang="en-US" altLang="zh-CN" dirty="0"/>
              <a:t>Below it's the work flow of VCP. We collect changes from SO Post edit history since Sep,23,2019,which is the same configuration as Tang's work.</a:t>
            </a:r>
          </a:p>
          <a:p>
            <a:endParaRPr lang="en-US" altLang="zh-CN" dirty="0"/>
          </a:p>
          <a:p>
            <a:r>
              <a:rPr lang="en-US" altLang="zh-CN" dirty="0"/>
              <a:t>To check if they are valid, we apply 4 heuristic rules as showed here.</a:t>
            </a:r>
          </a:p>
          <a:p>
            <a:r>
              <a:rPr lang="en-US" altLang="zh-CN" dirty="0"/>
              <a:t>1. Java, 2. With code 3.Single edit due to hardware </a:t>
            </a:r>
            <a:r>
              <a:rPr lang="en-US" altLang="zh-CN" dirty="0" err="1"/>
              <a:t>limiation</a:t>
            </a:r>
            <a:r>
              <a:rPr lang="en-US" altLang="zh-CN" dirty="0"/>
              <a:t> 4.The closest edit.</a:t>
            </a:r>
          </a:p>
          <a:p>
            <a:endParaRPr lang="en-US" altLang="zh-CN" dirty="0"/>
          </a:p>
          <a:p>
            <a:r>
              <a:rPr lang="en-US" altLang="zh-CN" dirty="0"/>
              <a:t>After getting a full scale dataset, we sampled 5k data to do a human annotation. which is lead by 2 experienced java software engineering. </a:t>
            </a:r>
          </a:p>
          <a:p>
            <a:endParaRPr lang="en-US" altLang="zh-CN" dirty="0"/>
          </a:p>
          <a:p>
            <a:endParaRPr lang="en-US" dirty="0"/>
          </a:p>
          <a:p>
            <a:endParaRPr lang="en-US" dirty="0"/>
          </a:p>
        </p:txBody>
      </p:sp>
      <p:sp>
        <p:nvSpPr>
          <p:cNvPr id="4" name="Slide Number Placeholder 3"/>
          <p:cNvSpPr>
            <a:spLocks noGrp="1"/>
          </p:cNvSpPr>
          <p:nvPr>
            <p:ph type="sldNum" sz="quarter" idx="5"/>
          </p:nvPr>
        </p:nvSpPr>
        <p:spPr/>
        <p:txBody>
          <a:bodyPr/>
          <a:lstStyle/>
          <a:p>
            <a:pPr>
              <a:defRPr/>
            </a:pPr>
            <a:fld id="{00AFC6D0-44D5-4EB7-828F-6F464F83D79A}" type="slidenum">
              <a:rPr lang="en-GB" smtClean="0"/>
              <a:pPr>
                <a:defRPr/>
              </a:pPr>
              <a:t>7</a:t>
            </a:fld>
            <a:endParaRPr lang="en-GB"/>
          </a:p>
        </p:txBody>
      </p:sp>
    </p:spTree>
    <p:extLst>
      <p:ext uri="{BB962C8B-B14F-4D97-AF65-F5344CB8AC3E}">
        <p14:creationId xmlns:p14="http://schemas.microsoft.com/office/powerpoint/2010/main" val="7365879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solidFill>
                  <a:srgbClr val="141413"/>
                </a:solidFill>
                <a:effectLst/>
                <a:latin typeface="Helvetica" pitchFamily="2" charset="0"/>
              </a:rPr>
              <a:t>We split the human annotated dataset into three datasets. </a:t>
            </a:r>
          </a:p>
          <a:p>
            <a:r>
              <a:rPr lang="en-US" dirty="0">
                <a:solidFill>
                  <a:srgbClr val="141413"/>
                </a:solidFill>
                <a:effectLst/>
                <a:latin typeface="Helvetica" pitchFamily="2" charset="0"/>
              </a:rPr>
              <a:t>the train set is used to fine-tune LLMs for the VCP task,</a:t>
            </a:r>
          </a:p>
          <a:p>
            <a:r>
              <a:rPr lang="en-US" dirty="0">
                <a:solidFill>
                  <a:srgbClr val="141413"/>
                </a:solidFill>
                <a:effectLst/>
                <a:latin typeface="Helvetica" pitchFamily="2" charset="0"/>
              </a:rPr>
              <a:t>the validation set is used to minimize the overfitting, and the</a:t>
            </a:r>
          </a:p>
          <a:p>
            <a:r>
              <a:rPr lang="en-US" dirty="0">
                <a:solidFill>
                  <a:srgbClr val="141413"/>
                </a:solidFill>
                <a:effectLst/>
                <a:latin typeface="Helvetica" pitchFamily="2" charset="0"/>
              </a:rPr>
              <a:t>test set is only used for evaluation.</a:t>
            </a:r>
          </a:p>
          <a:p>
            <a:r>
              <a:rPr lang="en-US" dirty="0">
                <a:solidFill>
                  <a:srgbClr val="141413"/>
                </a:solidFill>
                <a:effectLst/>
                <a:latin typeface="Helvetica" pitchFamily="2" charset="0"/>
              </a:rPr>
              <a:t>The technique we used here is Prompt learning. Which is a hot topic </a:t>
            </a:r>
            <a:r>
              <a:rPr lang="en-US" dirty="0" err="1">
                <a:solidFill>
                  <a:srgbClr val="141413"/>
                </a:solidFill>
                <a:effectLst/>
                <a:latin typeface="Helvetica" pitchFamily="2" charset="0"/>
              </a:rPr>
              <a:t>currenlty</a:t>
            </a:r>
            <a:r>
              <a:rPr lang="en-US" dirty="0">
                <a:solidFill>
                  <a:srgbClr val="141413"/>
                </a:solidFill>
                <a:effectLst/>
                <a:latin typeface="Helvetica" pitchFamily="2" charset="0"/>
              </a:rPr>
              <a:t>. The main idea is to give instruction to LLM  and ask them to follow. Our template for prompt is shown here on the right. We give prompt includes 1. """ 2. "" requirements  delimiters and also ask LLM to learn from error case iteratively. Which is called prompt learning.</a:t>
            </a:r>
          </a:p>
          <a:p>
            <a:endParaRPr lang="en-US" dirty="0">
              <a:solidFill>
                <a:srgbClr val="141413"/>
              </a:solidFill>
              <a:effectLst/>
              <a:latin typeface="Helvetica" pitchFamily="2" charset="0"/>
            </a:endParaRPr>
          </a:p>
          <a:p>
            <a:r>
              <a:rPr lang="en-US" dirty="0">
                <a:solidFill>
                  <a:srgbClr val="141413"/>
                </a:solidFill>
                <a:effectLst/>
                <a:latin typeface="Helvetica" pitchFamily="2" charset="0"/>
              </a:rPr>
              <a:t>As you can see here on the right. The label of the output shows the validation of an instance.</a:t>
            </a:r>
          </a:p>
        </p:txBody>
      </p:sp>
      <p:sp>
        <p:nvSpPr>
          <p:cNvPr id="4" name="Slide Number Placeholder 3"/>
          <p:cNvSpPr>
            <a:spLocks noGrp="1"/>
          </p:cNvSpPr>
          <p:nvPr>
            <p:ph type="sldNum" sz="quarter" idx="5"/>
          </p:nvPr>
        </p:nvSpPr>
        <p:spPr/>
        <p:txBody>
          <a:bodyPr/>
          <a:lstStyle/>
          <a:p>
            <a:pPr>
              <a:defRPr/>
            </a:pPr>
            <a:fld id="{00AFC6D0-44D5-4EB7-828F-6F464F83D79A}" type="slidenum">
              <a:rPr lang="en-GB" smtClean="0"/>
              <a:pPr>
                <a:defRPr/>
              </a:pPr>
              <a:t>8</a:t>
            </a:fld>
            <a:endParaRPr lang="en-GB"/>
          </a:p>
        </p:txBody>
      </p:sp>
    </p:spTree>
    <p:extLst>
      <p:ext uri="{BB962C8B-B14F-4D97-AF65-F5344CB8AC3E}">
        <p14:creationId xmlns:p14="http://schemas.microsoft.com/office/powerpoint/2010/main" val="5690056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rgbClr val="141413"/>
                </a:solidFill>
                <a:effectLst/>
                <a:latin typeface="Helvetica" pitchFamily="2" charset="0"/>
              </a:rPr>
              <a:t>Then I would like to introduce our APU task, which is designed to give an updated post with post before and corresponding comments.</a:t>
            </a:r>
          </a:p>
          <a:p>
            <a:endParaRPr lang="en-US" dirty="0">
              <a:solidFill>
                <a:srgbClr val="141413"/>
              </a:solidFill>
              <a:effectLst/>
              <a:latin typeface="Helvetica" pitchFamily="2" charset="0"/>
            </a:endParaRPr>
          </a:p>
          <a:p>
            <a:r>
              <a:rPr lang="en-US" dirty="0">
                <a:solidFill>
                  <a:srgbClr val="141413"/>
                </a:solidFill>
                <a:effectLst/>
                <a:latin typeface="Helvetica" pitchFamily="2" charset="0"/>
              </a:rPr>
              <a:t>We firstly generate a HQ dataset with the help of SOUP-p. And we feed this HQ dataset into LLM, here we use </a:t>
            </a:r>
            <a:r>
              <a:rPr lang="en-US" dirty="0" err="1">
                <a:solidFill>
                  <a:srgbClr val="141413"/>
                </a:solidFill>
                <a:effectLst/>
                <a:latin typeface="Helvetica" pitchFamily="2" charset="0"/>
              </a:rPr>
              <a:t>CodeLlamma</a:t>
            </a:r>
            <a:r>
              <a:rPr lang="en-US" dirty="0">
                <a:solidFill>
                  <a:srgbClr val="141413"/>
                </a:solidFill>
                <a:effectLst/>
                <a:latin typeface="Helvetica" pitchFamily="2" charset="0"/>
              </a:rPr>
              <a:t>. By doing prompt learning again here. we can get SOUP-u. A fine-tuned LLM to give updated post with required VCP.</a:t>
            </a:r>
          </a:p>
          <a:p>
            <a:endParaRPr lang="en-US" dirty="0">
              <a:solidFill>
                <a:srgbClr val="141413"/>
              </a:solidFill>
              <a:effectLst/>
              <a:latin typeface="Helvetica" pitchFamily="2" charset="0"/>
            </a:endParaRPr>
          </a:p>
          <a:p>
            <a:endParaRPr lang="en-US" dirty="0">
              <a:solidFill>
                <a:srgbClr val="141413"/>
              </a:solidFill>
              <a:effectLst/>
              <a:latin typeface="Helvetica" pitchFamily="2" charset="0"/>
            </a:endParaRPr>
          </a:p>
          <a:p>
            <a:endParaRPr lang="en-US" dirty="0">
              <a:solidFill>
                <a:srgbClr val="141413"/>
              </a:solidFill>
              <a:effectLst/>
              <a:latin typeface="Helvetica" pitchFamily="2" charset="0"/>
            </a:endParaRPr>
          </a:p>
          <a:p>
            <a:endParaRPr lang="en-US" dirty="0"/>
          </a:p>
        </p:txBody>
      </p:sp>
      <p:sp>
        <p:nvSpPr>
          <p:cNvPr id="4" name="Slide Number Placeholder 3"/>
          <p:cNvSpPr>
            <a:spLocks noGrp="1"/>
          </p:cNvSpPr>
          <p:nvPr>
            <p:ph type="sldNum" sz="quarter" idx="5"/>
          </p:nvPr>
        </p:nvSpPr>
        <p:spPr/>
        <p:txBody>
          <a:bodyPr/>
          <a:lstStyle/>
          <a:p>
            <a:pPr>
              <a:defRPr/>
            </a:pPr>
            <a:fld id="{00AFC6D0-44D5-4EB7-828F-6F464F83D79A}" type="slidenum">
              <a:rPr lang="en-GB" smtClean="0"/>
              <a:pPr>
                <a:defRPr/>
              </a:pPr>
              <a:t>9</a:t>
            </a:fld>
            <a:endParaRPr lang="en-GB"/>
          </a:p>
        </p:txBody>
      </p:sp>
    </p:spTree>
    <p:extLst>
      <p:ext uri="{BB962C8B-B14F-4D97-AF65-F5344CB8AC3E}">
        <p14:creationId xmlns:p14="http://schemas.microsoft.com/office/powerpoint/2010/main" val="22421857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endParaRPr lang="en-US" dirty="0">
              <a:solidFill>
                <a:srgbClr val="141413"/>
              </a:solidFill>
              <a:effectLst/>
              <a:latin typeface="Helvetica" pitchFamily="2" charset="0"/>
            </a:endParaRPr>
          </a:p>
          <a:p>
            <a:r>
              <a:rPr lang="en-US" dirty="0">
                <a:solidFill>
                  <a:srgbClr val="141413"/>
                </a:solidFill>
                <a:effectLst/>
                <a:latin typeface="Helvetica" pitchFamily="2" charset="0"/>
              </a:rPr>
              <a:t>After constructing the large-scale  HQ dataset, we</a:t>
            </a:r>
          </a:p>
          <a:p>
            <a:r>
              <a:rPr lang="en-US" dirty="0">
                <a:solidFill>
                  <a:srgbClr val="141413"/>
                </a:solidFill>
                <a:effectLst/>
                <a:latin typeface="Helvetica" pitchFamily="2" charset="0"/>
              </a:rPr>
              <a:t>randomly split the dataset into train/validation/test set by the</a:t>
            </a:r>
          </a:p>
          <a:p>
            <a:r>
              <a:rPr lang="en-US" dirty="0">
                <a:solidFill>
                  <a:srgbClr val="141413"/>
                </a:solidFill>
                <a:effectLst/>
                <a:latin typeface="Helvetica" pitchFamily="2" charset="0"/>
              </a:rPr>
              <a:t>ratio of 8:1:1.</a:t>
            </a:r>
          </a:p>
          <a:p>
            <a:endParaRPr lang="en-US" dirty="0"/>
          </a:p>
          <a:p>
            <a:r>
              <a:rPr lang="en-US" dirty="0">
                <a:solidFill>
                  <a:srgbClr val="141413"/>
                </a:solidFill>
                <a:effectLst/>
                <a:latin typeface="Helvetica" pitchFamily="2" charset="0"/>
              </a:rPr>
              <a:t>The train set is used to fine-tune LLMs on</a:t>
            </a:r>
          </a:p>
          <a:p>
            <a:r>
              <a:rPr lang="en-US" dirty="0">
                <a:solidFill>
                  <a:srgbClr val="141413"/>
                </a:solidFill>
                <a:effectLst/>
                <a:latin typeface="Helvetica" pitchFamily="2" charset="0"/>
              </a:rPr>
              <a:t>the APU task, the validation set is used to assess how well</a:t>
            </a:r>
          </a:p>
          <a:p>
            <a:r>
              <a:rPr lang="en-US" dirty="0">
                <a:solidFill>
                  <a:srgbClr val="141413"/>
                </a:solidFill>
                <a:effectLst/>
                <a:latin typeface="Helvetica" pitchFamily="2" charset="0"/>
              </a:rPr>
              <a:t>the model generalizes to new samples. </a:t>
            </a:r>
          </a:p>
          <a:p>
            <a:r>
              <a:rPr lang="en-US" dirty="0">
                <a:solidFill>
                  <a:srgbClr val="141413"/>
                </a:solidFill>
                <a:effectLst/>
                <a:latin typeface="Helvetica" pitchFamily="2" charset="0"/>
              </a:rPr>
              <a:t>What I want to mention here is that we also used a technique called </a:t>
            </a:r>
            <a:r>
              <a:rPr lang="en-US" dirty="0" err="1">
                <a:solidFill>
                  <a:srgbClr val="141413"/>
                </a:solidFill>
                <a:effectLst/>
                <a:latin typeface="Helvetica" pitchFamily="2" charset="0"/>
              </a:rPr>
              <a:t>LoRA</a:t>
            </a:r>
            <a:r>
              <a:rPr lang="en-US" dirty="0">
                <a:solidFill>
                  <a:srgbClr val="141413"/>
                </a:solidFill>
                <a:effectLst/>
                <a:latin typeface="Helvetica" pitchFamily="2" charset="0"/>
              </a:rPr>
              <a:t>. which is short " ". The main idea of this technique is to add a new parameter matrix </a:t>
            </a:r>
            <a:r>
              <a:rPr lang="en-US" dirty="0" err="1">
                <a:solidFill>
                  <a:srgbClr val="141413"/>
                </a:solidFill>
                <a:effectLst/>
                <a:latin typeface="Helvetica" pitchFamily="2" charset="0"/>
              </a:rPr>
              <a:t>BAx</a:t>
            </a:r>
            <a:r>
              <a:rPr lang="en-US" dirty="0">
                <a:solidFill>
                  <a:srgbClr val="141413"/>
                </a:solidFill>
                <a:effectLst/>
                <a:latin typeface="Helvetica" pitchFamily="2" charset="0"/>
              </a:rPr>
              <a:t>, so that we can calculate the change of parameters matrix instead of updating the whole large parameters matrix.</a:t>
            </a:r>
          </a:p>
          <a:p>
            <a:endParaRPr lang="en-US" dirty="0">
              <a:solidFill>
                <a:srgbClr val="141413"/>
              </a:solidFill>
              <a:effectLst/>
              <a:latin typeface="Helvetica" pitchFamily="2" charset="0"/>
            </a:endParaRPr>
          </a:p>
          <a:p>
            <a:r>
              <a:rPr lang="en-US" dirty="0">
                <a:solidFill>
                  <a:srgbClr val="141413"/>
                </a:solidFill>
                <a:effectLst/>
                <a:latin typeface="Helvetica" pitchFamily="2" charset="0"/>
              </a:rPr>
              <a:t>The diagram on the right shows how this works with two small matrix.</a:t>
            </a:r>
          </a:p>
          <a:p>
            <a:endParaRPr lang="en-US" dirty="0"/>
          </a:p>
        </p:txBody>
      </p:sp>
      <p:sp>
        <p:nvSpPr>
          <p:cNvPr id="4" name="Slide Number Placeholder 3"/>
          <p:cNvSpPr>
            <a:spLocks noGrp="1"/>
          </p:cNvSpPr>
          <p:nvPr>
            <p:ph type="sldNum" sz="quarter" idx="5"/>
          </p:nvPr>
        </p:nvSpPr>
        <p:spPr/>
        <p:txBody>
          <a:bodyPr/>
          <a:lstStyle/>
          <a:p>
            <a:pPr>
              <a:defRPr/>
            </a:pPr>
            <a:fld id="{00AFC6D0-44D5-4EB7-828F-6F464F83D79A}" type="slidenum">
              <a:rPr lang="en-GB" smtClean="0"/>
              <a:pPr>
                <a:defRPr/>
              </a:pPr>
              <a:t>10</a:t>
            </a:fld>
            <a:endParaRPr lang="en-GB"/>
          </a:p>
        </p:txBody>
      </p:sp>
    </p:spTree>
    <p:extLst>
      <p:ext uri="{BB962C8B-B14F-4D97-AF65-F5344CB8AC3E}">
        <p14:creationId xmlns:p14="http://schemas.microsoft.com/office/powerpoint/2010/main" val="18404041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a:lnSpc>
                <a:spcPct val="114000"/>
              </a:lnSpc>
            </a:pPr>
            <a:r>
              <a:rPr lang="en-US" sz="1200" dirty="0">
                <a:latin typeface="+mn-lt"/>
              </a:rPr>
              <a:t>Then we can talk about the evaluation of our research.</a:t>
            </a:r>
          </a:p>
          <a:p>
            <a:pPr>
              <a:lnSpc>
                <a:spcPct val="114000"/>
              </a:lnSpc>
            </a:pPr>
            <a:r>
              <a:rPr lang="en-US" sz="1200" dirty="0">
                <a:latin typeface="+mn-lt"/>
              </a:rPr>
              <a:t>The first RQ is """.</a:t>
            </a:r>
          </a:p>
          <a:p>
            <a:pPr>
              <a:lnSpc>
                <a:spcPct val="114000"/>
              </a:lnSpc>
            </a:pPr>
            <a:endParaRPr lang="en-US" sz="1200" dirty="0">
              <a:latin typeface="+mn-lt"/>
            </a:endParaRPr>
          </a:p>
          <a:p>
            <a:pPr>
              <a:lnSpc>
                <a:spcPct val="114000"/>
              </a:lnSpc>
            </a:pPr>
            <a:r>
              <a:rPr lang="en-US" sz="1200" dirty="0">
                <a:latin typeface="+mn-lt"/>
              </a:rPr>
              <a:t>Here is our experiment setting, which use 80% of human </a:t>
            </a:r>
            <a:r>
              <a:rPr lang="en-US" sz="1200" dirty="0" err="1">
                <a:latin typeface="+mn-lt"/>
              </a:rPr>
              <a:t>annoatated</a:t>
            </a:r>
            <a:r>
              <a:rPr lang="en-US" sz="1200" dirty="0">
                <a:latin typeface="+mn-lt"/>
              </a:rPr>
              <a:t> data to get SOUP-p</a:t>
            </a:r>
          </a:p>
          <a:p>
            <a:pPr>
              <a:lnSpc>
                <a:spcPct val="114000"/>
              </a:lnSpc>
            </a:pPr>
            <a:r>
              <a:rPr lang="en-US" sz="1200" dirty="0">
                <a:latin typeface="+mn-lt"/>
              </a:rPr>
              <a:t>The result comes out on the right part. As you can see clearly that our approach to predict VCP has a much higher precision and also recall.</a:t>
            </a:r>
          </a:p>
          <a:p>
            <a:pPr>
              <a:lnSpc>
                <a:spcPct val="114000"/>
              </a:lnSpc>
            </a:pPr>
            <a:endParaRPr lang="en-US" sz="1200" dirty="0">
              <a:latin typeface="+mn-lt"/>
            </a:endParaRPr>
          </a:p>
          <a:p>
            <a:pPr>
              <a:lnSpc>
                <a:spcPct val="114000"/>
              </a:lnSpc>
            </a:pPr>
            <a:r>
              <a:rPr lang="en-US" sz="1200" dirty="0">
                <a:latin typeface="+mn-lt"/>
              </a:rPr>
              <a:t>This is </a:t>
            </a:r>
            <a:r>
              <a:rPr lang="en-US" sz="1200" dirty="0" err="1">
                <a:latin typeface="+mn-lt"/>
              </a:rPr>
              <a:t>becauseTang's</a:t>
            </a:r>
            <a:r>
              <a:rPr lang="en-US" sz="1200" dirty="0">
                <a:latin typeface="+mn-lt"/>
              </a:rPr>
              <a:t> approach cant' """, which miss a lot valid tuples, leading  to a low recall. and it cant'""" as it regards code term as a key </a:t>
            </a:r>
            <a:r>
              <a:rPr lang="en-US" sz="1200" dirty="0" err="1">
                <a:latin typeface="+mn-lt"/>
              </a:rPr>
              <a:t>factor,ends</a:t>
            </a:r>
            <a:r>
              <a:rPr lang="en-US" sz="1200" dirty="0">
                <a:latin typeface="+mn-lt"/>
              </a:rPr>
              <a:t> up with a low precision.</a:t>
            </a:r>
          </a:p>
          <a:p>
            <a:pPr>
              <a:lnSpc>
                <a:spcPct val="114000"/>
              </a:lnSpc>
            </a:pPr>
            <a:endParaRPr lang="en-US" sz="1200" dirty="0">
              <a:latin typeface="+mn-lt"/>
            </a:endParaRPr>
          </a:p>
          <a:p>
            <a:pPr>
              <a:lnSpc>
                <a:spcPct val="114000"/>
              </a:lnSpc>
            </a:pPr>
            <a:r>
              <a:rPr lang="en-US" sz="1200" dirty="0" err="1">
                <a:latin typeface="+mn-lt"/>
              </a:rPr>
              <a:t>为什么我们的Precision低</a:t>
            </a:r>
            <a:endParaRPr lang="en-US" sz="1200" dirty="0">
              <a:latin typeface="+mn-lt"/>
            </a:endParaRPr>
          </a:p>
          <a:p>
            <a:pPr>
              <a:lnSpc>
                <a:spcPct val="114000"/>
              </a:lnSpc>
            </a:pPr>
            <a:r>
              <a:rPr lang="zh-CN" altLang="en-US" sz="1200" dirty="0">
                <a:latin typeface="+mn-lt"/>
              </a:rPr>
              <a:t>：</a:t>
            </a:r>
            <a:r>
              <a:rPr lang="en-US" altLang="zh-CN" sz="1200" dirty="0">
                <a:latin typeface="+mn-lt"/>
              </a:rPr>
              <a:t>1.</a:t>
            </a:r>
            <a:r>
              <a:rPr lang="zh-CN" altLang="en-US" sz="1200" dirty="0">
                <a:latin typeface="+mn-lt"/>
              </a:rPr>
              <a:t>部分修改没有被计算在内 </a:t>
            </a:r>
            <a:r>
              <a:rPr lang="en-US" altLang="zh-CN" sz="1200" dirty="0">
                <a:latin typeface="+mn-lt"/>
              </a:rPr>
              <a:t>2.</a:t>
            </a:r>
            <a:r>
              <a:rPr lang="zh-CN" altLang="en-US" sz="1200" dirty="0">
                <a:latin typeface="+mn-lt"/>
              </a:rPr>
              <a:t>评论中包含不利于</a:t>
            </a:r>
            <a:r>
              <a:rPr lang="en-US" altLang="zh-CN" sz="1200" dirty="0">
                <a:latin typeface="+mn-lt"/>
              </a:rPr>
              <a:t>LLM</a:t>
            </a:r>
            <a:r>
              <a:rPr lang="zh-CN" altLang="en-US" sz="1200" dirty="0">
                <a:latin typeface="+mn-lt"/>
              </a:rPr>
              <a:t>的指令</a:t>
            </a:r>
            <a:endParaRPr lang="en-US" altLang="zh-CN" sz="1200" dirty="0">
              <a:latin typeface="+mn-lt"/>
            </a:endParaRPr>
          </a:p>
          <a:p>
            <a:pPr>
              <a:lnSpc>
                <a:spcPct val="114000"/>
              </a:lnSpc>
            </a:pPr>
            <a:r>
              <a:rPr lang="en-US" altLang="zh-CN" sz="1200" dirty="0">
                <a:latin typeface="+mn-lt"/>
              </a:rPr>
              <a:t>Recall80</a:t>
            </a:r>
            <a:r>
              <a:rPr lang="zh-CN" altLang="en-US" sz="1200" dirty="0">
                <a:latin typeface="+mn-lt"/>
              </a:rPr>
              <a:t>是因为：</a:t>
            </a:r>
            <a:r>
              <a:rPr lang="en-US" altLang="zh-CN" sz="1200" dirty="0">
                <a:latin typeface="+mn-lt"/>
              </a:rPr>
              <a:t>1.token</a:t>
            </a:r>
            <a:r>
              <a:rPr lang="zh-CN" altLang="en-US" sz="1200" dirty="0">
                <a:latin typeface="+mn-lt"/>
              </a:rPr>
              <a:t>太短，</a:t>
            </a:r>
            <a:r>
              <a:rPr lang="en-US" altLang="zh-CN" sz="1200" dirty="0">
                <a:latin typeface="+mn-lt"/>
              </a:rPr>
              <a:t>2.</a:t>
            </a:r>
            <a:r>
              <a:rPr lang="zh-CN" altLang="en-US" sz="1200" dirty="0">
                <a:latin typeface="+mn-lt"/>
              </a:rPr>
              <a:t>功能大改（太复杂）</a:t>
            </a:r>
            <a:endParaRPr lang="en-US" sz="1200" dirty="0">
              <a:latin typeface="+mn-lt"/>
            </a:endParaRPr>
          </a:p>
          <a:p>
            <a:endParaRPr lang="en-US" dirty="0"/>
          </a:p>
        </p:txBody>
      </p:sp>
      <p:sp>
        <p:nvSpPr>
          <p:cNvPr id="4" name="Slide Number Placeholder 3"/>
          <p:cNvSpPr>
            <a:spLocks noGrp="1"/>
          </p:cNvSpPr>
          <p:nvPr>
            <p:ph type="sldNum" sz="quarter" idx="5"/>
          </p:nvPr>
        </p:nvSpPr>
        <p:spPr/>
        <p:txBody>
          <a:bodyPr/>
          <a:lstStyle/>
          <a:p>
            <a:pPr>
              <a:defRPr/>
            </a:pPr>
            <a:fld id="{00AFC6D0-44D5-4EB7-828F-6F464F83D79A}" type="slidenum">
              <a:rPr lang="en-GB" smtClean="0"/>
              <a:pPr>
                <a:defRPr/>
              </a:pPr>
              <a:t>11</a:t>
            </a:fld>
            <a:endParaRPr lang="en-GB"/>
          </a:p>
        </p:txBody>
      </p:sp>
    </p:spTree>
    <p:extLst>
      <p:ext uri="{BB962C8B-B14F-4D97-AF65-F5344CB8AC3E}">
        <p14:creationId xmlns:p14="http://schemas.microsoft.com/office/powerpoint/2010/main" val="38853740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And the second RQ of our research is """</a:t>
            </a:r>
          </a:p>
          <a:p>
            <a:endParaRPr lang="en-US" dirty="0"/>
          </a:p>
          <a:p>
            <a:r>
              <a:rPr lang="en-US" dirty="0"/>
              <a:t>In this evaluation, we use the same method  described before to build  fine-tuned LLMs.  And to explore the effectiveness of SOUP, we tested 4 different models. </a:t>
            </a:r>
          </a:p>
          <a:p>
            <a:r>
              <a:rPr lang="en-US" dirty="0"/>
              <a:t>Which are "" "" "", Pretrained</a:t>
            </a:r>
            <a:r>
              <a:rPr lang="zh-CN" altLang="en-US" dirty="0"/>
              <a:t> </a:t>
            </a:r>
            <a:r>
              <a:rPr lang="en-US" altLang="zh-CN" dirty="0"/>
              <a:t>Language</a:t>
            </a:r>
            <a:r>
              <a:rPr lang="zh-CN" altLang="en-US" dirty="0"/>
              <a:t> </a:t>
            </a:r>
            <a:r>
              <a:rPr lang="en-US" altLang="zh-CN" dirty="0"/>
              <a:t>Model</a:t>
            </a:r>
            <a:r>
              <a:rPr lang="zh-CN" altLang="en-US" dirty="0"/>
              <a:t> </a:t>
            </a:r>
            <a:r>
              <a:rPr lang="en-US" altLang="zh-CN" dirty="0"/>
              <a:t> are LLM with smaller </a:t>
            </a:r>
            <a:r>
              <a:rPr lang="en-US" altLang="zh-CN" dirty="0" err="1"/>
              <a:t>paramter</a:t>
            </a:r>
            <a:r>
              <a:rPr lang="en-US" altLang="zh-CN" dirty="0"/>
              <a:t> numbers.</a:t>
            </a:r>
            <a:endParaRPr lang="en-US" dirty="0"/>
          </a:p>
          <a:p>
            <a:r>
              <a:rPr lang="en-US" dirty="0"/>
              <a:t>and we use ChatGPT as our baseline model. We also use  </a:t>
            </a:r>
            <a:r>
              <a:rPr lang="en-US" sz="1200" dirty="0">
                <a:latin typeface="+mn-lt"/>
              </a:rPr>
              <a:t>EM,  </a:t>
            </a:r>
            <a:r>
              <a:rPr lang="en-US" altLang="zh-CN" sz="1200" dirty="0">
                <a:latin typeface="+mn-lt"/>
              </a:rPr>
              <a:t>CB for evaluation.</a:t>
            </a:r>
          </a:p>
          <a:p>
            <a:r>
              <a:rPr lang="en-US" dirty="0">
                <a:solidFill>
                  <a:srgbClr val="141413"/>
                </a:solidFill>
                <a:effectLst/>
                <a:latin typeface="Helvetica" pitchFamily="2" charset="0"/>
              </a:rPr>
              <a:t>EM metric is used to evaluate whether the model prediction exactly matches the ground truth.</a:t>
            </a:r>
          </a:p>
          <a:p>
            <a:r>
              <a:rPr lang="en-US" dirty="0">
                <a:solidFill>
                  <a:srgbClr val="141413"/>
                </a:solidFill>
                <a:effectLst/>
                <a:latin typeface="Helvetica" pitchFamily="2" charset="0"/>
              </a:rPr>
              <a:t>CB is a common metric that measures lexical overlap for code generations.</a:t>
            </a:r>
          </a:p>
          <a:p>
            <a:endParaRPr lang="en-US" dirty="0"/>
          </a:p>
          <a:p>
            <a:r>
              <a:rPr lang="en-US" dirty="0"/>
              <a:t>And the result show that our SOUP framework can sharply increase the performance of model on APU task. </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t>We also did an manual analysis sampled from the datasets.</a:t>
            </a:r>
            <a:r>
              <a:rPr lang="en-US" sz="1200" dirty="0">
                <a:latin typeface="+mn-lt"/>
              </a:rPr>
              <a:t> We sampled 50 from both positive and negative cases.</a:t>
            </a:r>
            <a:endParaRPr lang="en-US" dirty="0"/>
          </a:p>
          <a:p>
            <a:r>
              <a:rPr lang="en-US" dirty="0"/>
              <a:t> </a:t>
            </a:r>
            <a:r>
              <a:rPr lang="en-US" altLang="zh-CN" dirty="0"/>
              <a:t>Improvement has the highest </a:t>
            </a:r>
            <a:r>
              <a:rPr lang="en-US" altLang="zh-CN" dirty="0" err="1"/>
              <a:t>preicision</a:t>
            </a:r>
            <a:r>
              <a:rPr lang="zh-CN" altLang="en-US" dirty="0"/>
              <a:t>，因为</a:t>
            </a:r>
            <a:r>
              <a:rPr lang="en-US" altLang="zh-CN" dirty="0"/>
              <a:t>LLM</a:t>
            </a:r>
            <a:r>
              <a:rPr lang="zh-CN" altLang="en-US" dirty="0"/>
              <a:t>好理解，</a:t>
            </a:r>
            <a:r>
              <a:rPr lang="en-US" altLang="zh-CN" dirty="0"/>
              <a:t>Weakness</a:t>
            </a:r>
            <a:r>
              <a:rPr lang="zh-CN" altLang="en-US" dirty="0"/>
              <a:t>对模型来说不好理解因为没有上下文结构</a:t>
            </a:r>
            <a:endParaRPr lang="en-US" altLang="zh-CN" dirty="0"/>
          </a:p>
          <a:p>
            <a:endParaRPr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dirty="0">
              <a:latin typeface="+mn-lt"/>
            </a:endParaRPr>
          </a:p>
          <a:p>
            <a:endParaRPr lang="en-US" dirty="0"/>
          </a:p>
        </p:txBody>
      </p:sp>
      <p:sp>
        <p:nvSpPr>
          <p:cNvPr id="4" name="Slide Number Placeholder 3"/>
          <p:cNvSpPr>
            <a:spLocks noGrp="1"/>
          </p:cNvSpPr>
          <p:nvPr>
            <p:ph type="sldNum" sz="quarter" idx="5"/>
          </p:nvPr>
        </p:nvSpPr>
        <p:spPr/>
        <p:txBody>
          <a:bodyPr/>
          <a:lstStyle/>
          <a:p>
            <a:pPr>
              <a:defRPr/>
            </a:pPr>
            <a:fld id="{00AFC6D0-44D5-4EB7-828F-6F464F83D79A}" type="slidenum">
              <a:rPr lang="en-GB" smtClean="0"/>
              <a:pPr>
                <a:defRPr/>
              </a:pPr>
              <a:t>12</a:t>
            </a:fld>
            <a:endParaRPr lang="en-GB"/>
          </a:p>
        </p:txBody>
      </p:sp>
    </p:spTree>
    <p:extLst>
      <p:ext uri="{BB962C8B-B14F-4D97-AF65-F5344CB8AC3E}">
        <p14:creationId xmlns:p14="http://schemas.microsoft.com/office/powerpoint/2010/main" val="16404103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zh-CN" dirty="0"/>
              <a:t>For RQ3, we researched ""</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zh-CN" dirty="0"/>
              <a:t>We use Cross</a:t>
            </a:r>
            <a:r>
              <a:rPr lang="zh-CN" altLang="en-US" dirty="0"/>
              <a:t> </a:t>
            </a:r>
            <a:r>
              <a:rPr lang="en-US" altLang="zh-CN" dirty="0"/>
              <a:t>Dataset</a:t>
            </a:r>
            <a:r>
              <a:rPr lang="zh-CN" altLang="en-US" dirty="0"/>
              <a:t> </a:t>
            </a:r>
            <a:r>
              <a:rPr lang="en-US" altLang="zh-CN" dirty="0"/>
              <a:t>Evaluation to test how our HQ can effect the final</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zh-CN" dirty="0"/>
              <a:t>fine-tuned model.</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zh-CN" dirty="0"/>
              <a:t>As you can see from the right. that both model trained on HQ always has a better performance compared with Tang's. That's because we have a large dataset than Tang's. And model trained with Tang's can not good fit on our HQ datasets. As HQ dataset includes more scenarios and situations.</a:t>
            </a:r>
          </a:p>
          <a:p>
            <a:endParaRPr lang="en-US" dirty="0"/>
          </a:p>
          <a:p>
            <a:r>
              <a:rPr lang="en-US" dirty="0"/>
              <a:t>Overall,</a:t>
            </a:r>
          </a:p>
          <a:p>
            <a:r>
              <a:rPr lang="en-US" altLang="zh-CN" dirty="0"/>
              <a:t>Our HQ-dataset is superior to the dataset constructed by Tang's method in terms of </a:t>
            </a:r>
            <a:r>
              <a:rPr lang="en-US" altLang="zh-CN" dirty="0" err="1"/>
              <a:t>quantity,validity</a:t>
            </a:r>
            <a:r>
              <a:rPr lang="en-US" altLang="zh-CN" dirty="0"/>
              <a:t> and variety.</a:t>
            </a:r>
          </a:p>
          <a:p>
            <a:endParaRPr lang="en-US"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t>Tang</a:t>
            </a:r>
            <a:r>
              <a:rPr lang="zh-CN" altLang="en-US" dirty="0"/>
              <a:t>‘</a:t>
            </a:r>
            <a:r>
              <a:rPr lang="en-US" altLang="zh-CN" dirty="0"/>
              <a:t>s</a:t>
            </a:r>
            <a:r>
              <a:rPr lang="zh-CN" altLang="en-US" dirty="0"/>
              <a:t> </a:t>
            </a:r>
            <a:r>
              <a:rPr lang="en-US" altLang="zh-CN" dirty="0"/>
              <a:t>data</a:t>
            </a:r>
            <a:r>
              <a:rPr lang="zh-CN" altLang="en-US" dirty="0"/>
              <a:t>比原来小是因为我们只选取一段代码的</a:t>
            </a:r>
            <a:r>
              <a:rPr lang="en-US" altLang="zh-CN" dirty="0"/>
              <a:t>post</a:t>
            </a:r>
          </a:p>
          <a:p>
            <a:endParaRPr lang="en-US" dirty="0"/>
          </a:p>
          <a:p>
            <a:endParaRPr lang="en-US" dirty="0"/>
          </a:p>
        </p:txBody>
      </p:sp>
      <p:sp>
        <p:nvSpPr>
          <p:cNvPr id="4" name="Slide Number Placeholder 3"/>
          <p:cNvSpPr>
            <a:spLocks noGrp="1"/>
          </p:cNvSpPr>
          <p:nvPr>
            <p:ph type="sldNum" sz="quarter" idx="5"/>
          </p:nvPr>
        </p:nvSpPr>
        <p:spPr/>
        <p:txBody>
          <a:bodyPr/>
          <a:lstStyle/>
          <a:p>
            <a:pPr>
              <a:defRPr/>
            </a:pPr>
            <a:fld id="{00AFC6D0-44D5-4EB7-828F-6F464F83D79A}" type="slidenum">
              <a:rPr lang="en-GB" smtClean="0"/>
              <a:pPr>
                <a:defRPr/>
              </a:pPr>
              <a:t>13</a:t>
            </a:fld>
            <a:endParaRPr lang="en-GB"/>
          </a:p>
        </p:txBody>
      </p:sp>
    </p:spTree>
    <p:extLst>
      <p:ext uri="{BB962C8B-B14F-4D97-AF65-F5344CB8AC3E}">
        <p14:creationId xmlns:p14="http://schemas.microsoft.com/office/powerpoint/2010/main" val="1666883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solidFill>
                  <a:srgbClr val="141413"/>
                </a:solidFill>
                <a:effectLst/>
                <a:latin typeface="Helvetica" pitchFamily="2" charset="0"/>
              </a:rPr>
              <a:t>Our last RQ is "" </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dirty="0">
              <a:solidFill>
                <a:srgbClr val="141413"/>
              </a:solidFill>
              <a:effectLst/>
              <a:latin typeface="Helvetica" pitchFamily="2" charset="0"/>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solidFill>
                  <a:srgbClr val="141413"/>
                </a:solidFill>
                <a:effectLst/>
                <a:latin typeface="Helvetica" pitchFamily="2" charset="0"/>
              </a:rPr>
              <a:t>On Stack Overflow, users can edit a post when they want to</a:t>
            </a:r>
            <a:r>
              <a:rPr lang="zh-CN" altLang="en-US" dirty="0">
                <a:solidFill>
                  <a:srgbClr val="141413"/>
                </a:solidFill>
                <a:effectLst/>
                <a:latin typeface="Helvetica" pitchFamily="2" charset="0"/>
              </a:rPr>
              <a:t> </a:t>
            </a:r>
            <a:r>
              <a:rPr lang="en-US" dirty="0">
                <a:solidFill>
                  <a:srgbClr val="141413"/>
                </a:solidFill>
                <a:effectLst/>
                <a:latin typeface="Helvetica" pitchFamily="2" charset="0"/>
              </a:rPr>
              <a:t>improve the post quality</a:t>
            </a:r>
            <a:r>
              <a:rPr lang="zh-CN" altLang="en-US" dirty="0">
                <a:solidFill>
                  <a:srgbClr val="141413"/>
                </a:solidFill>
                <a:effectLst/>
                <a:latin typeface="Helvetica" pitchFamily="2" charset="0"/>
              </a:rPr>
              <a:t>，</a:t>
            </a:r>
            <a:r>
              <a:rPr lang="en-US" altLang="zh-CN" dirty="0">
                <a:solidFill>
                  <a:srgbClr val="141413"/>
                </a:solidFill>
                <a:effectLst/>
                <a:latin typeface="Helvetica" pitchFamily="2" charset="0"/>
              </a:rPr>
              <a:t>experienced reviewer will do an </a:t>
            </a:r>
            <a:r>
              <a:rPr lang="en-US" altLang="zh-CN" dirty="0" err="1">
                <a:solidFill>
                  <a:srgbClr val="141413"/>
                </a:solidFill>
                <a:effectLst/>
                <a:latin typeface="Helvetica" pitchFamily="2" charset="0"/>
              </a:rPr>
              <a:t>evaluation.Proposals</a:t>
            </a:r>
            <a:r>
              <a:rPr lang="en-US" altLang="zh-CN" dirty="0">
                <a:solidFill>
                  <a:srgbClr val="141413"/>
                </a:solidFill>
                <a:effectLst/>
                <a:latin typeface="Helvetica" pitchFamily="2" charset="0"/>
              </a:rPr>
              <a:t> those are get </a:t>
            </a:r>
            <a:r>
              <a:rPr lang="en-US" altLang="zh-CN" dirty="0" err="1">
                <a:solidFill>
                  <a:srgbClr val="141413"/>
                </a:solidFill>
                <a:effectLst/>
                <a:latin typeface="Helvetica" pitchFamily="2" charset="0"/>
              </a:rPr>
              <a:t>accapted</a:t>
            </a:r>
            <a:r>
              <a:rPr lang="en-US" altLang="zh-CN" dirty="0">
                <a:solidFill>
                  <a:srgbClr val="141413"/>
                </a:solidFill>
                <a:effectLst/>
                <a:latin typeface="Helvetica" pitchFamily="2" charset="0"/>
              </a:rPr>
              <a:t> will be integrated into the solution post.</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dirty="0">
              <a:solidFill>
                <a:srgbClr val="141413"/>
              </a:solidFill>
              <a:effectLst/>
              <a:latin typeface="Helvetica" pitchFamily="2" charset="0"/>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solidFill>
                  <a:srgbClr val="141413"/>
                </a:solidFill>
                <a:effectLst/>
                <a:latin typeface="Helvetica" pitchFamily="2" charset="0"/>
              </a:rPr>
              <a:t>To test how our model perform in wild scenario.</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solidFill>
                  <a:srgbClr val="141413"/>
                </a:solidFill>
                <a:effectLst/>
                <a:latin typeface="Helvetica" pitchFamily="2" charset="0"/>
              </a:rPr>
              <a:t>We collect all the post comments in recent year since they are more possible to relate with an imperfect  solution.</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solidFill>
                  <a:srgbClr val="141413"/>
                </a:solidFill>
                <a:effectLst/>
                <a:latin typeface="Helvetica" pitchFamily="2" charset="0"/>
              </a:rPr>
              <a:t>And then we filter these comments with keywords like error, wrong etc.</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solidFill>
                  <a:srgbClr val="141413"/>
                </a:solidFill>
                <a:effectLst/>
                <a:latin typeface="Helvetica" pitchFamily="2" charset="0"/>
              </a:rPr>
              <a:t>we do a human selection to pick out 50 cases which are more likely to make a difference. </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dirty="0">
              <a:solidFill>
                <a:srgbClr val="141413"/>
              </a:solidFill>
              <a:effectLst/>
              <a:latin typeface="Helvetica" pitchFamily="2" charset="0"/>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solidFill>
                  <a:srgbClr val="141413"/>
                </a:solidFill>
                <a:effectLst/>
                <a:latin typeface="Helvetica" pitchFamily="2" charset="0"/>
              </a:rPr>
              <a:t>Feed them to our fine-tuned SOUP-u to get corresponding proposals.</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dirty="0">
              <a:solidFill>
                <a:srgbClr val="141413"/>
              </a:solidFill>
              <a:effectLst/>
              <a:latin typeface="Helvetica" pitchFamily="2" charset="0"/>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solidFill>
                  <a:srgbClr val="141413"/>
                </a:solidFill>
                <a:effectLst/>
                <a:latin typeface="Helvetica" pitchFamily="2" charset="0"/>
              </a:rPr>
              <a:t>Lastly but most important step, is to submit them on SO.</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dirty="0">
              <a:solidFill>
                <a:srgbClr val="141413"/>
              </a:solidFill>
              <a:effectLst/>
              <a:latin typeface="Helvetica" pitchFamily="2" charset="0"/>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solidFill>
                  <a:srgbClr val="141413"/>
                </a:solidFill>
                <a:effectLst/>
                <a:latin typeface="Helvetica" pitchFamily="2" charset="0"/>
              </a:rPr>
              <a:t>As a result, " """ </a:t>
            </a:r>
          </a:p>
        </p:txBody>
      </p:sp>
      <p:sp>
        <p:nvSpPr>
          <p:cNvPr id="4" name="Slide Number Placeholder 3"/>
          <p:cNvSpPr>
            <a:spLocks noGrp="1"/>
          </p:cNvSpPr>
          <p:nvPr>
            <p:ph type="sldNum" sz="quarter" idx="5"/>
          </p:nvPr>
        </p:nvSpPr>
        <p:spPr/>
        <p:txBody>
          <a:bodyPr/>
          <a:lstStyle/>
          <a:p>
            <a:pPr>
              <a:defRPr/>
            </a:pPr>
            <a:fld id="{00AFC6D0-44D5-4EB7-828F-6F464F83D79A}" type="slidenum">
              <a:rPr lang="en-GB" smtClean="0"/>
              <a:pPr>
                <a:defRPr/>
              </a:pPr>
              <a:t>14</a:t>
            </a:fld>
            <a:endParaRPr lang="en-GB"/>
          </a:p>
        </p:txBody>
      </p:sp>
    </p:spTree>
    <p:extLst>
      <p:ext uri="{BB962C8B-B14F-4D97-AF65-F5344CB8AC3E}">
        <p14:creationId xmlns:p14="http://schemas.microsoft.com/office/powerpoint/2010/main" val="692448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draw a conclusion. </a:t>
            </a:r>
          </a:p>
          <a:p>
            <a:endParaRPr lang="en-US" dirty="0"/>
          </a:p>
          <a:p>
            <a:r>
              <a:rPr lang="en-US" dirty="0"/>
              <a:t>"""</a:t>
            </a:r>
          </a:p>
          <a:p>
            <a:endParaRPr lang="en-US" dirty="0"/>
          </a:p>
          <a:p>
            <a:r>
              <a:rPr lang="en-US" dirty="0"/>
              <a:t>"""</a:t>
            </a:r>
          </a:p>
        </p:txBody>
      </p:sp>
      <p:sp>
        <p:nvSpPr>
          <p:cNvPr id="4" name="Slide Number Placeholder 3"/>
          <p:cNvSpPr>
            <a:spLocks noGrp="1"/>
          </p:cNvSpPr>
          <p:nvPr>
            <p:ph type="sldNum" sz="quarter" idx="5"/>
          </p:nvPr>
        </p:nvSpPr>
        <p:spPr/>
        <p:txBody>
          <a:bodyPr/>
          <a:lstStyle/>
          <a:p>
            <a:pPr>
              <a:defRPr/>
            </a:pPr>
            <a:fld id="{00AFC6D0-44D5-4EB7-828F-6F464F83D79A}" type="slidenum">
              <a:rPr lang="en-GB" smtClean="0"/>
              <a:pPr>
                <a:defRPr/>
              </a:pPr>
              <a:t>15</a:t>
            </a:fld>
            <a:endParaRPr lang="en-GB"/>
          </a:p>
        </p:txBody>
      </p:sp>
    </p:spTree>
    <p:extLst>
      <p:ext uri="{BB962C8B-B14F-4D97-AF65-F5344CB8AC3E}">
        <p14:creationId xmlns:p14="http://schemas.microsoft.com/office/powerpoint/2010/main" val="14336511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for your listening.</a:t>
            </a:r>
          </a:p>
          <a:p>
            <a:endParaRPr lang="en-US" dirty="0"/>
          </a:p>
        </p:txBody>
      </p:sp>
      <p:sp>
        <p:nvSpPr>
          <p:cNvPr id="4" name="Slide Number Placeholder 3"/>
          <p:cNvSpPr>
            <a:spLocks noGrp="1"/>
          </p:cNvSpPr>
          <p:nvPr>
            <p:ph type="sldNum" sz="quarter" idx="5"/>
          </p:nvPr>
        </p:nvSpPr>
        <p:spPr/>
        <p:txBody>
          <a:bodyPr/>
          <a:lstStyle/>
          <a:p>
            <a:pPr>
              <a:defRPr/>
            </a:pPr>
            <a:fld id="{00AFC6D0-44D5-4EB7-828F-6F464F83D79A}" type="slidenum">
              <a:rPr lang="en-GB" smtClean="0"/>
              <a:pPr>
                <a:defRPr/>
              </a:pPr>
              <a:t>16</a:t>
            </a:fld>
            <a:endParaRPr lang="en-GB"/>
          </a:p>
        </p:txBody>
      </p:sp>
    </p:spTree>
    <p:extLst>
      <p:ext uri="{BB962C8B-B14F-4D97-AF65-F5344CB8AC3E}">
        <p14:creationId xmlns:p14="http://schemas.microsoft.com/office/powerpoint/2010/main" val="17552711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tart">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3833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2500" noProof="0" dirty="0"/>
            </a:lvl1pPr>
          </a:lstStyle>
          <a:p>
            <a:pPr lvl="0"/>
            <a:r>
              <a:rPr lang="de-DE" noProof="0" dirty="0"/>
              <a:t>Titel der Präsentation durch Klicken bearbeiten</a:t>
            </a:r>
          </a:p>
        </p:txBody>
      </p:sp>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lvl1pPr>
            <a:lvl2pPr>
              <a:defRPr lang="de-DE" noProof="0" dirty="0" smtClean="0"/>
            </a:lvl2pPr>
          </a:lstStyle>
          <a:p>
            <a:pPr lvl="0"/>
            <a:r>
              <a:rPr lang="de-DE" noProof="0" dirty="0"/>
              <a:t>Referent</a:t>
            </a:r>
            <a:br>
              <a:rPr lang="de-DE" noProof="0" dirty="0"/>
            </a:br>
            <a:r>
              <a:rPr lang="de-DE" noProof="0" dirty="0"/>
              <a:t>Ort, Datum (Schreibweise: 00. Januar 2015)</a:t>
            </a:r>
          </a:p>
        </p:txBody>
      </p:sp>
      <p:sp>
        <p:nvSpPr>
          <p:cNvPr id="14" name="Rechteck 13"/>
          <p:cNvSpPr/>
          <p:nvPr userDrawn="1"/>
        </p:nvSpPr>
        <p:spPr bwMode="auto">
          <a:xfrm>
            <a:off x="8347635" y="4806203"/>
            <a:ext cx="575236" cy="268941"/>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pitchFamily="34" charset="0"/>
            </a:endParaRPr>
          </a:p>
        </p:txBody>
      </p:sp>
      <p:sp>
        <p:nvSpPr>
          <p:cNvPr id="6" name="Foliennummernplatzhalter 5"/>
          <p:cNvSpPr>
            <a:spLocks noGrp="1"/>
          </p:cNvSpPr>
          <p:nvPr>
            <p:ph type="sldNum" sz="quarter" idx="12"/>
          </p:nvPr>
        </p:nvSpPr>
        <p:spPr/>
        <p:txBody>
          <a:bodyPr/>
          <a:lstStyle/>
          <a:p>
            <a:fld id="{CE58CB1E-F828-4F11-99E0-327109AF9DA4}" type="slidenum">
              <a:rPr lang="de-DE" smtClean="0"/>
              <a:pPr/>
              <a:t>‹#›</a:t>
            </a:fld>
            <a:endParaRPr lang="de-DE" dirty="0"/>
          </a:p>
        </p:txBody>
      </p:sp>
      <p:sp>
        <p:nvSpPr>
          <p:cNvPr id="7" name="Fußzeilenplatzhalter 6"/>
          <p:cNvSpPr>
            <a:spLocks noGrp="1"/>
          </p:cNvSpPr>
          <p:nvPr>
            <p:ph type="ftr" sz="quarter" idx="13"/>
          </p:nvPr>
        </p:nvSpPr>
        <p:spPr/>
        <p:txBody>
          <a:bodyPr/>
          <a:lstStyle/>
          <a:p>
            <a:r>
              <a:rPr lang="de-DE"/>
              <a:t>Dr. rer. nat. Erika Mustermann (TUM) | kann beliebig erweitert werden | Infos mit Strich trennen</a:t>
            </a:r>
            <a:endParaRPr lang="en-US" dirty="0"/>
          </a:p>
        </p:txBody>
      </p:sp>
    </p:spTree>
    <p:extLst>
      <p:ext uri="{BB962C8B-B14F-4D97-AF65-F5344CB8AC3E}">
        <p14:creationId xmlns:p14="http://schemas.microsoft.com/office/powerpoint/2010/main" val="1718550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tart">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37623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2500" noProof="0" dirty="0">
                <a:solidFill>
                  <a:schemeClr val="bg1"/>
                </a:solidFill>
              </a:defRPr>
            </a:lvl1pPr>
          </a:lstStyle>
          <a:p>
            <a:pPr lvl="0"/>
            <a:r>
              <a:rPr lang="de-DE" noProof="0" dirty="0"/>
              <a:t>Titel der Präsentation durch Klicken bearbeiten</a:t>
            </a:r>
          </a:p>
        </p:txBody>
      </p:sp>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600" baseline="0" noProof="0" dirty="0" smtClean="0">
                <a:solidFill>
                  <a:schemeClr val="bg1"/>
                </a:solidFill>
              </a:defRPr>
            </a:lvl1pPr>
            <a:lvl2pPr>
              <a:defRPr lang="de-DE" noProof="0" dirty="0" smtClean="0"/>
            </a:lvl2pPr>
          </a:lstStyle>
          <a:p>
            <a:pPr lvl="0"/>
            <a:r>
              <a:rPr lang="de-DE" noProof="0" dirty="0"/>
              <a:t>Referent</a:t>
            </a:r>
            <a:br>
              <a:rPr lang="de-DE" noProof="0" dirty="0"/>
            </a:br>
            <a:r>
              <a:rPr lang="de-DE" noProof="0" dirty="0"/>
              <a:t>Ort, Datum (Schreibweise: 00. Januar 2015)</a:t>
            </a:r>
          </a:p>
        </p:txBody>
      </p:sp>
      <p:sp>
        <p:nvSpPr>
          <p:cNvPr id="5" name="Foliennummernplatzhalter 4"/>
          <p:cNvSpPr>
            <a:spLocks noGrp="1"/>
          </p:cNvSpPr>
          <p:nvPr>
            <p:ph type="sldNum" sz="quarter" idx="12"/>
          </p:nvPr>
        </p:nvSpPr>
        <p:spPr/>
        <p:txBody>
          <a:bodyPr/>
          <a:lstStyle>
            <a:lvl1pPr>
              <a:defRPr>
                <a:solidFill>
                  <a:schemeClr val="bg1"/>
                </a:solidFill>
              </a:defRPr>
            </a:lvl1pPr>
          </a:lstStyle>
          <a:p>
            <a:fld id="{CE58CB1E-F828-4F11-99E0-327109AF9DA4}" type="slidenum">
              <a:rPr lang="de-DE" smtClean="0"/>
              <a:pPr/>
              <a:t>‹#›</a:t>
            </a:fld>
            <a:endParaRPr lang="de-DE" dirty="0"/>
          </a:p>
        </p:txBody>
      </p:sp>
      <p:sp>
        <p:nvSpPr>
          <p:cNvPr id="7" name="Fußzeilenplatzhalter 6"/>
          <p:cNvSpPr>
            <a:spLocks noGrp="1"/>
          </p:cNvSpPr>
          <p:nvPr>
            <p:ph type="ftr" sz="quarter" idx="13"/>
          </p:nvPr>
        </p:nvSpPr>
        <p:spPr/>
        <p:txBody>
          <a:bodyPr/>
          <a:lstStyle>
            <a:lvl1pPr>
              <a:defRPr>
                <a:solidFill>
                  <a:schemeClr val="bg1"/>
                </a:solidFill>
              </a:defRPr>
            </a:lvl1pPr>
          </a:lstStyle>
          <a:p>
            <a:r>
              <a:rPr lang="de-DE"/>
              <a:t>Dr. rer. nat. Erika Mustermann (TUM) | kann beliebig erweitert werden | Infos mit Strich trennen</a:t>
            </a:r>
            <a:endParaRPr lang="en-US" dirty="0"/>
          </a:p>
        </p:txBody>
      </p:sp>
    </p:spTree>
    <p:extLst>
      <p:ext uri="{BB962C8B-B14F-4D97-AF65-F5344CB8AC3E}">
        <p14:creationId xmlns:p14="http://schemas.microsoft.com/office/powerpoint/2010/main" val="1718550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tart">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37623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2500" noProof="0" dirty="0">
                <a:solidFill>
                  <a:schemeClr val="tx1"/>
                </a:solidFill>
              </a:defRPr>
            </a:lvl1pPr>
          </a:lstStyle>
          <a:p>
            <a:pPr lvl="0"/>
            <a:r>
              <a:rPr lang="de-DE" noProof="0" dirty="0"/>
              <a:t>Titel der Präsentation durch Klicken bearbeiten</a:t>
            </a:r>
          </a:p>
        </p:txBody>
      </p:sp>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solidFill>
                  <a:srgbClr val="000000"/>
                </a:solidFill>
              </a:defRPr>
            </a:lvl1pPr>
            <a:lvl2pPr>
              <a:defRPr lang="de-DE" noProof="0" dirty="0" smtClean="0"/>
            </a:lvl2pPr>
          </a:lstStyle>
          <a:p>
            <a:pPr lvl="0"/>
            <a:r>
              <a:rPr lang="de-DE" noProof="0" dirty="0"/>
              <a:t>Referent</a:t>
            </a:r>
            <a:br>
              <a:rPr lang="de-DE" noProof="0" dirty="0"/>
            </a:br>
            <a:r>
              <a:rPr lang="de-DE" noProof="0" dirty="0"/>
              <a:t>Ort, Datum (Schreibweise: 00. Januar 2015)</a:t>
            </a:r>
          </a:p>
        </p:txBody>
      </p:sp>
      <p:sp>
        <p:nvSpPr>
          <p:cNvPr id="14" name="Rechteck 13"/>
          <p:cNvSpPr/>
          <p:nvPr userDrawn="1"/>
        </p:nvSpPr>
        <p:spPr bwMode="auto">
          <a:xfrm>
            <a:off x="8347635" y="4806203"/>
            <a:ext cx="575236" cy="268941"/>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pitchFamily="34" charset="0"/>
            </a:endParaRPr>
          </a:p>
        </p:txBody>
      </p:sp>
      <p:sp>
        <p:nvSpPr>
          <p:cNvPr id="6" name="Foliennummernplatzhalter 5"/>
          <p:cNvSpPr>
            <a:spLocks noGrp="1"/>
          </p:cNvSpPr>
          <p:nvPr>
            <p:ph type="sldNum" sz="quarter" idx="11"/>
          </p:nvPr>
        </p:nvSpPr>
        <p:spPr/>
        <p:txBody>
          <a:bodyPr/>
          <a:lstStyle/>
          <a:p>
            <a:fld id="{CE58CB1E-F828-4F11-99E0-327109AF9DA4}" type="slidenum">
              <a:rPr lang="de-DE" smtClean="0"/>
              <a:pPr/>
              <a:t>‹#›</a:t>
            </a:fld>
            <a:endParaRPr lang="de-DE" dirty="0"/>
          </a:p>
        </p:txBody>
      </p:sp>
      <p:sp>
        <p:nvSpPr>
          <p:cNvPr id="8" name="Fußzeilenplatzhalter 7"/>
          <p:cNvSpPr>
            <a:spLocks noGrp="1"/>
          </p:cNvSpPr>
          <p:nvPr>
            <p:ph type="ftr" sz="quarter" idx="12"/>
          </p:nvPr>
        </p:nvSpPr>
        <p:spPr/>
        <p:txBody>
          <a:bodyPr/>
          <a:lstStyle/>
          <a:p>
            <a:r>
              <a:rPr lang="de-DE"/>
              <a:t>Dr. rer. nat. Erika Mustermann (TUM) | kann beliebig erweitert werden | Infos mit Strich trennen</a:t>
            </a:r>
            <a:endParaRPr lang="en-US" dirty="0"/>
          </a:p>
        </p:txBody>
      </p:sp>
    </p:spTree>
    <p:extLst>
      <p:ext uri="{BB962C8B-B14F-4D97-AF65-F5344CB8AC3E}">
        <p14:creationId xmlns:p14="http://schemas.microsoft.com/office/powerpoint/2010/main" val="1718550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tart">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lvl1pPr>
          </a:lstStyle>
          <a:p>
            <a:pPr lvl="0"/>
            <a:r>
              <a:rPr lang="de-DE" noProof="0" dirty="0"/>
              <a:t>Titel durch Klicken bearbeiten</a:t>
            </a:r>
          </a:p>
        </p:txBody>
      </p:sp>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lvl1pPr>
            <a:lvl2pPr>
              <a:defRPr lang="de-DE" noProof="0" dirty="0" smtClean="0"/>
            </a:lvl2pPr>
          </a:lstStyle>
          <a:p>
            <a:pPr lvl="0"/>
            <a:r>
              <a:rPr lang="de-DE" noProof="0" dirty="0"/>
              <a:t>Referent</a:t>
            </a:r>
            <a:br>
              <a:rPr lang="de-DE" noProof="0" dirty="0"/>
            </a:br>
            <a:r>
              <a:rPr lang="de-DE" noProof="0" dirty="0"/>
              <a:t>Ort, Datum (Schreibweise: 00. Januar 2015)</a:t>
            </a:r>
          </a:p>
        </p:txBody>
      </p:sp>
      <p:sp>
        <p:nvSpPr>
          <p:cNvPr id="14" name="Rechteck 13"/>
          <p:cNvSpPr/>
          <p:nvPr userDrawn="1"/>
        </p:nvSpPr>
        <p:spPr bwMode="auto">
          <a:xfrm>
            <a:off x="8347635" y="4806203"/>
            <a:ext cx="575236" cy="268941"/>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pitchFamily="34" charset="0"/>
            </a:endParaRPr>
          </a:p>
        </p:txBody>
      </p:sp>
      <p:sp>
        <p:nvSpPr>
          <p:cNvPr id="8" name="Foliennummernplatzhalter 7"/>
          <p:cNvSpPr>
            <a:spLocks noGrp="1"/>
          </p:cNvSpPr>
          <p:nvPr>
            <p:ph type="sldNum" sz="quarter" idx="12"/>
          </p:nvPr>
        </p:nvSpPr>
        <p:spPr/>
        <p:txBody>
          <a:bodyPr/>
          <a:lstStyle/>
          <a:p>
            <a:fld id="{CE58CB1E-F828-4F11-99E0-327109AF9DA4}" type="slidenum">
              <a:rPr lang="de-DE" smtClean="0"/>
              <a:pPr/>
              <a:t>‹#›</a:t>
            </a:fld>
            <a:endParaRPr lang="de-DE" dirty="0"/>
          </a:p>
        </p:txBody>
      </p:sp>
      <p:sp>
        <p:nvSpPr>
          <p:cNvPr id="10" name="Fußzeilenplatzhalter 9"/>
          <p:cNvSpPr>
            <a:spLocks noGrp="1"/>
          </p:cNvSpPr>
          <p:nvPr>
            <p:ph type="ftr" sz="quarter" idx="13"/>
          </p:nvPr>
        </p:nvSpPr>
        <p:spPr/>
        <p:txBody>
          <a:bodyPr/>
          <a:lstStyle/>
          <a:p>
            <a:r>
              <a:rPr lang="de-DE"/>
              <a:t>Dr. rer. nat. Erika Mustermann (TUM) | kann beliebig erweitert werden | Infos mit Strich trennen</a:t>
            </a:r>
            <a:endParaRPr lang="en-US" dirty="0"/>
          </a:p>
        </p:txBody>
      </p:sp>
    </p:spTree>
    <p:extLst>
      <p:ext uri="{BB962C8B-B14F-4D97-AF65-F5344CB8AC3E}">
        <p14:creationId xmlns:p14="http://schemas.microsoft.com/office/powerpoint/2010/main" val="1718550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319090" y="1600200"/>
            <a:ext cx="8508999" cy="309562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a:lvl3pPr>
          </a:lstStyle>
          <a:p>
            <a:pPr lvl="0"/>
            <a:r>
              <a:rPr lang="de-DE" noProof="0" dirty="0"/>
              <a:t>Inhalt durch Klicken bearbeiten</a:t>
            </a:r>
          </a:p>
          <a:p>
            <a:pPr lvl="1"/>
            <a:r>
              <a:rPr lang="de-DE" noProof="0" dirty="0"/>
              <a:t>Zweite Ebene</a:t>
            </a:r>
          </a:p>
          <a:p>
            <a:pPr lvl="2"/>
            <a:r>
              <a:rPr lang="de-DE" noProof="0" dirty="0"/>
              <a:t>Dritte Ebene</a:t>
            </a:r>
          </a:p>
        </p:txBody>
      </p:sp>
      <p:sp>
        <p:nvSpPr>
          <p:cNvPr id="10" name="Titel 1"/>
          <p:cNvSpPr>
            <a:spLocks noGrp="1"/>
          </p:cNvSpPr>
          <p:nvPr>
            <p:ph type="title" hasCustomPrompt="1"/>
          </p:nvPr>
        </p:nvSpPr>
        <p:spPr>
          <a:xfrm>
            <a:off x="319090" y="972000"/>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lvl1pPr>
          </a:lstStyle>
          <a:p>
            <a:pPr lvl="0"/>
            <a:r>
              <a:rPr lang="de-DE" noProof="0" dirty="0"/>
              <a:t>Titel durch Klicken bearbeiten</a:t>
            </a:r>
          </a:p>
        </p:txBody>
      </p:sp>
      <p:sp>
        <p:nvSpPr>
          <p:cNvPr id="5" name="Foliennummernplatzhalter 4"/>
          <p:cNvSpPr>
            <a:spLocks noGrp="1"/>
          </p:cNvSpPr>
          <p:nvPr>
            <p:ph type="sldNum" sz="quarter" idx="11"/>
          </p:nvPr>
        </p:nvSpPr>
        <p:spPr/>
        <p:txBody>
          <a:bodyPr lIns="0" rIns="0"/>
          <a:lstStyle/>
          <a:p>
            <a:fld id="{CE58CB1E-F828-4F11-99E0-327109AF9DA4}" type="slidenum">
              <a:rPr lang="de-DE" smtClean="0"/>
              <a:pPr/>
              <a:t>‹#›</a:t>
            </a:fld>
            <a:endParaRPr lang="de-DE" dirty="0"/>
          </a:p>
        </p:txBody>
      </p:sp>
      <p:sp>
        <p:nvSpPr>
          <p:cNvPr id="7" name="Fußzeilenplatzhalter 6"/>
          <p:cNvSpPr>
            <a:spLocks noGrp="1"/>
          </p:cNvSpPr>
          <p:nvPr>
            <p:ph type="ftr" sz="quarter" idx="12"/>
          </p:nvPr>
        </p:nvSpPr>
        <p:spPr/>
        <p:txBody>
          <a:bodyPr/>
          <a:lstStyle/>
          <a:p>
            <a:r>
              <a:rPr lang="de-DE"/>
              <a:t>Dr. rer. nat. Erika Mustermann (TUM) | kann beliebig erweitert werden | Infos mit Strich trennen</a:t>
            </a:r>
            <a:endParaRPr lang="en-US" dirty="0"/>
          </a:p>
        </p:txBody>
      </p:sp>
    </p:spTree>
    <p:extLst>
      <p:ext uri="{BB962C8B-B14F-4D97-AF65-F5344CB8AC3E}">
        <p14:creationId xmlns:p14="http://schemas.microsoft.com/office/powerpoint/2010/main" val="21839487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nhalt + Text">
    <p:spTree>
      <p:nvGrpSpPr>
        <p:cNvPr id="1" name=""/>
        <p:cNvGrpSpPr/>
        <p:nvPr/>
      </p:nvGrpSpPr>
      <p:grpSpPr>
        <a:xfrm>
          <a:off x="0" y="0"/>
          <a:ext cx="0" cy="0"/>
          <a:chOff x="0" y="0"/>
          <a:chExt cx="0" cy="0"/>
        </a:xfrm>
      </p:grpSpPr>
      <p:sp useBgFill="1">
        <p:nvSpPr>
          <p:cNvPr id="3" name="Inhaltsplatzhalter 2"/>
          <p:cNvSpPr>
            <a:spLocks noGrp="1"/>
          </p:cNvSpPr>
          <p:nvPr>
            <p:ph idx="1" hasCustomPrompt="1"/>
          </p:nvPr>
        </p:nvSpPr>
        <p:spPr>
          <a:xfrm>
            <a:off x="319090" y="2143125"/>
            <a:ext cx="8508999" cy="2543175"/>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useBgFill="1">
        <p:nvSpPr>
          <p:cNvPr id="10" name="Titel 1"/>
          <p:cNvSpPr>
            <a:spLocks noGrp="1"/>
          </p:cNvSpPr>
          <p:nvPr>
            <p:ph type="title" hasCustomPrompt="1"/>
          </p:nvPr>
        </p:nvSpPr>
        <p:spPr>
          <a:xfrm>
            <a:off x="319090" y="972000"/>
            <a:ext cx="8508999" cy="410369"/>
          </a:xfrm>
          <a:prstGeom prst="rect">
            <a:avLst/>
          </a:prstGeom>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lvl1pPr>
          </a:lstStyle>
          <a:p>
            <a:pPr lvl="0"/>
            <a:r>
              <a:rPr lang="de-DE" noProof="0" dirty="0"/>
              <a:t>Titel durch Klicken bearbeiten</a:t>
            </a:r>
          </a:p>
        </p:txBody>
      </p:sp>
      <p:sp useBgFill="1">
        <p:nvSpPr>
          <p:cNvPr id="5" name="Foliennummernplatzhalter 4"/>
          <p:cNvSpPr>
            <a:spLocks noGrp="1"/>
          </p:cNvSpPr>
          <p:nvPr>
            <p:ph type="sldNum" sz="quarter" idx="11"/>
          </p:nvPr>
        </p:nvSpPr>
        <p:spPr/>
        <p:txBody>
          <a:bodyPr/>
          <a:lstStyle/>
          <a:p>
            <a:fld id="{CE58CB1E-F828-4F11-99E0-327109AF9DA4}" type="slidenum">
              <a:rPr lang="de-DE" smtClean="0"/>
              <a:pPr/>
              <a:t>‹#›</a:t>
            </a:fld>
            <a:endParaRPr lang="de-DE" dirty="0"/>
          </a:p>
        </p:txBody>
      </p:sp>
      <p:sp useBgFill="1">
        <p:nvSpPr>
          <p:cNvPr id="7" name="Fußzeilenplatzhalter 6"/>
          <p:cNvSpPr>
            <a:spLocks noGrp="1"/>
          </p:cNvSpPr>
          <p:nvPr>
            <p:ph type="ftr" sz="quarter" idx="12"/>
          </p:nvPr>
        </p:nvSpPr>
        <p:spPr/>
        <p:txBody>
          <a:bodyPr/>
          <a:lstStyle/>
          <a:p>
            <a:r>
              <a:rPr lang="de-DE"/>
              <a:t>Dr. rer. nat. Erika Mustermann (TUM) | kann beliebig erweitert werden | Infos mit Strich trennen</a:t>
            </a:r>
            <a:endParaRPr lang="en-US" dirty="0"/>
          </a:p>
        </p:txBody>
      </p:sp>
      <p:sp useBgFill="1">
        <p:nvSpPr>
          <p:cNvPr id="6" name="Textplatzhalter 7"/>
          <p:cNvSpPr>
            <a:spLocks noGrp="1"/>
          </p:cNvSpPr>
          <p:nvPr>
            <p:ph type="body" sz="quarter" idx="13" hasCustomPrompt="1"/>
          </p:nvPr>
        </p:nvSpPr>
        <p:spPr>
          <a:xfrm>
            <a:off x="319090" y="1600200"/>
            <a:ext cx="8508999" cy="505305"/>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Tree>
    <p:extLst>
      <p:ext uri="{BB962C8B-B14F-4D97-AF65-F5344CB8AC3E}">
        <p14:creationId xmlns:p14="http://schemas.microsoft.com/office/powerpoint/2010/main" val="21839487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11" name="Inhaltsplatzhalter 2"/>
          <p:cNvSpPr>
            <a:spLocks noGrp="1"/>
          </p:cNvSpPr>
          <p:nvPr>
            <p:ph idx="14" hasCustomPrompt="1"/>
          </p:nvPr>
        </p:nvSpPr>
        <p:spPr>
          <a:xfrm>
            <a:off x="319091" y="1602000"/>
            <a:ext cx="4180910" cy="309562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p:nvSpPr>
          <p:cNvPr id="13" name="Inhaltsplatzhalter 2"/>
          <p:cNvSpPr>
            <a:spLocks noGrp="1"/>
          </p:cNvSpPr>
          <p:nvPr>
            <p:ph idx="15" hasCustomPrompt="1"/>
          </p:nvPr>
        </p:nvSpPr>
        <p:spPr>
          <a:xfrm>
            <a:off x="4647179" y="1602000"/>
            <a:ext cx="4180910" cy="309562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p:nvSpPr>
          <p:cNvPr id="16" name="Titel 1"/>
          <p:cNvSpPr>
            <a:spLocks noGrp="1"/>
          </p:cNvSpPr>
          <p:nvPr>
            <p:ph type="title" hasCustomPrompt="1"/>
          </p:nvPr>
        </p:nvSpPr>
        <p:spPr>
          <a:xfrm>
            <a:off x="319090" y="972000"/>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baseline="0" noProof="0" dirty="0"/>
            </a:lvl1pPr>
          </a:lstStyle>
          <a:p>
            <a:pPr lvl="0"/>
            <a:r>
              <a:rPr lang="de-DE" noProof="0" dirty="0"/>
              <a:t>Titel durch Klicken bearbeiten</a:t>
            </a:r>
          </a:p>
        </p:txBody>
      </p:sp>
      <p:sp>
        <p:nvSpPr>
          <p:cNvPr id="6" name="Foliennummernplatzhalter 5"/>
          <p:cNvSpPr>
            <a:spLocks noGrp="1"/>
          </p:cNvSpPr>
          <p:nvPr>
            <p:ph type="sldNum" sz="quarter" idx="16"/>
          </p:nvPr>
        </p:nvSpPr>
        <p:spPr/>
        <p:txBody>
          <a:bodyPr/>
          <a:lstStyle/>
          <a:p>
            <a:fld id="{CE58CB1E-F828-4F11-99E0-327109AF9DA4}" type="slidenum">
              <a:rPr lang="de-DE" smtClean="0"/>
              <a:pPr/>
              <a:t>‹#›</a:t>
            </a:fld>
            <a:endParaRPr lang="de-DE" dirty="0"/>
          </a:p>
        </p:txBody>
      </p:sp>
      <p:sp>
        <p:nvSpPr>
          <p:cNvPr id="8" name="Fußzeilenplatzhalter 7"/>
          <p:cNvSpPr>
            <a:spLocks noGrp="1"/>
          </p:cNvSpPr>
          <p:nvPr>
            <p:ph type="ftr" sz="quarter" idx="17"/>
          </p:nvPr>
        </p:nvSpPr>
        <p:spPr/>
        <p:txBody>
          <a:bodyPr/>
          <a:lstStyle/>
          <a:p>
            <a:r>
              <a:rPr lang="de-DE"/>
              <a:t>Dr. rer. nat. Erika Mustermann (TUM) | kann beliebig erweitert werden | Infos mit Strich trennen</a:t>
            </a:r>
            <a:endParaRPr lang="en-US" dirty="0"/>
          </a:p>
        </p:txBody>
      </p:sp>
    </p:spTree>
    <p:extLst>
      <p:ext uri="{BB962C8B-B14F-4D97-AF65-F5344CB8AC3E}">
        <p14:creationId xmlns:p14="http://schemas.microsoft.com/office/powerpoint/2010/main" val="34629014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Zwei Inhalte + Text">
    <p:spTree>
      <p:nvGrpSpPr>
        <p:cNvPr id="1" name=""/>
        <p:cNvGrpSpPr/>
        <p:nvPr/>
      </p:nvGrpSpPr>
      <p:grpSpPr>
        <a:xfrm>
          <a:off x="0" y="0"/>
          <a:ext cx="0" cy="0"/>
          <a:chOff x="0" y="0"/>
          <a:chExt cx="0" cy="0"/>
        </a:xfrm>
      </p:grpSpPr>
      <p:sp>
        <p:nvSpPr>
          <p:cNvPr id="18" name="Textplatzhalter 7"/>
          <p:cNvSpPr>
            <a:spLocks noGrp="1"/>
          </p:cNvSpPr>
          <p:nvPr>
            <p:ph type="body" sz="quarter" idx="13" hasCustomPrompt="1"/>
          </p:nvPr>
        </p:nvSpPr>
        <p:spPr>
          <a:xfrm>
            <a:off x="319090" y="1600200"/>
            <a:ext cx="8508999" cy="4957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
        <p:nvSpPr>
          <p:cNvPr id="13" name="Titel 1"/>
          <p:cNvSpPr>
            <a:spLocks noGrp="1"/>
          </p:cNvSpPr>
          <p:nvPr>
            <p:ph type="title" hasCustomPrompt="1"/>
          </p:nvPr>
        </p:nvSpPr>
        <p:spPr>
          <a:xfrm>
            <a:off x="319090" y="972000"/>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lvl1pPr>
          </a:lstStyle>
          <a:p>
            <a:pPr lvl="0"/>
            <a:r>
              <a:rPr lang="de-DE" noProof="0" dirty="0"/>
              <a:t>Titel durch Klicken bearbeiten</a:t>
            </a:r>
          </a:p>
        </p:txBody>
      </p:sp>
      <p:sp>
        <p:nvSpPr>
          <p:cNvPr id="7" name="Foliennummernplatzhalter 6"/>
          <p:cNvSpPr>
            <a:spLocks noGrp="1"/>
          </p:cNvSpPr>
          <p:nvPr>
            <p:ph type="sldNum" sz="quarter" idx="15"/>
          </p:nvPr>
        </p:nvSpPr>
        <p:spPr/>
        <p:txBody>
          <a:bodyPr/>
          <a:lstStyle/>
          <a:p>
            <a:fld id="{CE58CB1E-F828-4F11-99E0-327109AF9DA4}" type="slidenum">
              <a:rPr lang="de-DE" smtClean="0"/>
              <a:pPr/>
              <a:t>‹#›</a:t>
            </a:fld>
            <a:endParaRPr lang="de-DE" dirty="0"/>
          </a:p>
        </p:txBody>
      </p:sp>
      <p:sp>
        <p:nvSpPr>
          <p:cNvPr id="12" name="Fußzeilenplatzhalter 11"/>
          <p:cNvSpPr>
            <a:spLocks noGrp="1"/>
          </p:cNvSpPr>
          <p:nvPr>
            <p:ph type="ftr" sz="quarter" idx="16"/>
          </p:nvPr>
        </p:nvSpPr>
        <p:spPr/>
        <p:txBody>
          <a:bodyPr/>
          <a:lstStyle/>
          <a:p>
            <a:r>
              <a:rPr lang="de-DE" noProof="0"/>
              <a:t>Dr. rer. nat. Erika Mustermann (TUM) | kann beliebig erweitert werden | Infos mit Strich trennen</a:t>
            </a:r>
          </a:p>
        </p:txBody>
      </p:sp>
      <p:sp>
        <p:nvSpPr>
          <p:cNvPr id="8" name="Inhaltsplatzhalter 9"/>
          <p:cNvSpPr>
            <a:spLocks noGrp="1"/>
          </p:cNvSpPr>
          <p:nvPr>
            <p:ph sz="quarter" idx="18"/>
          </p:nvPr>
        </p:nvSpPr>
        <p:spPr>
          <a:xfrm>
            <a:off x="316992" y="2148752"/>
            <a:ext cx="4188333" cy="2547074"/>
          </a:xfrm>
          <a:prstGeom prst="rect">
            <a:avLst/>
          </a:prstGeom>
        </p:spPr>
        <p:txBody>
          <a:bodyPr lIns="0" rIns="0"/>
          <a:lstStyle>
            <a:lvl1pPr>
              <a:defRPr lang="de-DE" sz="1400" kern="1200" noProof="0" dirty="0" smtClean="0">
                <a:solidFill>
                  <a:schemeClr val="tx1"/>
                </a:solidFill>
                <a:latin typeface="+mn-lt"/>
                <a:ea typeface="+mn-ea"/>
                <a:cs typeface="+mn-cs"/>
              </a:defRPr>
            </a:lvl1pPr>
            <a:lvl2pPr>
              <a:defRPr sz="1400"/>
            </a:lvl2pPr>
            <a:lvl3pPr>
              <a:defRPr sz="1400" baseline="0"/>
            </a:lvl3pPr>
          </a:lstStyle>
          <a:p>
            <a:pPr lvl="0"/>
            <a:r>
              <a:rPr lang="de-DE" dirty="0"/>
              <a:t>Textmasterformate durch Klicken bearbeiten</a:t>
            </a:r>
          </a:p>
          <a:p>
            <a:pPr lvl="1"/>
            <a:r>
              <a:rPr lang="de-DE" dirty="0"/>
              <a:t>Zweite Ebene</a:t>
            </a:r>
          </a:p>
          <a:p>
            <a:pPr lvl="2"/>
            <a:r>
              <a:rPr lang="de-DE" dirty="0"/>
              <a:t>Dritte Ebene</a:t>
            </a:r>
          </a:p>
        </p:txBody>
      </p:sp>
      <p:sp>
        <p:nvSpPr>
          <p:cNvPr id="11" name="Bildplatzhalter 2"/>
          <p:cNvSpPr>
            <a:spLocks noGrp="1"/>
          </p:cNvSpPr>
          <p:nvPr>
            <p:ph type="pic" sz="quarter" idx="14" hasCustomPrompt="1"/>
          </p:nvPr>
        </p:nvSpPr>
        <p:spPr>
          <a:xfrm>
            <a:off x="4648200" y="2148840"/>
            <a:ext cx="4180392" cy="2546911"/>
          </a:xfrm>
          <a:prstGeom prst="rect">
            <a:avLst/>
          </a:prstGeom>
        </p:spPr>
        <p:txBody>
          <a:bodyPr/>
          <a:lstStyle>
            <a:lvl1pPr>
              <a:lnSpc>
                <a:spcPct val="114000"/>
              </a:lnSpc>
              <a:defRPr sz="1400"/>
            </a:lvl1pPr>
          </a:lstStyle>
          <a:p>
            <a:endParaRPr lang="de-DE" dirty="0"/>
          </a:p>
        </p:txBody>
      </p:sp>
    </p:spTree>
    <p:extLst>
      <p:ext uri="{BB962C8B-B14F-4D97-AF65-F5344CB8AC3E}">
        <p14:creationId xmlns:p14="http://schemas.microsoft.com/office/powerpoint/2010/main" val="11115081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Zwei Inhalte + Text (Hintergrund)">
    <p:spTree>
      <p:nvGrpSpPr>
        <p:cNvPr id="1" name=""/>
        <p:cNvGrpSpPr/>
        <p:nvPr/>
      </p:nvGrpSpPr>
      <p:grpSpPr>
        <a:xfrm>
          <a:off x="0" y="0"/>
          <a:ext cx="0" cy="0"/>
          <a:chOff x="0" y="0"/>
          <a:chExt cx="0" cy="0"/>
        </a:xfrm>
      </p:grpSpPr>
      <p:sp>
        <p:nvSpPr>
          <p:cNvPr id="9" name="Rechteck 8"/>
          <p:cNvSpPr/>
          <p:nvPr userDrawn="1"/>
        </p:nvSpPr>
        <p:spPr bwMode="auto">
          <a:xfrm>
            <a:off x="0" y="2152650"/>
            <a:ext cx="9144000" cy="2990850"/>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eaLnBrk="0" hangingPunct="0"/>
            <a:endParaRPr lang="de-DE" sz="1000">
              <a:latin typeface="Arial" pitchFamily="34" charset="0"/>
            </a:endParaRPr>
          </a:p>
        </p:txBody>
      </p:sp>
      <p:sp>
        <p:nvSpPr>
          <p:cNvPr id="13" name="Titel 1"/>
          <p:cNvSpPr>
            <a:spLocks noGrp="1"/>
          </p:cNvSpPr>
          <p:nvPr>
            <p:ph type="title" hasCustomPrompt="1"/>
          </p:nvPr>
        </p:nvSpPr>
        <p:spPr>
          <a:xfrm>
            <a:off x="319090" y="972000"/>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lvl1pPr>
          </a:lstStyle>
          <a:p>
            <a:pPr lvl="0"/>
            <a:r>
              <a:rPr lang="de-DE" noProof="0" dirty="0"/>
              <a:t>Titel durch Klicken bearbeiten</a:t>
            </a:r>
          </a:p>
        </p:txBody>
      </p:sp>
      <p:sp>
        <p:nvSpPr>
          <p:cNvPr id="7" name="Foliennummernplatzhalter 6"/>
          <p:cNvSpPr>
            <a:spLocks noGrp="1"/>
          </p:cNvSpPr>
          <p:nvPr>
            <p:ph type="sldNum" sz="quarter" idx="15"/>
          </p:nvPr>
        </p:nvSpPr>
        <p:spPr/>
        <p:txBody>
          <a:bodyPr/>
          <a:lstStyle/>
          <a:p>
            <a:fld id="{CE58CB1E-F828-4F11-99E0-327109AF9DA4}" type="slidenum">
              <a:rPr lang="de-DE" smtClean="0"/>
              <a:pPr/>
              <a:t>‹#›</a:t>
            </a:fld>
            <a:endParaRPr lang="de-DE" dirty="0"/>
          </a:p>
        </p:txBody>
      </p:sp>
      <p:sp>
        <p:nvSpPr>
          <p:cNvPr id="12" name="Fußzeilenplatzhalter 11"/>
          <p:cNvSpPr>
            <a:spLocks noGrp="1"/>
          </p:cNvSpPr>
          <p:nvPr>
            <p:ph type="ftr" sz="quarter" idx="16"/>
          </p:nvPr>
        </p:nvSpPr>
        <p:spPr/>
        <p:txBody>
          <a:bodyPr/>
          <a:lstStyle/>
          <a:p>
            <a:r>
              <a:rPr lang="de-DE" noProof="0"/>
              <a:t>Dr. rer. nat. Erika Mustermann (TUM) | kann beliebig erweitert werden | Infos mit Strich trennen</a:t>
            </a:r>
          </a:p>
        </p:txBody>
      </p:sp>
      <p:sp>
        <p:nvSpPr>
          <p:cNvPr id="8" name="Inhaltsplatzhalter 9"/>
          <p:cNvSpPr>
            <a:spLocks noGrp="1"/>
          </p:cNvSpPr>
          <p:nvPr>
            <p:ph sz="quarter" idx="18"/>
          </p:nvPr>
        </p:nvSpPr>
        <p:spPr>
          <a:xfrm>
            <a:off x="316992" y="2152650"/>
            <a:ext cx="4197858" cy="2552700"/>
          </a:xfrm>
          <a:prstGeom prst="rect">
            <a:avLst/>
          </a:prstGeom>
        </p:spPr>
        <p:txBody>
          <a:bodyPr lIns="0" rIns="0"/>
          <a:lstStyle>
            <a:lvl1pPr>
              <a:defRPr lang="de-DE" sz="1400" kern="1200" noProof="0" dirty="0" smtClean="0">
                <a:solidFill>
                  <a:schemeClr val="tx1"/>
                </a:solidFill>
                <a:latin typeface="+mn-lt"/>
                <a:ea typeface="+mn-ea"/>
                <a:cs typeface="+mn-cs"/>
              </a:defRPr>
            </a:lvl1pPr>
            <a:lvl2pPr>
              <a:defRPr sz="1400"/>
            </a:lvl2pPr>
            <a:lvl3pPr>
              <a:defRPr sz="1400" baseline="0"/>
            </a:lvl3pPr>
          </a:lstStyle>
          <a:p>
            <a:pPr lvl="0"/>
            <a:r>
              <a:rPr lang="de-DE" dirty="0"/>
              <a:t>Textmasterformate durch Klicken bearbeiten</a:t>
            </a:r>
          </a:p>
          <a:p>
            <a:pPr lvl="1"/>
            <a:r>
              <a:rPr lang="de-DE" dirty="0"/>
              <a:t>Zweite Ebene</a:t>
            </a:r>
          </a:p>
          <a:p>
            <a:pPr lvl="2"/>
            <a:r>
              <a:rPr lang="de-DE" dirty="0"/>
              <a:t>Dritte Ebene</a:t>
            </a:r>
          </a:p>
        </p:txBody>
      </p:sp>
      <p:sp>
        <p:nvSpPr>
          <p:cNvPr id="11" name="Bildplatzhalter 2"/>
          <p:cNvSpPr>
            <a:spLocks noGrp="1"/>
          </p:cNvSpPr>
          <p:nvPr>
            <p:ph type="pic" sz="quarter" idx="14" hasCustomPrompt="1"/>
          </p:nvPr>
        </p:nvSpPr>
        <p:spPr>
          <a:xfrm>
            <a:off x="4648200" y="2143125"/>
            <a:ext cx="4180392" cy="2543176"/>
          </a:xfrm>
          <a:prstGeom prst="rect">
            <a:avLst/>
          </a:prstGeom>
        </p:spPr>
        <p:txBody>
          <a:bodyPr/>
          <a:lstStyle>
            <a:lvl1pPr>
              <a:lnSpc>
                <a:spcPct val="114000"/>
              </a:lnSpc>
              <a:defRPr sz="1400"/>
            </a:lvl1pPr>
          </a:lstStyle>
          <a:p>
            <a:endParaRPr lang="de-DE" dirty="0"/>
          </a:p>
        </p:txBody>
      </p:sp>
      <p:sp>
        <p:nvSpPr>
          <p:cNvPr id="10" name="Textplatzhalter 7"/>
          <p:cNvSpPr>
            <a:spLocks noGrp="1"/>
          </p:cNvSpPr>
          <p:nvPr>
            <p:ph type="body" sz="quarter" idx="19" hasCustomPrompt="1"/>
          </p:nvPr>
        </p:nvSpPr>
        <p:spPr>
          <a:xfrm>
            <a:off x="319090" y="1600200"/>
            <a:ext cx="8508999" cy="4957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Tree>
    <p:extLst>
      <p:ext uri="{BB962C8B-B14F-4D97-AF65-F5344CB8AC3E}">
        <p14:creationId xmlns:p14="http://schemas.microsoft.com/office/powerpoint/2010/main" val="11115081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große Bilder">
    <p:spTree>
      <p:nvGrpSpPr>
        <p:cNvPr id="1" name=""/>
        <p:cNvGrpSpPr/>
        <p:nvPr/>
      </p:nvGrpSpPr>
      <p:grpSpPr>
        <a:xfrm>
          <a:off x="0" y="0"/>
          <a:ext cx="0" cy="0"/>
          <a:chOff x="0" y="0"/>
          <a:chExt cx="0" cy="0"/>
        </a:xfrm>
      </p:grpSpPr>
      <p:sp>
        <p:nvSpPr>
          <p:cNvPr id="13" name="Titel 1"/>
          <p:cNvSpPr>
            <a:spLocks noGrp="1"/>
          </p:cNvSpPr>
          <p:nvPr>
            <p:ph type="title" hasCustomPrompt="1"/>
          </p:nvPr>
        </p:nvSpPr>
        <p:spPr>
          <a:xfrm>
            <a:off x="319090" y="972000"/>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lvl1pPr>
          </a:lstStyle>
          <a:p>
            <a:pPr lvl="0"/>
            <a:r>
              <a:rPr lang="de-DE" noProof="0" dirty="0"/>
              <a:t>Titel durch Klicken bearbeiten</a:t>
            </a:r>
          </a:p>
        </p:txBody>
      </p:sp>
      <p:sp>
        <p:nvSpPr>
          <p:cNvPr id="7" name="Foliennummernplatzhalter 6"/>
          <p:cNvSpPr>
            <a:spLocks noGrp="1"/>
          </p:cNvSpPr>
          <p:nvPr>
            <p:ph type="sldNum" sz="quarter" idx="15"/>
          </p:nvPr>
        </p:nvSpPr>
        <p:spPr/>
        <p:txBody>
          <a:bodyPr/>
          <a:lstStyle/>
          <a:p>
            <a:fld id="{CE58CB1E-F828-4F11-99E0-327109AF9DA4}" type="slidenum">
              <a:rPr lang="de-DE" smtClean="0"/>
              <a:pPr/>
              <a:t>‹#›</a:t>
            </a:fld>
            <a:endParaRPr lang="de-DE" dirty="0"/>
          </a:p>
        </p:txBody>
      </p:sp>
      <p:sp>
        <p:nvSpPr>
          <p:cNvPr id="12" name="Fußzeilenplatzhalter 11"/>
          <p:cNvSpPr>
            <a:spLocks noGrp="1"/>
          </p:cNvSpPr>
          <p:nvPr>
            <p:ph type="ftr" sz="quarter" idx="16"/>
          </p:nvPr>
        </p:nvSpPr>
        <p:spPr/>
        <p:txBody>
          <a:bodyPr/>
          <a:lstStyle/>
          <a:p>
            <a:r>
              <a:rPr lang="de-DE" noProof="0"/>
              <a:t>Dr. rer. nat. Erika Mustermann (TUM) | kann beliebig erweitert werden | Infos mit Strich trennen</a:t>
            </a:r>
          </a:p>
        </p:txBody>
      </p:sp>
      <p:sp>
        <p:nvSpPr>
          <p:cNvPr id="9" name="Bildplatzhalter 8"/>
          <p:cNvSpPr>
            <a:spLocks noGrp="1"/>
          </p:cNvSpPr>
          <p:nvPr>
            <p:ph type="pic" sz="quarter" idx="17"/>
          </p:nvPr>
        </p:nvSpPr>
        <p:spPr>
          <a:xfrm>
            <a:off x="0" y="2133600"/>
            <a:ext cx="9144000" cy="3009900"/>
          </a:xfrm>
          <a:prstGeom prst="rect">
            <a:avLst/>
          </a:prstGeom>
        </p:spPr>
        <p:txBody>
          <a:bodyPr/>
          <a:lstStyle>
            <a:lvl1pPr>
              <a:defRPr sz="1400"/>
            </a:lvl1pPr>
          </a:lstStyle>
          <a:p>
            <a:endParaRPr lang="de-DE"/>
          </a:p>
        </p:txBody>
      </p:sp>
      <p:sp>
        <p:nvSpPr>
          <p:cNvPr id="8" name="Textplatzhalter 7"/>
          <p:cNvSpPr>
            <a:spLocks noGrp="1"/>
          </p:cNvSpPr>
          <p:nvPr>
            <p:ph type="body" sz="quarter" idx="18" hasCustomPrompt="1"/>
          </p:nvPr>
        </p:nvSpPr>
        <p:spPr>
          <a:xfrm>
            <a:off x="319090" y="1600200"/>
            <a:ext cx="8508999" cy="4957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Tree>
    <p:extLst>
      <p:ext uri="{BB962C8B-B14F-4D97-AF65-F5344CB8AC3E}">
        <p14:creationId xmlns:p14="http://schemas.microsoft.com/office/powerpoint/2010/main" val="11115081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ilder formatfüllend">
    <p:spTree>
      <p:nvGrpSpPr>
        <p:cNvPr id="1" name=""/>
        <p:cNvGrpSpPr/>
        <p:nvPr/>
      </p:nvGrpSpPr>
      <p:grpSpPr>
        <a:xfrm>
          <a:off x="0" y="0"/>
          <a:ext cx="0" cy="0"/>
          <a:chOff x="0" y="0"/>
          <a:chExt cx="0" cy="0"/>
        </a:xfrm>
      </p:grpSpPr>
      <p:sp>
        <p:nvSpPr>
          <p:cNvPr id="8" name="Bildplatzhalter 2"/>
          <p:cNvSpPr>
            <a:spLocks noGrp="1"/>
          </p:cNvSpPr>
          <p:nvPr>
            <p:ph type="pic" sz="quarter" idx="14" hasCustomPrompt="1"/>
          </p:nvPr>
        </p:nvSpPr>
        <p:spPr>
          <a:xfrm>
            <a:off x="0" y="1600200"/>
            <a:ext cx="9144000" cy="3543299"/>
          </a:xfrm>
          <a:prstGeom prst="rect">
            <a:avLst/>
          </a:prstGeom>
        </p:spPr>
        <p:txBody>
          <a:bodyPr/>
          <a:lstStyle>
            <a:lvl1pPr>
              <a:lnSpc>
                <a:spcPct val="114000"/>
              </a:lnSpc>
              <a:defRPr sz="1400"/>
            </a:lvl1pPr>
          </a:lstStyle>
          <a:p>
            <a:endParaRPr lang="de-DE" dirty="0"/>
          </a:p>
        </p:txBody>
      </p:sp>
      <p:sp>
        <p:nvSpPr>
          <p:cNvPr id="11" name="Titel 1"/>
          <p:cNvSpPr>
            <a:spLocks noGrp="1"/>
          </p:cNvSpPr>
          <p:nvPr>
            <p:ph type="title" hasCustomPrompt="1"/>
          </p:nvPr>
        </p:nvSpPr>
        <p:spPr>
          <a:xfrm>
            <a:off x="319090" y="972000"/>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lvl1pPr>
          </a:lstStyle>
          <a:p>
            <a:pPr lvl="0"/>
            <a:r>
              <a:rPr lang="de-DE" noProof="0" dirty="0"/>
              <a:t>Titel durch Klicken bearbeiten</a:t>
            </a:r>
          </a:p>
        </p:txBody>
      </p:sp>
      <p:sp>
        <p:nvSpPr>
          <p:cNvPr id="6" name="Foliennummernplatzhalter 5"/>
          <p:cNvSpPr>
            <a:spLocks noGrp="1"/>
          </p:cNvSpPr>
          <p:nvPr>
            <p:ph type="sldNum" sz="quarter" idx="15"/>
          </p:nvPr>
        </p:nvSpPr>
        <p:spPr/>
        <p:txBody>
          <a:bodyPr/>
          <a:lstStyle/>
          <a:p>
            <a:fld id="{CE58CB1E-F828-4F11-99E0-327109AF9DA4}" type="slidenum">
              <a:rPr lang="de-DE" smtClean="0"/>
              <a:pPr/>
              <a:t>‹#›</a:t>
            </a:fld>
            <a:endParaRPr lang="de-DE" dirty="0"/>
          </a:p>
        </p:txBody>
      </p:sp>
      <p:sp>
        <p:nvSpPr>
          <p:cNvPr id="10" name="Fußzeilenplatzhalter 9"/>
          <p:cNvSpPr>
            <a:spLocks noGrp="1"/>
          </p:cNvSpPr>
          <p:nvPr>
            <p:ph type="ftr" sz="quarter" idx="16"/>
          </p:nvPr>
        </p:nvSpPr>
        <p:spPr/>
        <p:txBody>
          <a:bodyPr/>
          <a:lstStyle/>
          <a:p>
            <a:r>
              <a:rPr lang="de-DE"/>
              <a:t>Dr. rer. nat. Erika Mustermann (TUM) | kann beliebig erweitert werden | Infos mit Strich trennen</a:t>
            </a:r>
            <a:endParaRPr lang="en-US" dirty="0"/>
          </a:p>
        </p:txBody>
      </p:sp>
    </p:spTree>
    <p:extLst>
      <p:ext uri="{BB962C8B-B14F-4D97-AF65-F5344CB8AC3E}">
        <p14:creationId xmlns:p14="http://schemas.microsoft.com/office/powerpoint/2010/main" val="42579873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Kapiteltrenner">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1231106"/>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baseline="0" noProof="0" dirty="0">
                <a:solidFill>
                  <a:schemeClr val="bg1"/>
                </a:solidFill>
              </a:defRPr>
            </a:lvl1pPr>
          </a:lstStyle>
          <a:p>
            <a:pPr lvl="0"/>
            <a:r>
              <a:rPr lang="de-DE" noProof="0" dirty="0"/>
              <a:t>Präsentationsmuster</a:t>
            </a:r>
            <a:br>
              <a:rPr lang="de-DE" noProof="0" dirty="0"/>
            </a:br>
            <a:br>
              <a:rPr lang="de-DE" noProof="0" dirty="0"/>
            </a:br>
            <a:r>
              <a:rPr lang="de-DE" noProof="0" dirty="0"/>
              <a:t>kann auch als </a:t>
            </a:r>
            <a:r>
              <a:rPr lang="de-DE" noProof="0" dirty="0" err="1"/>
              <a:t>Kapiteltrenner</a:t>
            </a:r>
            <a:r>
              <a:rPr lang="de-DE" noProof="0" dirty="0"/>
              <a:t> verwendet werden</a:t>
            </a:r>
          </a:p>
        </p:txBody>
      </p:sp>
      <p:sp>
        <p:nvSpPr>
          <p:cNvPr id="5" name="Foliennummernplatzhalter 4"/>
          <p:cNvSpPr>
            <a:spLocks noGrp="1"/>
          </p:cNvSpPr>
          <p:nvPr>
            <p:ph type="sldNum" sz="quarter" idx="11"/>
          </p:nvPr>
        </p:nvSpPr>
        <p:spPr/>
        <p:txBody>
          <a:bodyPr/>
          <a:lstStyle/>
          <a:p>
            <a:fld id="{CE58CB1E-F828-4F11-99E0-327109AF9DA4}" type="slidenum">
              <a:rPr lang="de-DE" smtClean="0"/>
              <a:pPr/>
              <a:t>‹#›</a:t>
            </a:fld>
            <a:endParaRPr lang="de-DE" dirty="0"/>
          </a:p>
        </p:txBody>
      </p:sp>
      <p:sp>
        <p:nvSpPr>
          <p:cNvPr id="7" name="Fußzeilenplatzhalter 6"/>
          <p:cNvSpPr>
            <a:spLocks noGrp="1"/>
          </p:cNvSpPr>
          <p:nvPr>
            <p:ph type="ftr" sz="quarter" idx="12"/>
          </p:nvPr>
        </p:nvSpPr>
        <p:spPr/>
        <p:txBody>
          <a:bodyPr/>
          <a:lstStyle/>
          <a:p>
            <a:r>
              <a:rPr lang="de-DE"/>
              <a:t>Dr. rer. nat. Erika Mustermann (TUM) | kann beliebig erweitert werden | Infos mit Strich trennen</a:t>
            </a:r>
            <a:endParaRPr lang="en-US" dirty="0"/>
          </a:p>
        </p:txBody>
      </p:sp>
    </p:spTree>
    <p:extLst>
      <p:ext uri="{BB962C8B-B14F-4D97-AF65-F5344CB8AC3E}">
        <p14:creationId xmlns:p14="http://schemas.microsoft.com/office/powerpoint/2010/main" val="1718550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Start">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37623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2500" noProof="0" dirty="0">
                <a:solidFill>
                  <a:schemeClr val="tx1"/>
                </a:solidFill>
              </a:defRPr>
            </a:lvl1pPr>
          </a:lstStyle>
          <a:p>
            <a:pPr lvl="0"/>
            <a:r>
              <a:rPr lang="de-DE" noProof="0" dirty="0"/>
              <a:t>Titel der Präsentation durch Klicken bearbeiten</a:t>
            </a:r>
          </a:p>
        </p:txBody>
      </p:sp>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solidFill>
                  <a:srgbClr val="000000"/>
                </a:solidFill>
              </a:defRPr>
            </a:lvl1pPr>
            <a:lvl2pPr>
              <a:defRPr lang="de-DE" noProof="0" dirty="0" smtClean="0"/>
            </a:lvl2pPr>
          </a:lstStyle>
          <a:p>
            <a:pPr lvl="0"/>
            <a:r>
              <a:rPr lang="de-DE" noProof="0" dirty="0"/>
              <a:t>Referent</a:t>
            </a:r>
            <a:br>
              <a:rPr lang="de-DE" noProof="0" dirty="0"/>
            </a:br>
            <a:r>
              <a:rPr lang="de-DE" noProof="0" dirty="0"/>
              <a:t>Ort, Datum (Schreibweise: 00. Januar 2015)</a:t>
            </a:r>
          </a:p>
        </p:txBody>
      </p:sp>
      <p:sp>
        <p:nvSpPr>
          <p:cNvPr id="14" name="Rechteck 13"/>
          <p:cNvSpPr/>
          <p:nvPr userDrawn="1"/>
        </p:nvSpPr>
        <p:spPr bwMode="auto">
          <a:xfrm>
            <a:off x="8347635" y="4806203"/>
            <a:ext cx="575236" cy="268941"/>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pitchFamily="34" charset="0"/>
            </a:endParaRPr>
          </a:p>
        </p:txBody>
      </p:sp>
      <p:sp>
        <p:nvSpPr>
          <p:cNvPr id="6" name="Foliennummernplatzhalter 5"/>
          <p:cNvSpPr>
            <a:spLocks noGrp="1"/>
          </p:cNvSpPr>
          <p:nvPr>
            <p:ph type="sldNum" sz="quarter" idx="11"/>
          </p:nvPr>
        </p:nvSpPr>
        <p:spPr/>
        <p:txBody>
          <a:bodyPr/>
          <a:lstStyle/>
          <a:p>
            <a:fld id="{CE58CB1E-F828-4F11-99E0-327109AF9DA4}" type="slidenum">
              <a:rPr lang="de-DE" smtClean="0"/>
              <a:pPr/>
              <a:t>‹#›</a:t>
            </a:fld>
            <a:endParaRPr lang="de-DE" dirty="0"/>
          </a:p>
        </p:txBody>
      </p:sp>
      <p:sp>
        <p:nvSpPr>
          <p:cNvPr id="8" name="Fußzeilenplatzhalter 7"/>
          <p:cNvSpPr>
            <a:spLocks noGrp="1"/>
          </p:cNvSpPr>
          <p:nvPr>
            <p:ph type="ftr" sz="quarter" idx="12"/>
          </p:nvPr>
        </p:nvSpPr>
        <p:spPr/>
        <p:txBody>
          <a:bodyPr/>
          <a:lstStyle/>
          <a:p>
            <a:r>
              <a:rPr lang="de-DE"/>
              <a:t>Dr. rer. nat. Erika Mustermann (TUM) | kann beliebig erweitert werden | Infos mit Strich trennen</a:t>
            </a:r>
            <a:endParaRPr lang="en-US" dirty="0"/>
          </a:p>
        </p:txBody>
      </p:sp>
    </p:spTree>
    <p:extLst>
      <p:ext uri="{BB962C8B-B14F-4D97-AF65-F5344CB8AC3E}">
        <p14:creationId xmlns:p14="http://schemas.microsoft.com/office/powerpoint/2010/main" val="27837929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Kapiteltrenner">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1231106"/>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bg1"/>
                </a:solidFill>
              </a:defRPr>
            </a:lvl1pPr>
          </a:lstStyle>
          <a:p>
            <a:pPr lvl="0"/>
            <a:r>
              <a:rPr lang="de-DE" noProof="0" dirty="0"/>
              <a:t>Präsentationsmuster</a:t>
            </a:r>
            <a:br>
              <a:rPr lang="de-DE" noProof="0" dirty="0"/>
            </a:br>
            <a:br>
              <a:rPr lang="de-DE" noProof="0" dirty="0"/>
            </a:br>
            <a:r>
              <a:rPr lang="de-DE" noProof="0" dirty="0"/>
              <a:t>kann auch als </a:t>
            </a:r>
            <a:r>
              <a:rPr lang="de-DE" noProof="0" dirty="0" err="1"/>
              <a:t>Kapiteltrenner</a:t>
            </a:r>
            <a:r>
              <a:rPr lang="de-DE" noProof="0" dirty="0"/>
              <a:t> verwendet werden</a:t>
            </a:r>
          </a:p>
        </p:txBody>
      </p:sp>
      <p:sp>
        <p:nvSpPr>
          <p:cNvPr id="6" name="Foliennummernplatzhalter 5"/>
          <p:cNvSpPr>
            <a:spLocks noGrp="1"/>
          </p:cNvSpPr>
          <p:nvPr>
            <p:ph type="sldNum" sz="quarter" idx="11"/>
          </p:nvPr>
        </p:nvSpPr>
        <p:spPr/>
        <p:txBody>
          <a:bodyPr/>
          <a:lstStyle>
            <a:lvl1pPr>
              <a:defRPr>
                <a:solidFill>
                  <a:schemeClr val="bg1"/>
                </a:solidFill>
              </a:defRPr>
            </a:lvl1pPr>
          </a:lstStyle>
          <a:p>
            <a:fld id="{CE58CB1E-F828-4F11-99E0-327109AF9DA4}" type="slidenum">
              <a:rPr lang="de-DE" smtClean="0"/>
              <a:pPr/>
              <a:t>‹#›</a:t>
            </a:fld>
            <a:endParaRPr lang="de-DE" dirty="0"/>
          </a:p>
        </p:txBody>
      </p:sp>
      <p:sp>
        <p:nvSpPr>
          <p:cNvPr id="8" name="Fußzeilenplatzhalter 7"/>
          <p:cNvSpPr>
            <a:spLocks noGrp="1"/>
          </p:cNvSpPr>
          <p:nvPr>
            <p:ph type="ftr" sz="quarter" idx="12"/>
          </p:nvPr>
        </p:nvSpPr>
        <p:spPr/>
        <p:txBody>
          <a:bodyPr/>
          <a:lstStyle>
            <a:lvl1pPr>
              <a:defRPr>
                <a:solidFill>
                  <a:schemeClr val="bg1"/>
                </a:solidFill>
              </a:defRPr>
            </a:lvl1pPr>
          </a:lstStyle>
          <a:p>
            <a:r>
              <a:rPr lang="de-DE"/>
              <a:t>Dr. rer. nat. Erika Mustermann (TUM) | kann beliebig erweitert werden | Infos mit Strich trennen</a:t>
            </a:r>
            <a:endParaRPr lang="en-US" dirty="0"/>
          </a:p>
        </p:txBody>
      </p:sp>
    </p:spTree>
    <p:extLst>
      <p:ext uri="{BB962C8B-B14F-4D97-AF65-F5344CB8AC3E}">
        <p14:creationId xmlns:p14="http://schemas.microsoft.com/office/powerpoint/2010/main" val="17185509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2.xml"/><Relationship Id="rId1" Type="http://schemas.openxmlformats.org/officeDocument/2006/relationships/slideLayout" Target="../slideLayouts/slideLayout2.xml"/><Relationship Id="rId4" Type="http://schemas.openxmlformats.org/officeDocument/2006/relationships/image" Target="../media/image3.emf"/></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1.xml"/><Relationship Id="rId3" Type="http://schemas.openxmlformats.org/officeDocument/2006/relationships/slideLayout" Target="../slideLayouts/slideLayout6.xml"/><Relationship Id="rId7" Type="http://schemas.openxmlformats.org/officeDocument/2006/relationships/slideLayout" Target="../slideLayouts/slideLayout10.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5" Type="http://schemas.openxmlformats.org/officeDocument/2006/relationships/slideLayout" Target="../slideLayouts/slideLayout8.xml"/><Relationship Id="rId10" Type="http://schemas.openxmlformats.org/officeDocument/2006/relationships/image" Target="../media/image1.wmf"/><Relationship Id="rId4" Type="http://schemas.openxmlformats.org/officeDocument/2006/relationships/slideLayout" Target="../slideLayouts/slideLayout7.xml"/><Relationship Id="rId9"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3.xml"/><Relationship Id="rId1" Type="http://schemas.openxmlformats.org/officeDocument/2006/relationships/slideLayout" Target="../slideLayouts/slideLayout12.xml"/><Relationship Id="rId4" Type="http://schemas.openxmlformats.org/officeDocument/2006/relationships/image" Target="../media/image3.emf"/></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theme" Target="../theme/theme6.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Fußzeilenplatzhalter 3"/>
          <p:cNvSpPr>
            <a:spLocks noGrp="1"/>
          </p:cNvSpPr>
          <p:nvPr>
            <p:ph type="ftr" sz="quarter" idx="3"/>
          </p:nvPr>
        </p:nvSpPr>
        <p:spPr>
          <a:xfrm>
            <a:off x="311162" y="4854985"/>
            <a:ext cx="7829538" cy="288515"/>
          </a:xfrm>
          <a:prstGeom prst="rect">
            <a:avLst/>
          </a:prstGeom>
        </p:spPr>
        <p:txBody>
          <a:bodyPr vert="horz" lIns="0" tIns="45720" rIns="0" bIns="45720" rtlCol="0" anchor="ctr"/>
          <a:lstStyle>
            <a:lvl1pPr algn="l">
              <a:defRPr sz="1100">
                <a:solidFill>
                  <a:schemeClr val="tx1"/>
                </a:solidFill>
              </a:defRPr>
            </a:lvl1pPr>
          </a:lstStyle>
          <a:p>
            <a:r>
              <a:rPr lang="de-DE"/>
              <a:t>Dr. rer. nat. Erika Mustermann (TUM) | kann beliebig erweitert werden | Infos mit Strich trennen</a:t>
            </a:r>
            <a:endParaRPr lang="en-US" dirty="0"/>
          </a:p>
        </p:txBody>
      </p:sp>
      <p:sp>
        <p:nvSpPr>
          <p:cNvPr id="11" name="Foliennummernplatzhalter 4"/>
          <p:cNvSpPr>
            <a:spLocks noGrp="1"/>
          </p:cNvSpPr>
          <p:nvPr>
            <p:ph type="sldNum" sz="quarter" idx="4"/>
          </p:nvPr>
        </p:nvSpPr>
        <p:spPr>
          <a:xfrm>
            <a:off x="6774934" y="4854985"/>
            <a:ext cx="2052000" cy="273844"/>
          </a:xfrm>
          <a:prstGeom prst="rect">
            <a:avLst/>
          </a:prstGeom>
        </p:spPr>
        <p:txBody>
          <a:bodyPr vert="horz" lIns="0" tIns="45720" rIns="0" bIns="45720" rtlCol="0" anchor="ctr"/>
          <a:lstStyle>
            <a:lvl1pPr algn="r">
              <a:defRPr sz="1100">
                <a:solidFill>
                  <a:schemeClr val="tx1"/>
                </a:solidFill>
              </a:defRPr>
            </a:lvl1pPr>
          </a:lstStyle>
          <a:p>
            <a:fld id="{CE58CB1E-F828-4F11-99E0-327109AF9DA4}" type="slidenum">
              <a:rPr lang="de-DE" smtClean="0"/>
              <a:pPr/>
              <a:t>‹#›</a:t>
            </a:fld>
            <a:endParaRPr lang="de-DE" dirty="0"/>
          </a:p>
        </p:txBody>
      </p:sp>
      <p:pic>
        <p:nvPicPr>
          <p:cNvPr id="5" name="Bild 8" descr="20150416 tum logo blau png final.png"/>
          <p:cNvPicPr>
            <a:picLocks noChangeAspect="1"/>
          </p:cNvPicPr>
          <p:nvPr userDrawn="1"/>
        </p:nvPicPr>
        <p:blipFill>
          <a:blip r:embed="rId3"/>
          <a:stretch>
            <a:fillRect/>
          </a:stretch>
        </p:blipFill>
        <p:spPr>
          <a:xfrm>
            <a:off x="8218800" y="324000"/>
            <a:ext cx="604774" cy="318516"/>
          </a:xfrm>
          <a:prstGeom prst="rect">
            <a:avLst/>
          </a:prstGeom>
        </p:spPr>
      </p:pic>
    </p:spTree>
  </p:cSld>
  <p:clrMap bg1="lt1" tx1="dk1" bg2="lt2" tx2="dk2" accent1="accent1" accent2="accent2" accent3="accent3" accent4="accent4" accent5="accent5" accent6="accent6" hlink="hlink" folHlink="folHlink"/>
  <p:sldLayoutIdLst>
    <p:sldLayoutId id="2147483664" r:id="rId1"/>
  </p:sldLayoutIdLst>
  <p:hf hdr="0" dt="0"/>
  <p:txStyles>
    <p:titleStyle>
      <a:lvl1pPr algn="l" rtl="0" eaLnBrk="1" fontAlgn="base" hangingPunct="1">
        <a:lnSpc>
          <a:spcPct val="125000"/>
        </a:lnSpc>
        <a:spcBef>
          <a:spcPct val="0"/>
        </a:spcBef>
        <a:spcAft>
          <a:spcPct val="0"/>
        </a:spcAft>
        <a:defRPr sz="2200" b="0" kern="1200">
          <a:solidFill>
            <a:schemeClr val="tx1"/>
          </a:solidFill>
          <a:latin typeface="+mj-lt"/>
          <a:ea typeface="+mj-ea"/>
          <a:cs typeface="+mj-cs"/>
        </a:defRPr>
      </a:lvl1pPr>
      <a:lvl2pPr algn="l" rtl="0" eaLnBrk="1" fontAlgn="base" hangingPunct="1">
        <a:spcBef>
          <a:spcPct val="0"/>
        </a:spcBef>
        <a:spcAft>
          <a:spcPct val="0"/>
        </a:spcAft>
        <a:defRPr sz="2000" b="1">
          <a:solidFill>
            <a:schemeClr val="tx2"/>
          </a:solidFill>
          <a:latin typeface="Arial" charset="0"/>
          <a:cs typeface="Arial" charset="0"/>
        </a:defRPr>
      </a:lvl2pPr>
      <a:lvl3pPr algn="l" rtl="0" eaLnBrk="1" fontAlgn="base" hangingPunct="1">
        <a:spcBef>
          <a:spcPct val="0"/>
        </a:spcBef>
        <a:spcAft>
          <a:spcPct val="0"/>
        </a:spcAft>
        <a:defRPr sz="2000" b="1">
          <a:solidFill>
            <a:schemeClr val="tx2"/>
          </a:solidFill>
          <a:latin typeface="Arial" charset="0"/>
          <a:cs typeface="Arial" charset="0"/>
        </a:defRPr>
      </a:lvl3pPr>
      <a:lvl4pPr algn="l" rtl="0" eaLnBrk="1" fontAlgn="base" hangingPunct="1">
        <a:spcBef>
          <a:spcPct val="0"/>
        </a:spcBef>
        <a:spcAft>
          <a:spcPct val="0"/>
        </a:spcAft>
        <a:defRPr sz="2000" b="1">
          <a:solidFill>
            <a:schemeClr val="tx2"/>
          </a:solidFill>
          <a:latin typeface="Arial" charset="0"/>
          <a:cs typeface="Arial" charset="0"/>
        </a:defRPr>
      </a:lvl4pPr>
      <a:lvl5pPr algn="l" rtl="0" eaLnBrk="1" fontAlgn="base" hangingPunct="1">
        <a:spcBef>
          <a:spcPct val="0"/>
        </a:spcBef>
        <a:spcAft>
          <a:spcPct val="0"/>
        </a:spcAft>
        <a:defRPr sz="2000" b="1">
          <a:solidFill>
            <a:schemeClr val="tx2"/>
          </a:solidFill>
          <a:latin typeface="Arial" charset="0"/>
          <a:cs typeface="Arial" charset="0"/>
        </a:defRPr>
      </a:lvl5pPr>
      <a:lvl6pPr marL="457200" algn="l" rtl="0" eaLnBrk="1" fontAlgn="base" hangingPunct="1">
        <a:spcBef>
          <a:spcPct val="0"/>
        </a:spcBef>
        <a:spcAft>
          <a:spcPct val="0"/>
        </a:spcAft>
        <a:defRPr sz="2000" b="1">
          <a:solidFill>
            <a:schemeClr val="tx2"/>
          </a:solidFill>
          <a:latin typeface="Arial" charset="0"/>
          <a:cs typeface="Arial" charset="0"/>
        </a:defRPr>
      </a:lvl6pPr>
      <a:lvl7pPr marL="914400" algn="l" rtl="0" eaLnBrk="1" fontAlgn="base" hangingPunct="1">
        <a:spcBef>
          <a:spcPct val="0"/>
        </a:spcBef>
        <a:spcAft>
          <a:spcPct val="0"/>
        </a:spcAft>
        <a:defRPr sz="2000" b="1">
          <a:solidFill>
            <a:schemeClr val="tx2"/>
          </a:solidFill>
          <a:latin typeface="Arial" charset="0"/>
          <a:cs typeface="Arial" charset="0"/>
        </a:defRPr>
      </a:lvl7pPr>
      <a:lvl8pPr marL="1371600" algn="l" rtl="0" eaLnBrk="1" fontAlgn="base" hangingPunct="1">
        <a:spcBef>
          <a:spcPct val="0"/>
        </a:spcBef>
        <a:spcAft>
          <a:spcPct val="0"/>
        </a:spcAft>
        <a:defRPr sz="2000" b="1">
          <a:solidFill>
            <a:schemeClr val="tx2"/>
          </a:solidFill>
          <a:latin typeface="Arial" charset="0"/>
          <a:cs typeface="Arial" charset="0"/>
        </a:defRPr>
      </a:lvl8pPr>
      <a:lvl9pPr marL="1828800" algn="l" rtl="0" eaLnBrk="1" fontAlgn="base" hangingPunct="1">
        <a:spcBef>
          <a:spcPct val="0"/>
        </a:spcBef>
        <a:spcAft>
          <a:spcPct val="0"/>
        </a:spcAft>
        <a:defRPr sz="2000" b="1">
          <a:solidFill>
            <a:schemeClr val="tx2"/>
          </a:solidFill>
          <a:latin typeface="Arial" charset="0"/>
          <a:cs typeface="Arial" charset="0"/>
        </a:defRPr>
      </a:lvl9pPr>
    </p:titleStyle>
    <p:bodyStyle>
      <a:lvl1pPr algn="l" rtl="0" eaLnBrk="1" fontAlgn="base" hangingPunct="1">
        <a:lnSpc>
          <a:spcPct val="100000"/>
        </a:lnSpc>
        <a:spcBef>
          <a:spcPct val="0"/>
        </a:spcBef>
        <a:spcAft>
          <a:spcPct val="0"/>
        </a:spcAft>
        <a:defRPr sz="1600" kern="1200">
          <a:solidFill>
            <a:schemeClr val="tx1"/>
          </a:solidFill>
          <a:latin typeface="+mn-lt"/>
          <a:ea typeface="+mn-ea"/>
          <a:cs typeface="+mn-cs"/>
        </a:defRPr>
      </a:lvl1pPr>
      <a:lvl2pPr marL="176213" indent="-176213" algn="l" rtl="0" eaLnBrk="1" fontAlgn="base" hangingPunct="1">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3" name="Textfeld 22"/>
          <p:cNvSpPr txBox="1"/>
          <p:nvPr/>
        </p:nvSpPr>
        <p:spPr>
          <a:xfrm>
            <a:off x="7713330" y="4922462"/>
            <a:ext cx="1115376" cy="210507"/>
          </a:xfrm>
          <a:prstGeom prst="rect">
            <a:avLst/>
          </a:prstGeom>
        </p:spPr>
        <p:txBody>
          <a:bodyPr wrap="square" lIns="0" tIns="0" rIns="0" bIns="0" rtlCol="0" anchor="b" anchorCtr="0">
            <a:spAutoFit/>
          </a:bodyPr>
          <a:lstStyle/>
          <a:p>
            <a:pPr algn="r">
              <a:lnSpc>
                <a:spcPct val="114000"/>
              </a:lnSpc>
            </a:pPr>
            <a:fld id="{C51078C5-4710-4254-8001-F1C0900803FD}" type="slidenum">
              <a:rPr lang="de-DE" sz="1200" smtClean="0">
                <a:latin typeface="+mn-lt"/>
                <a:cs typeface="Arial" pitchFamily="34" charset="0"/>
              </a:rPr>
              <a:pPr algn="r">
                <a:lnSpc>
                  <a:spcPct val="114000"/>
                </a:lnSpc>
              </a:pPr>
              <a:t>‹#›</a:t>
            </a:fld>
            <a:endParaRPr lang="de-DE" sz="1200" dirty="0">
              <a:latin typeface="+mn-lt"/>
              <a:cs typeface="Arial" pitchFamily="34" charset="0"/>
            </a:endParaRPr>
          </a:p>
        </p:txBody>
      </p:sp>
      <p:pic>
        <p:nvPicPr>
          <p:cNvPr id="5" name="Bild 4" descr="Fahnen_HG.jpg"/>
          <p:cNvPicPr>
            <a:picLocks noChangeAspect="1"/>
          </p:cNvPicPr>
          <p:nvPr/>
        </p:nvPicPr>
        <p:blipFill>
          <a:blip r:embed="rId3" cstate="screen"/>
          <a:srcRect l="398" t="14167" b="10833"/>
          <a:stretch>
            <a:fillRect/>
          </a:stretch>
        </p:blipFill>
        <p:spPr>
          <a:xfrm>
            <a:off x="0" y="0"/>
            <a:ext cx="9144000" cy="5143500"/>
          </a:xfrm>
          <a:prstGeom prst="rect">
            <a:avLst/>
          </a:prstGeom>
        </p:spPr>
      </p:pic>
      <p:pic>
        <p:nvPicPr>
          <p:cNvPr id="7" name="Bild 6" descr="20150416 tum logo blau png final.png"/>
          <p:cNvPicPr>
            <a:picLocks noChangeAspect="1"/>
          </p:cNvPicPr>
          <p:nvPr/>
        </p:nvPicPr>
        <p:blipFill>
          <a:blip r:embed="rId4"/>
          <a:stretch>
            <a:fillRect/>
          </a:stretch>
        </p:blipFill>
        <p:spPr>
          <a:xfrm>
            <a:off x="8218800" y="324000"/>
            <a:ext cx="599513" cy="320288"/>
          </a:xfrm>
          <a:prstGeom prst="rect">
            <a:avLst/>
          </a:prstGeom>
        </p:spPr>
      </p:pic>
      <p:sp>
        <p:nvSpPr>
          <p:cNvPr id="8" name="Foliennummernplatzhalter 4"/>
          <p:cNvSpPr>
            <a:spLocks noGrp="1"/>
          </p:cNvSpPr>
          <p:nvPr>
            <p:ph type="sldNum" sz="quarter" idx="4"/>
          </p:nvPr>
        </p:nvSpPr>
        <p:spPr>
          <a:xfrm>
            <a:off x="6774934" y="4854985"/>
            <a:ext cx="2052000" cy="273844"/>
          </a:xfrm>
          <a:prstGeom prst="rect">
            <a:avLst/>
          </a:prstGeom>
        </p:spPr>
        <p:txBody>
          <a:bodyPr vert="horz" lIns="0" tIns="45720" rIns="0" bIns="45720" rtlCol="0" anchor="ctr"/>
          <a:lstStyle>
            <a:lvl1pPr algn="r">
              <a:defRPr sz="1100">
                <a:solidFill>
                  <a:schemeClr val="bg1"/>
                </a:solidFill>
              </a:defRPr>
            </a:lvl1pPr>
          </a:lstStyle>
          <a:p>
            <a:fld id="{CE58CB1E-F828-4F11-99E0-327109AF9DA4}" type="slidenum">
              <a:rPr lang="de-DE" smtClean="0"/>
              <a:pPr/>
              <a:t>‹#›</a:t>
            </a:fld>
            <a:endParaRPr lang="de-DE"/>
          </a:p>
        </p:txBody>
      </p:sp>
      <p:sp>
        <p:nvSpPr>
          <p:cNvPr id="10" name="Fußzeilenplatzhalter 3"/>
          <p:cNvSpPr>
            <a:spLocks noGrp="1"/>
          </p:cNvSpPr>
          <p:nvPr>
            <p:ph type="ftr" sz="quarter" idx="3"/>
          </p:nvPr>
        </p:nvSpPr>
        <p:spPr>
          <a:xfrm>
            <a:off x="311162" y="4854985"/>
            <a:ext cx="6464280" cy="273844"/>
          </a:xfrm>
          <a:prstGeom prst="rect">
            <a:avLst/>
          </a:prstGeom>
        </p:spPr>
        <p:txBody>
          <a:bodyPr vert="horz" lIns="0" tIns="45720" rIns="0" bIns="45720" rtlCol="0" anchor="ctr"/>
          <a:lstStyle>
            <a:lvl1pPr algn="l">
              <a:defRPr sz="1100">
                <a:solidFill>
                  <a:schemeClr val="bg1"/>
                </a:solidFill>
              </a:defRPr>
            </a:lvl1pPr>
          </a:lstStyle>
          <a:p>
            <a:r>
              <a:rPr lang="de-DE"/>
              <a:t>Dr. rer. nat. Erika Mustermann (TUM) | kann beliebig erweitert werden | Infos mit Strich trennen</a:t>
            </a:r>
            <a:endParaRPr lang="en-US" dirty="0"/>
          </a:p>
        </p:txBody>
      </p:sp>
    </p:spTree>
  </p:cSld>
  <p:clrMap bg1="lt1" tx1="dk1" bg2="lt2" tx2="dk2" accent1="accent1" accent2="accent2" accent3="accent3" accent4="accent4" accent5="accent5" accent6="accent6" hlink="hlink" folHlink="folHlink"/>
  <p:sldLayoutIdLst>
    <p:sldLayoutId id="2147483669" r:id="rId1"/>
  </p:sldLayoutIdLst>
  <p:hf hdr="0" dt="0"/>
  <p:txStyles>
    <p:titleStyle>
      <a:lvl1pPr algn="l" rtl="0" eaLnBrk="0" fontAlgn="base" hangingPunct="0">
        <a:lnSpc>
          <a:spcPct val="125000"/>
        </a:lnSpc>
        <a:spcBef>
          <a:spcPct val="0"/>
        </a:spcBef>
        <a:spcAft>
          <a:spcPct val="0"/>
        </a:spcAft>
        <a:defRPr sz="22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Foliennummernplatzhalter 4"/>
          <p:cNvSpPr>
            <a:spLocks noGrp="1"/>
          </p:cNvSpPr>
          <p:nvPr>
            <p:ph type="sldNum" sz="quarter" idx="4"/>
          </p:nvPr>
        </p:nvSpPr>
        <p:spPr>
          <a:xfrm>
            <a:off x="6774934" y="4854985"/>
            <a:ext cx="2052000" cy="273844"/>
          </a:xfrm>
          <a:prstGeom prst="rect">
            <a:avLst/>
          </a:prstGeom>
        </p:spPr>
        <p:txBody>
          <a:bodyPr vert="horz" lIns="0" tIns="45720" rIns="0" bIns="45720" rtlCol="0" anchor="ctr"/>
          <a:lstStyle>
            <a:lvl1pPr algn="r">
              <a:defRPr sz="1100">
                <a:solidFill>
                  <a:schemeClr val="tx1"/>
                </a:solidFill>
              </a:defRPr>
            </a:lvl1pPr>
          </a:lstStyle>
          <a:p>
            <a:fld id="{CE58CB1E-F828-4F11-99E0-327109AF9DA4}" type="slidenum">
              <a:rPr lang="de-DE" smtClean="0"/>
              <a:pPr/>
              <a:t>‹#›</a:t>
            </a:fld>
            <a:endParaRPr lang="de-DE" dirty="0"/>
          </a:p>
        </p:txBody>
      </p:sp>
      <p:sp>
        <p:nvSpPr>
          <p:cNvPr id="10" name="Fußzeilenplatzhalter 3"/>
          <p:cNvSpPr>
            <a:spLocks noGrp="1"/>
          </p:cNvSpPr>
          <p:nvPr>
            <p:ph type="ftr" sz="quarter" idx="3"/>
          </p:nvPr>
        </p:nvSpPr>
        <p:spPr>
          <a:xfrm>
            <a:off x="311162" y="4854985"/>
            <a:ext cx="6464280" cy="273844"/>
          </a:xfrm>
          <a:prstGeom prst="rect">
            <a:avLst/>
          </a:prstGeom>
        </p:spPr>
        <p:txBody>
          <a:bodyPr vert="horz" lIns="0" tIns="45720" rIns="0" bIns="45720" rtlCol="0" anchor="ctr"/>
          <a:lstStyle>
            <a:lvl1pPr algn="l">
              <a:defRPr sz="1100">
                <a:solidFill>
                  <a:schemeClr val="tx1"/>
                </a:solidFill>
              </a:defRPr>
            </a:lvl1pPr>
          </a:lstStyle>
          <a:p>
            <a:r>
              <a:rPr lang="de-DE"/>
              <a:t>Dr. rer. nat. Erika Mustermann (TUM) | kann beliebig erweitert werden | Infos mit Strich trennen</a:t>
            </a:r>
            <a:endParaRPr lang="en-US" dirty="0"/>
          </a:p>
        </p:txBody>
      </p:sp>
      <p:pic>
        <p:nvPicPr>
          <p:cNvPr id="7" name="Bild 6" descr="20150416 tum logo blau png final.png"/>
          <p:cNvPicPr>
            <a:picLocks noChangeAspect="1"/>
          </p:cNvPicPr>
          <p:nvPr/>
        </p:nvPicPr>
        <p:blipFill>
          <a:blip r:embed="rId3"/>
          <a:stretch>
            <a:fillRect/>
          </a:stretch>
        </p:blipFill>
        <p:spPr>
          <a:xfrm>
            <a:off x="8218411" y="324000"/>
            <a:ext cx="604774" cy="318516"/>
          </a:xfrm>
          <a:prstGeom prst="rect">
            <a:avLst/>
          </a:prstGeom>
        </p:spPr>
      </p:pic>
      <p:sp>
        <p:nvSpPr>
          <p:cNvPr id="11" name="Textfeld 10"/>
          <p:cNvSpPr txBox="1"/>
          <p:nvPr userDrawn="1"/>
        </p:nvSpPr>
        <p:spPr>
          <a:xfrm>
            <a:off x="319506" y="321468"/>
            <a:ext cx="7160425" cy="346249"/>
          </a:xfrm>
          <a:prstGeom prst="rect">
            <a:avLst/>
          </a:prstGeom>
          <a:noFill/>
        </p:spPr>
        <p:txBody>
          <a:bodyPr wrap="square" lIns="0" tIns="0" rIns="0" bIns="0" rtlCol="0">
            <a:spAutoFit/>
          </a:bodyPr>
          <a:lstStyle/>
          <a:p>
            <a:pPr>
              <a:lnSpc>
                <a:spcPts val="900"/>
              </a:lnSpc>
            </a:pPr>
            <a:r>
              <a:rPr lang="de-DE" sz="800" dirty="0">
                <a:solidFill>
                  <a:schemeClr val="tx2"/>
                </a:solidFill>
                <a:latin typeface="+mn-lt"/>
              </a:rPr>
              <a:t>Lehrstuhl für Mustertechnik</a:t>
            </a:r>
          </a:p>
          <a:p>
            <a:pPr>
              <a:lnSpc>
                <a:spcPts val="900"/>
              </a:lnSpc>
            </a:pPr>
            <a:r>
              <a:rPr lang="de-DE" sz="800" dirty="0">
                <a:solidFill>
                  <a:schemeClr val="tx2"/>
                </a:solidFill>
                <a:latin typeface="+mn-lt"/>
              </a:rPr>
              <a:t>TUM</a:t>
            </a:r>
            <a:r>
              <a:rPr lang="de-DE" sz="800" baseline="0" dirty="0">
                <a:solidFill>
                  <a:schemeClr val="tx2"/>
                </a:solidFill>
                <a:latin typeface="+mn-lt"/>
              </a:rPr>
              <a:t> School </a:t>
            </a:r>
            <a:r>
              <a:rPr lang="de-DE" sz="800" baseline="0" dirty="0" err="1">
                <a:solidFill>
                  <a:schemeClr val="tx2"/>
                </a:solidFill>
                <a:latin typeface="+mn-lt"/>
              </a:rPr>
              <a:t>of</a:t>
            </a:r>
            <a:r>
              <a:rPr lang="de-DE" sz="800" dirty="0">
                <a:solidFill>
                  <a:schemeClr val="tx2"/>
                </a:solidFill>
                <a:latin typeface="+mn-lt"/>
              </a:rPr>
              <a:t> Musterverfahren</a:t>
            </a:r>
          </a:p>
          <a:p>
            <a:pPr>
              <a:lnSpc>
                <a:spcPts val="900"/>
              </a:lnSpc>
            </a:pPr>
            <a:r>
              <a:rPr lang="de-DE" sz="800" dirty="0">
                <a:solidFill>
                  <a:schemeClr val="tx2"/>
                </a:solidFill>
                <a:latin typeface="+mn-lt"/>
              </a:rPr>
              <a:t>Technische Universität</a:t>
            </a:r>
            <a:r>
              <a:rPr lang="de-DE" sz="800" baseline="0" dirty="0">
                <a:solidFill>
                  <a:schemeClr val="tx2"/>
                </a:solidFill>
                <a:latin typeface="+mn-lt"/>
              </a:rPr>
              <a:t> München</a:t>
            </a:r>
            <a:endParaRPr lang="de-DE" sz="800" dirty="0">
              <a:solidFill>
                <a:schemeClr val="tx2"/>
              </a:solidFill>
              <a:latin typeface="+mn-lt"/>
            </a:endParaRPr>
          </a:p>
        </p:txBody>
      </p:sp>
    </p:spTree>
  </p:cSld>
  <p:clrMap bg1="lt1" tx1="dk1" bg2="lt2" tx2="dk2" accent1="accent1" accent2="accent2" accent3="accent3" accent4="accent4" accent5="accent5" accent6="accent6" hlink="hlink" folHlink="folHlink"/>
  <p:sldLayoutIdLst>
    <p:sldLayoutId id="2147483675" r:id="rId1"/>
  </p:sldLayoutIdLst>
  <p:hf hdr="0" dt="0"/>
  <p:txStyles>
    <p:titleStyle>
      <a:lvl1pPr algn="l" rtl="0" eaLnBrk="0" fontAlgn="base" hangingPunct="0">
        <a:lnSpc>
          <a:spcPct val="125000"/>
        </a:lnSpc>
        <a:spcBef>
          <a:spcPct val="0"/>
        </a:spcBef>
        <a:spcAft>
          <a:spcPct val="0"/>
        </a:spcAft>
        <a:defRPr sz="22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Bild 2" descr="20150416 tum logo blau png final.png"/>
          <p:cNvPicPr>
            <a:picLocks noChangeAspect="1"/>
          </p:cNvPicPr>
          <p:nvPr/>
        </p:nvPicPr>
        <p:blipFill>
          <a:blip r:embed="rId10"/>
          <a:stretch>
            <a:fillRect/>
          </a:stretch>
        </p:blipFill>
        <p:spPr>
          <a:xfrm>
            <a:off x="8218411" y="324000"/>
            <a:ext cx="604774" cy="318516"/>
          </a:xfrm>
          <a:prstGeom prst="rect">
            <a:avLst/>
          </a:prstGeom>
        </p:spPr>
      </p:pic>
      <p:sp>
        <p:nvSpPr>
          <p:cNvPr id="5" name="Foliennummernplatzhalter 4"/>
          <p:cNvSpPr>
            <a:spLocks noGrp="1"/>
          </p:cNvSpPr>
          <p:nvPr>
            <p:ph type="sldNum" sz="quarter" idx="4"/>
          </p:nvPr>
        </p:nvSpPr>
        <p:spPr>
          <a:xfrm>
            <a:off x="6774934" y="4854985"/>
            <a:ext cx="2052074" cy="273844"/>
          </a:xfrm>
          <a:prstGeom prst="rect">
            <a:avLst/>
          </a:prstGeom>
        </p:spPr>
        <p:txBody>
          <a:bodyPr vert="horz" lIns="0" tIns="45720" rIns="0" bIns="45720" rtlCol="0" anchor="ctr"/>
          <a:lstStyle>
            <a:lvl1pPr algn="r">
              <a:defRPr sz="1100">
                <a:solidFill>
                  <a:schemeClr val="tx1"/>
                </a:solidFill>
              </a:defRPr>
            </a:lvl1pPr>
          </a:lstStyle>
          <a:p>
            <a:fld id="{CE58CB1E-F828-4F11-99E0-327109AF9DA4}" type="slidenum">
              <a:rPr lang="de-DE" smtClean="0"/>
              <a:pPr/>
              <a:t>‹#›</a:t>
            </a:fld>
            <a:endParaRPr lang="de-DE" dirty="0"/>
          </a:p>
        </p:txBody>
      </p:sp>
      <p:sp>
        <p:nvSpPr>
          <p:cNvPr id="6" name="Fußzeilenplatzhalter 3"/>
          <p:cNvSpPr>
            <a:spLocks noGrp="1"/>
          </p:cNvSpPr>
          <p:nvPr>
            <p:ph type="ftr" sz="quarter" idx="3"/>
          </p:nvPr>
        </p:nvSpPr>
        <p:spPr>
          <a:xfrm>
            <a:off x="311162" y="4854985"/>
            <a:ext cx="6464280" cy="273844"/>
          </a:xfrm>
          <a:prstGeom prst="rect">
            <a:avLst/>
          </a:prstGeom>
        </p:spPr>
        <p:txBody>
          <a:bodyPr vert="horz" lIns="0" tIns="45720" rIns="0" bIns="45720" rtlCol="0" anchor="ctr"/>
          <a:lstStyle>
            <a:lvl1pPr algn="l">
              <a:defRPr sz="1100">
                <a:solidFill>
                  <a:schemeClr val="tx1"/>
                </a:solidFill>
              </a:defRPr>
            </a:lvl1pPr>
          </a:lstStyle>
          <a:p>
            <a:r>
              <a:rPr lang="de-DE"/>
              <a:t>Dr. rer. nat. Erika Mustermann (TUM) | kann beliebig erweitert werden | Infos mit Strich trennen</a:t>
            </a:r>
            <a:endParaRPr lang="en-US" dirty="0"/>
          </a:p>
        </p:txBody>
      </p:sp>
    </p:spTree>
  </p:cSld>
  <p:clrMap bg1="lt1" tx1="dk1" bg2="lt2" tx2="dk2" accent1="accent1" accent2="accent2" accent3="accent3" accent4="accent4" accent5="accent5" accent6="accent6" hlink="hlink" folHlink="folHlink"/>
  <p:sldLayoutIdLst>
    <p:sldLayoutId id="2147483662" r:id="rId1"/>
    <p:sldLayoutId id="2147483654" r:id="rId2"/>
    <p:sldLayoutId id="2147483704" r:id="rId3"/>
    <p:sldLayoutId id="2147483657" r:id="rId4"/>
    <p:sldLayoutId id="2147483711" r:id="rId5"/>
    <p:sldLayoutId id="2147483703" r:id="rId6"/>
    <p:sldLayoutId id="2147483653" r:id="rId7"/>
    <p:sldLayoutId id="2147483656" r:id="rId8"/>
  </p:sldLayoutIdLst>
  <p:hf hdr="0" dt="0"/>
  <p:txStyles>
    <p:titleStyle>
      <a:lvl1pPr algn="l" rtl="0" eaLnBrk="0" fontAlgn="base" hangingPunct="0">
        <a:lnSpc>
          <a:spcPct val="125000"/>
        </a:lnSpc>
        <a:spcBef>
          <a:spcPct val="0"/>
        </a:spcBef>
        <a:spcAft>
          <a:spcPct val="0"/>
        </a:spcAft>
        <a:defRPr sz="25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hteck 5"/>
          <p:cNvSpPr/>
          <p:nvPr/>
        </p:nvSpPr>
        <p:spPr bwMode="hidden">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p>
        </p:txBody>
      </p:sp>
      <p:pic>
        <p:nvPicPr>
          <p:cNvPr id="4" name="Bild 3" descr="20150416 tum logo blau png final.png"/>
          <p:cNvPicPr>
            <a:picLocks noChangeAspect="1"/>
          </p:cNvPicPr>
          <p:nvPr/>
        </p:nvPicPr>
        <p:blipFill>
          <a:blip r:embed="rId4"/>
          <a:stretch>
            <a:fillRect/>
          </a:stretch>
        </p:blipFill>
        <p:spPr bwMode="black">
          <a:xfrm>
            <a:off x="8218800" y="324000"/>
            <a:ext cx="599513" cy="320288"/>
          </a:xfrm>
          <a:prstGeom prst="rect">
            <a:avLst/>
          </a:prstGeom>
        </p:spPr>
      </p:pic>
      <p:sp>
        <p:nvSpPr>
          <p:cNvPr id="7" name="Foliennummernplatzhalter 4"/>
          <p:cNvSpPr>
            <a:spLocks noGrp="1"/>
          </p:cNvSpPr>
          <p:nvPr>
            <p:ph type="sldNum" sz="quarter" idx="4"/>
          </p:nvPr>
        </p:nvSpPr>
        <p:spPr>
          <a:xfrm>
            <a:off x="6774934" y="4854985"/>
            <a:ext cx="2052000" cy="273844"/>
          </a:xfrm>
          <a:prstGeom prst="rect">
            <a:avLst/>
          </a:prstGeom>
        </p:spPr>
        <p:txBody>
          <a:bodyPr vert="horz" lIns="0" tIns="45720" rIns="0" bIns="45720" rtlCol="0" anchor="ctr"/>
          <a:lstStyle>
            <a:lvl1pPr algn="r">
              <a:defRPr sz="1100">
                <a:solidFill>
                  <a:schemeClr val="bg1"/>
                </a:solidFill>
              </a:defRPr>
            </a:lvl1pPr>
          </a:lstStyle>
          <a:p>
            <a:fld id="{CE58CB1E-F828-4F11-99E0-327109AF9DA4}" type="slidenum">
              <a:rPr lang="de-DE" smtClean="0"/>
              <a:pPr/>
              <a:t>‹#›</a:t>
            </a:fld>
            <a:endParaRPr lang="de-DE" dirty="0"/>
          </a:p>
        </p:txBody>
      </p:sp>
      <p:sp>
        <p:nvSpPr>
          <p:cNvPr id="8" name="Fußzeilenplatzhalter 3"/>
          <p:cNvSpPr>
            <a:spLocks noGrp="1"/>
          </p:cNvSpPr>
          <p:nvPr>
            <p:ph type="ftr" sz="quarter" idx="3"/>
          </p:nvPr>
        </p:nvSpPr>
        <p:spPr>
          <a:xfrm>
            <a:off x="311162" y="4854985"/>
            <a:ext cx="6464280" cy="273844"/>
          </a:xfrm>
          <a:prstGeom prst="rect">
            <a:avLst/>
          </a:prstGeom>
        </p:spPr>
        <p:txBody>
          <a:bodyPr vert="horz" lIns="0" tIns="45720" rIns="0" bIns="45720" rtlCol="0" anchor="ctr"/>
          <a:lstStyle>
            <a:lvl1pPr algn="l">
              <a:defRPr sz="1100">
                <a:solidFill>
                  <a:schemeClr val="bg1"/>
                </a:solidFill>
              </a:defRPr>
            </a:lvl1pPr>
          </a:lstStyle>
          <a:p>
            <a:r>
              <a:rPr lang="de-DE"/>
              <a:t>Dr. rer. nat. Erika Mustermann (TUM) | kann beliebig erweitert werden | Infos mit Strich trennen</a:t>
            </a:r>
            <a:endParaRPr lang="en-US" dirty="0"/>
          </a:p>
        </p:txBody>
      </p:sp>
    </p:spTree>
  </p:cSld>
  <p:clrMap bg1="lt1" tx1="dk1" bg2="lt2" tx2="dk2" accent1="accent1" accent2="accent2" accent3="accent3" accent4="accent4" accent5="accent5" accent6="accent6" hlink="hlink" folHlink="folHlink"/>
  <p:sldLayoutIdLst>
    <p:sldLayoutId id="2147483685" r:id="rId1"/>
    <p:sldLayoutId id="2147483712" r:id="rId2"/>
  </p:sldLayoutIdLst>
  <p:hf hdr="0" dt="0"/>
  <p:txStyles>
    <p:titleStyle>
      <a:lvl1pPr algn="l" rtl="0" eaLnBrk="0" fontAlgn="base" hangingPunct="0">
        <a:lnSpc>
          <a:spcPct val="125000"/>
        </a:lnSpc>
        <a:spcBef>
          <a:spcPct val="0"/>
        </a:spcBef>
        <a:spcAft>
          <a:spcPct val="0"/>
        </a:spcAft>
        <a:defRPr sz="22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hteck 6"/>
          <p:cNvSpPr/>
          <p:nvPr/>
        </p:nvSpPr>
        <p:spPr bwMode="hidden">
          <a:xfrm>
            <a:off x="0" y="0"/>
            <a:ext cx="9144000"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solidFill>
                <a:schemeClr val="bg1"/>
              </a:solidFill>
            </a:endParaRPr>
          </a:p>
        </p:txBody>
      </p:sp>
      <p:pic>
        <p:nvPicPr>
          <p:cNvPr id="4" name="Bild 3" descr="20150416 tum logo blau png final.png"/>
          <p:cNvPicPr>
            <a:picLocks noChangeAspect="1"/>
          </p:cNvPicPr>
          <p:nvPr/>
        </p:nvPicPr>
        <p:blipFill>
          <a:blip r:embed="rId3"/>
          <a:stretch>
            <a:fillRect/>
          </a:stretch>
        </p:blipFill>
        <p:spPr bwMode="black">
          <a:xfrm>
            <a:off x="8218800" y="324000"/>
            <a:ext cx="599513" cy="320288"/>
          </a:xfrm>
          <a:prstGeom prst="rect">
            <a:avLst/>
          </a:prstGeom>
        </p:spPr>
      </p:pic>
      <p:sp>
        <p:nvSpPr>
          <p:cNvPr id="9" name="Foliennummernplatzhalter 4"/>
          <p:cNvSpPr>
            <a:spLocks noGrp="1"/>
          </p:cNvSpPr>
          <p:nvPr>
            <p:ph type="sldNum" sz="quarter" idx="4"/>
          </p:nvPr>
        </p:nvSpPr>
        <p:spPr>
          <a:xfrm>
            <a:off x="6774934" y="4854985"/>
            <a:ext cx="2052000" cy="273844"/>
          </a:xfrm>
          <a:prstGeom prst="rect">
            <a:avLst/>
          </a:prstGeom>
        </p:spPr>
        <p:txBody>
          <a:bodyPr vert="horz" lIns="0" tIns="45720" rIns="0" bIns="45720" rtlCol="0" anchor="ctr"/>
          <a:lstStyle>
            <a:lvl1pPr algn="r">
              <a:defRPr sz="1100">
                <a:solidFill>
                  <a:schemeClr val="bg1"/>
                </a:solidFill>
              </a:defRPr>
            </a:lvl1pPr>
          </a:lstStyle>
          <a:p>
            <a:fld id="{CE58CB1E-F828-4F11-99E0-327109AF9DA4}" type="slidenum">
              <a:rPr lang="de-DE" smtClean="0"/>
              <a:pPr/>
              <a:t>‹#›</a:t>
            </a:fld>
            <a:endParaRPr lang="de-DE" dirty="0"/>
          </a:p>
        </p:txBody>
      </p:sp>
      <p:sp>
        <p:nvSpPr>
          <p:cNvPr id="10" name="Fußzeilenplatzhalter 3"/>
          <p:cNvSpPr>
            <a:spLocks noGrp="1"/>
          </p:cNvSpPr>
          <p:nvPr>
            <p:ph type="ftr" sz="quarter" idx="3"/>
          </p:nvPr>
        </p:nvSpPr>
        <p:spPr>
          <a:xfrm>
            <a:off x="311162" y="4854985"/>
            <a:ext cx="6464280" cy="273844"/>
          </a:xfrm>
          <a:prstGeom prst="rect">
            <a:avLst/>
          </a:prstGeom>
        </p:spPr>
        <p:txBody>
          <a:bodyPr vert="horz" lIns="0" tIns="45720" rIns="0" bIns="45720" rtlCol="0" anchor="ctr"/>
          <a:lstStyle>
            <a:lvl1pPr algn="l">
              <a:defRPr sz="1100">
                <a:solidFill>
                  <a:schemeClr val="bg1"/>
                </a:solidFill>
              </a:defRPr>
            </a:lvl1pPr>
          </a:lstStyle>
          <a:p>
            <a:r>
              <a:rPr lang="de-DE"/>
              <a:t>Dr. rer. nat. Erika Mustermann (TUM) | kann beliebig erweitert werden | Infos mit Strich trennen</a:t>
            </a:r>
            <a:endParaRPr lang="en-US" dirty="0"/>
          </a:p>
        </p:txBody>
      </p:sp>
    </p:spTree>
  </p:cSld>
  <p:clrMap bg1="lt1" tx1="dk1" bg2="lt2" tx2="dk2" accent1="accent1" accent2="accent2" accent3="accent3" accent4="accent4" accent5="accent5" accent6="accent6" hlink="hlink" folHlink="folHlink"/>
  <p:sldLayoutIdLst>
    <p:sldLayoutId id="2147483698" r:id="rId1"/>
  </p:sldLayoutIdLst>
  <p:hf hdr="0" dt="0"/>
  <p:txStyles>
    <p:titleStyle>
      <a:lvl1pPr algn="l" rtl="0" eaLnBrk="0" fontAlgn="base" hangingPunct="0">
        <a:lnSpc>
          <a:spcPct val="125000"/>
        </a:lnSpc>
        <a:spcBef>
          <a:spcPct val="0"/>
        </a:spcBef>
        <a:spcAft>
          <a:spcPct val="0"/>
        </a:spcAft>
        <a:defRPr sz="22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9.svg"/><Relationship Id="rId13"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8.png"/><Relationship Id="rId12" Type="http://schemas.openxmlformats.org/officeDocument/2006/relationships/image" Target="../media/image13.sv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7.sv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png"/><Relationship Id="rId9" Type="http://schemas.openxmlformats.org/officeDocument/2006/relationships/image" Target="../media/image10.png"/><Relationship Id="rId14" Type="http://schemas.openxmlformats.org/officeDocument/2006/relationships/image" Target="../media/image15.sv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21.png"/><Relationship Id="rId7"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16.png"/><Relationship Id="rId9" Type="http://schemas.openxmlformats.org/officeDocument/2006/relationships/image" Target="../media/image10.png"/></Relationships>
</file>

<file path=ppt/slides/_rels/slide10.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6.png"/><Relationship Id="rId7" Type="http://schemas.openxmlformats.org/officeDocument/2006/relationships/image" Target="../media/image20.sv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19.png"/><Relationship Id="rId11" Type="http://schemas.openxmlformats.org/officeDocument/2006/relationships/image" Target="../media/image27.png"/><Relationship Id="rId5" Type="http://schemas.openxmlformats.org/officeDocument/2006/relationships/image" Target="../media/image18.svg"/><Relationship Id="rId10" Type="http://schemas.openxmlformats.org/officeDocument/2006/relationships/image" Target="../media/image26.png"/><Relationship Id="rId4" Type="http://schemas.openxmlformats.org/officeDocument/2006/relationships/image" Target="../media/image17.png"/><Relationship Id="rId9" Type="http://schemas.openxmlformats.org/officeDocument/2006/relationships/image" Target="../media/image11.svg"/></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4.xml"/><Relationship Id="rId5" Type="http://schemas.openxmlformats.org/officeDocument/2006/relationships/chart" Target="../charts/chart3.xml"/><Relationship Id="rId4" Type="http://schemas.openxmlformats.org/officeDocument/2006/relationships/chart" Target="../charts/chart2.xml"/></Relationships>
</file>

<file path=ppt/slides/_rels/slide13.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 Id="rId9"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chart" Target="../charts/chart4.xml"/><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16.png"/><Relationship Id="rId5" Type="http://schemas.openxmlformats.org/officeDocument/2006/relationships/image" Target="../media/image13.sv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p:cNvSpPr>
            <a:spLocks noGrp="1"/>
          </p:cNvSpPr>
          <p:nvPr>
            <p:ph type="title"/>
          </p:nvPr>
        </p:nvSpPr>
        <p:spPr>
          <a:xfrm>
            <a:off x="317500" y="1809256"/>
            <a:ext cx="8637622" cy="1143239"/>
          </a:xfrm>
        </p:spPr>
        <p:txBody>
          <a:bodyPr/>
          <a:lstStyle/>
          <a:p>
            <a:pPr algn="ctr"/>
            <a:r>
              <a:rPr lang="de-DE" sz="3600" b="1" dirty="0"/>
              <a:t>VRPTW Problem</a:t>
            </a:r>
            <a:br>
              <a:rPr lang="de-DE" sz="3600" b="1" dirty="0"/>
            </a:br>
            <a:r>
              <a:rPr lang="de-DE" sz="2400" b="1" dirty="0"/>
              <a:t>and </a:t>
            </a:r>
            <a:r>
              <a:rPr lang="de-DE" sz="2400" b="1" dirty="0" err="1"/>
              <a:t>its</a:t>
            </a:r>
            <a:r>
              <a:rPr lang="de-DE" sz="2400" b="1" dirty="0"/>
              <a:t> Solver</a:t>
            </a:r>
            <a:endParaRPr lang="de-DE" sz="3600" b="1" dirty="0"/>
          </a:p>
        </p:txBody>
      </p:sp>
      <p:sp>
        <p:nvSpPr>
          <p:cNvPr id="3" name="Inhaltsplatzhalter 2"/>
          <p:cNvSpPr>
            <a:spLocks noGrp="1"/>
          </p:cNvSpPr>
          <p:nvPr>
            <p:ph idx="10"/>
          </p:nvPr>
        </p:nvSpPr>
        <p:spPr>
          <a:xfrm>
            <a:off x="317500" y="3028263"/>
            <a:ext cx="8508999" cy="1290349"/>
          </a:xfrm>
        </p:spPr>
        <p:txBody>
          <a:bodyPr/>
          <a:lstStyle/>
          <a:p>
            <a:pPr algn="ctr"/>
            <a:r>
              <a:rPr lang="de-DE" dirty="0"/>
              <a:t>Technische Universität München</a:t>
            </a:r>
          </a:p>
          <a:p>
            <a:pPr algn="ctr"/>
            <a:r>
              <a:rPr lang="de-DE" dirty="0"/>
              <a:t>Report: </a:t>
            </a:r>
            <a:r>
              <a:rPr lang="de-DE" b="1" i="1" dirty="0" err="1"/>
              <a:t>Weiyuan</a:t>
            </a:r>
            <a:r>
              <a:rPr lang="de-DE" b="1" i="1" dirty="0"/>
              <a:t> Du, </a:t>
            </a:r>
            <a:r>
              <a:rPr lang="de-DE" b="1" i="1" dirty="0" err="1"/>
              <a:t>Yiying</a:t>
            </a:r>
            <a:r>
              <a:rPr lang="de-DE" b="1" i="1" dirty="0"/>
              <a:t> Song</a:t>
            </a:r>
          </a:p>
        </p:txBody>
      </p:sp>
      <p:sp>
        <p:nvSpPr>
          <p:cNvPr id="2" name="Rectangle 1">
            <a:extLst>
              <a:ext uri="{FF2B5EF4-FFF2-40B4-BE49-F238E27FC236}">
                <a16:creationId xmlns:a16="http://schemas.microsoft.com/office/drawing/2014/main" id="{8598A6CF-5D92-D3D9-85FD-8FF6902C2468}"/>
              </a:ext>
            </a:extLst>
          </p:cNvPr>
          <p:cNvSpPr/>
          <p:nvPr/>
        </p:nvSpPr>
        <p:spPr>
          <a:xfrm>
            <a:off x="0" y="252983"/>
            <a:ext cx="1577591" cy="380745"/>
          </a:xfrm>
          <a:prstGeom prst="rect">
            <a:avLst/>
          </a:prstGeom>
          <a:solidFill>
            <a:srgbClr val="0064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nSpc>
                <a:spcPct val="114000"/>
              </a:lnSpc>
            </a:pPr>
            <a:r>
              <a:rPr lang="en-US" dirty="0">
                <a:latin typeface="Arial" panose="020B0604020202020204" pitchFamily="34" charset="0"/>
                <a:cs typeface="Arial" panose="020B0604020202020204" pitchFamily="34" charset="0"/>
              </a:rPr>
              <a:t>Seminar Pre</a:t>
            </a:r>
          </a:p>
        </p:txBody>
      </p:sp>
      <p:sp>
        <p:nvSpPr>
          <p:cNvPr id="8" name="Footer Placeholder 4">
            <a:extLst>
              <a:ext uri="{FF2B5EF4-FFF2-40B4-BE49-F238E27FC236}">
                <a16:creationId xmlns:a16="http://schemas.microsoft.com/office/drawing/2014/main" id="{DA44BEB8-315E-61A2-32E3-5D3DC775DEB6}"/>
              </a:ext>
            </a:extLst>
          </p:cNvPr>
          <p:cNvSpPr txBox="1">
            <a:spLocks/>
          </p:cNvSpPr>
          <p:nvPr/>
        </p:nvSpPr>
        <p:spPr>
          <a:xfrm>
            <a:off x="2394860" y="4787044"/>
            <a:ext cx="4482901" cy="360210"/>
          </a:xfrm>
          <a:prstGeom prst="rect">
            <a:avLst/>
          </a:prstGeom>
        </p:spPr>
        <p:txBody>
          <a:bodyPr/>
          <a:ls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lgn="ctr"/>
            <a:br>
              <a:rPr lang="en-US" sz="1000" dirty="0">
                <a:solidFill>
                  <a:schemeClr val="bg1">
                    <a:lumMod val="85000"/>
                  </a:schemeClr>
                </a:solidFill>
              </a:rPr>
            </a:br>
            <a:r>
              <a:rPr lang="en-US" sz="1000" dirty="0">
                <a:solidFill>
                  <a:schemeClr val="bg1">
                    <a:lumMod val="85000"/>
                  </a:schemeClr>
                </a:solidFill>
              </a:rPr>
              <a:t>Algorithmic Decision Making: Metaheuristics and Decomposition in Practice</a:t>
            </a:r>
          </a:p>
        </p:txBody>
      </p:sp>
      <p:sp>
        <p:nvSpPr>
          <p:cNvPr id="9" name="Date Placeholder 3">
            <a:extLst>
              <a:ext uri="{FF2B5EF4-FFF2-40B4-BE49-F238E27FC236}">
                <a16:creationId xmlns:a16="http://schemas.microsoft.com/office/drawing/2014/main" id="{915EE6CD-6924-6094-1D5D-0B95F2F554BA}"/>
              </a:ext>
            </a:extLst>
          </p:cNvPr>
          <p:cNvSpPr txBox="1">
            <a:spLocks/>
          </p:cNvSpPr>
          <p:nvPr/>
        </p:nvSpPr>
        <p:spPr>
          <a:xfrm>
            <a:off x="25673" y="4922595"/>
            <a:ext cx="811609" cy="22090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gn="l" rtl="0" eaLnBrk="1" fontAlgn="base" hangingPunct="1">
              <a:lnSpc>
                <a:spcPct val="150000"/>
              </a:lnSpc>
              <a:spcBef>
                <a:spcPct val="0"/>
              </a:spcBef>
              <a:spcAft>
                <a:spcPct val="0"/>
              </a:spcAft>
              <a:defRPr lang="de-DE" sz="1400" kern="1200" baseline="0" noProof="0" dirty="0" smtClean="0">
                <a:solidFill>
                  <a:schemeClr val="tx1"/>
                </a:solidFill>
                <a:latin typeface="+mn-lt"/>
                <a:ea typeface="+mn-ea"/>
                <a:cs typeface="+mn-cs"/>
              </a:defRPr>
            </a:lvl1pPr>
            <a:lvl2pPr marL="176213" indent="-176213" algn="l" rtl="0" eaLnBrk="1" fontAlgn="base" hangingPunct="1">
              <a:lnSpc>
                <a:spcPct val="100000"/>
              </a:lnSpc>
              <a:spcBef>
                <a:spcPct val="0"/>
              </a:spcBef>
              <a:spcAft>
                <a:spcPct val="0"/>
              </a:spcAft>
              <a:buFont typeface="Arial" charset="0"/>
              <a:buChar char="•"/>
              <a:defRPr lang="de-DE" sz="1600" kern="1200" noProof="0" dirty="0" smtClean="0">
                <a:solidFill>
                  <a:schemeClr val="tx1"/>
                </a:solidFill>
                <a:latin typeface="+mn-lt"/>
                <a:ea typeface="+mn-ea"/>
                <a:cs typeface="+mn-cs"/>
              </a:defRPr>
            </a:lvl2pPr>
            <a:lvl3pPr marL="360363" indent="-184150"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fld id="{E6E0805E-65D9-544D-8805-556D80FFC742}" type="datetime1">
              <a:rPr lang="en-US" sz="1000" smtClean="0">
                <a:solidFill>
                  <a:schemeClr val="bg1">
                    <a:lumMod val="85000"/>
                  </a:schemeClr>
                </a:solidFill>
              </a:rPr>
              <a:pPr/>
              <a:t>12/7/25</a:t>
            </a:fld>
            <a:endParaRPr lang="en-US" sz="1000" dirty="0">
              <a:solidFill>
                <a:schemeClr val="bg1">
                  <a:lumMod val="85000"/>
                </a:schemeClr>
              </a:solidFill>
            </a:endParaRPr>
          </a:p>
        </p:txBody>
      </p:sp>
      <p:pic>
        <p:nvPicPr>
          <p:cNvPr id="1026" name="Picture 2" descr="Cargo Vector Icon 15561448 Vector Art at Vecteezy">
            <a:extLst>
              <a:ext uri="{FF2B5EF4-FFF2-40B4-BE49-F238E27FC236}">
                <a16:creationId xmlns:a16="http://schemas.microsoft.com/office/drawing/2014/main" id="{4C871E29-BDE4-AFF9-46EF-A2DE29EDF2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3835" y="1639614"/>
            <a:ext cx="702050" cy="53133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D05F3FC1-1A26-970E-55F2-F62C0CFCD97E}"/>
              </a:ext>
            </a:extLst>
          </p:cNvPr>
          <p:cNvSpPr txBox="1"/>
          <p:nvPr/>
        </p:nvSpPr>
        <p:spPr>
          <a:xfrm>
            <a:off x="8585479" y="4794599"/>
            <a:ext cx="113814" cy="257250"/>
          </a:xfrm>
          <a:prstGeom prst="rect">
            <a:avLst/>
          </a:prstGeom>
          <a:noFill/>
        </p:spPr>
        <p:txBody>
          <a:bodyPr wrap="none" lIns="0" tIns="0" rIns="0" bIns="0" rtlCol="0">
            <a:spAutoFit/>
          </a:bodyPr>
          <a:lstStyle/>
          <a:p>
            <a:pPr>
              <a:lnSpc>
                <a:spcPct val="114000"/>
              </a:lnSpc>
            </a:pPr>
            <a:r>
              <a:rPr lang="en-US" altLang="zh-CN" sz="1600" dirty="0">
                <a:latin typeface="Arial" panose="020B0604020202020204" pitchFamily="34" charset="0"/>
                <a:cs typeface="Arial" panose="020B0604020202020204" pitchFamily="34" charset="0"/>
              </a:rPr>
              <a:t>2</a:t>
            </a:r>
            <a:endParaRPr lang="en-US" sz="1600" dirty="0">
              <a:latin typeface="Arial" panose="020B0604020202020204" pitchFamily="34" charset="0"/>
              <a:cs typeface="Arial" panose="020B0604020202020204" pitchFamily="34" charset="0"/>
            </a:endParaRPr>
          </a:p>
        </p:txBody>
      </p:sp>
      <p:grpSp>
        <p:nvGrpSpPr>
          <p:cNvPr id="43" name="Group 42">
            <a:extLst>
              <a:ext uri="{FF2B5EF4-FFF2-40B4-BE49-F238E27FC236}">
                <a16:creationId xmlns:a16="http://schemas.microsoft.com/office/drawing/2014/main" id="{5C44483A-1B61-B422-71D9-7F53C0B963C3}"/>
              </a:ext>
            </a:extLst>
          </p:cNvPr>
          <p:cNvGrpSpPr/>
          <p:nvPr/>
        </p:nvGrpSpPr>
        <p:grpSpPr>
          <a:xfrm>
            <a:off x="2523661" y="731131"/>
            <a:ext cx="4024312" cy="444600"/>
            <a:chOff x="0" y="22580"/>
            <a:chExt cx="4024312" cy="444600"/>
          </a:xfrm>
          <a:scene3d>
            <a:camera prst="orthographicFront"/>
            <a:lightRig rig="flat" dir="t"/>
          </a:scene3d>
        </p:grpSpPr>
        <p:sp>
          <p:nvSpPr>
            <p:cNvPr id="50" name="Rounded Rectangle 49">
              <a:extLst>
                <a:ext uri="{FF2B5EF4-FFF2-40B4-BE49-F238E27FC236}">
                  <a16:creationId xmlns:a16="http://schemas.microsoft.com/office/drawing/2014/main" id="{60482DC2-E990-7969-8F42-F18969309D3E}"/>
                </a:ext>
              </a:extLst>
            </p:cNvPr>
            <p:cNvSpPr/>
            <p:nvPr/>
          </p:nvSpPr>
          <p:spPr>
            <a:xfrm>
              <a:off x="0" y="22580"/>
              <a:ext cx="4024312" cy="444600"/>
            </a:xfrm>
            <a:prstGeom prst="roundRect">
              <a:avLst/>
            </a:prstGeom>
            <a:sp3d prstMaterial="dkEdge">
              <a:bevelT w="8200" h="38100"/>
            </a:sp3d>
          </p:spPr>
          <p:style>
            <a:lnRef idx="0">
              <a:schemeClr val="accent1">
                <a:shade val="80000"/>
                <a:hueOff val="0"/>
                <a:satOff val="0"/>
                <a:lumOff val="0"/>
                <a:alphaOff val="0"/>
              </a:schemeClr>
            </a:lnRef>
            <a:fillRef idx="2">
              <a:schemeClr val="lt1">
                <a:hueOff val="0"/>
                <a:satOff val="0"/>
                <a:lumOff val="0"/>
                <a:alphaOff val="0"/>
              </a:schemeClr>
            </a:fillRef>
            <a:effectRef idx="1">
              <a:schemeClr val="lt1">
                <a:hueOff val="0"/>
                <a:satOff val="0"/>
                <a:lumOff val="0"/>
                <a:alphaOff val="0"/>
              </a:schemeClr>
            </a:effectRef>
            <a:fontRef idx="minor">
              <a:schemeClr val="dk1">
                <a:hueOff val="0"/>
                <a:satOff val="0"/>
                <a:lumOff val="0"/>
                <a:alphaOff val="0"/>
              </a:schemeClr>
            </a:fontRef>
          </p:style>
          <p:txBody>
            <a:bodyPr/>
            <a:lstStyle/>
            <a:p>
              <a:pPr algn="ctr"/>
              <a:endParaRPr lang="en-US" sz="1900">
                <a:latin typeface="Arial" panose="020B0604020202020204" pitchFamily="34" charset="0"/>
                <a:cs typeface="Arial" panose="020B0604020202020204" pitchFamily="34" charset="0"/>
              </a:endParaRPr>
            </a:p>
          </p:txBody>
        </p:sp>
        <p:sp>
          <p:nvSpPr>
            <p:cNvPr id="51" name="Rounded Rectangle 4">
              <a:extLst>
                <a:ext uri="{FF2B5EF4-FFF2-40B4-BE49-F238E27FC236}">
                  <a16:creationId xmlns:a16="http://schemas.microsoft.com/office/drawing/2014/main" id="{D43BF446-7B3C-705D-76A5-DB4870AB1104}"/>
                </a:ext>
              </a:extLst>
            </p:cNvPr>
            <p:cNvSpPr txBox="1"/>
            <p:nvPr/>
          </p:nvSpPr>
          <p:spPr>
            <a:xfrm>
              <a:off x="21704" y="44284"/>
              <a:ext cx="3980904" cy="401192"/>
            </a:xfrm>
            <a:prstGeom prst="rect">
              <a:avLst/>
            </a:prstGeom>
            <a:sp3d/>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de-DE" sz="1900" kern="1200" baseline="0" dirty="0">
                  <a:latin typeface="Arial" panose="020B0604020202020204" pitchFamily="34" charset="0"/>
                  <a:cs typeface="Arial" panose="020B0604020202020204" pitchFamily="34" charset="0"/>
                </a:rPr>
                <a:t>Background</a:t>
              </a:r>
              <a:endParaRPr lang="en-US" sz="1900" kern="1200" dirty="0">
                <a:latin typeface="Arial" panose="020B0604020202020204" pitchFamily="34" charset="0"/>
                <a:cs typeface="Arial" panose="020B0604020202020204" pitchFamily="34" charset="0"/>
              </a:endParaRPr>
            </a:p>
          </p:txBody>
        </p:sp>
      </p:grpSp>
      <p:grpSp>
        <p:nvGrpSpPr>
          <p:cNvPr id="44" name="Group 43">
            <a:extLst>
              <a:ext uri="{FF2B5EF4-FFF2-40B4-BE49-F238E27FC236}">
                <a16:creationId xmlns:a16="http://schemas.microsoft.com/office/drawing/2014/main" id="{82440B0F-D1B9-D826-AA33-CCB52F55EBAC}"/>
              </a:ext>
            </a:extLst>
          </p:cNvPr>
          <p:cNvGrpSpPr/>
          <p:nvPr/>
        </p:nvGrpSpPr>
        <p:grpSpPr>
          <a:xfrm>
            <a:off x="2523661" y="1370931"/>
            <a:ext cx="4024312" cy="444600"/>
            <a:chOff x="0" y="521900"/>
            <a:chExt cx="4024312" cy="444600"/>
          </a:xfrm>
          <a:scene3d>
            <a:camera prst="orthographicFront"/>
            <a:lightRig rig="flat" dir="t"/>
          </a:scene3d>
        </p:grpSpPr>
        <p:sp>
          <p:nvSpPr>
            <p:cNvPr id="48" name="Rounded Rectangle 47">
              <a:extLst>
                <a:ext uri="{FF2B5EF4-FFF2-40B4-BE49-F238E27FC236}">
                  <a16:creationId xmlns:a16="http://schemas.microsoft.com/office/drawing/2014/main" id="{2A6CF0D2-3168-1E03-8BC0-E58E538DC979}"/>
                </a:ext>
              </a:extLst>
            </p:cNvPr>
            <p:cNvSpPr/>
            <p:nvPr/>
          </p:nvSpPr>
          <p:spPr>
            <a:xfrm>
              <a:off x="0" y="521900"/>
              <a:ext cx="4024312" cy="444600"/>
            </a:xfrm>
            <a:prstGeom prst="roundRect">
              <a:avLst/>
            </a:prstGeom>
            <a:sp3d prstMaterial="dkEdge">
              <a:bevelT w="8200" h="38100"/>
            </a:sp3d>
          </p:spPr>
          <p:style>
            <a:lnRef idx="0">
              <a:schemeClr val="accent1">
                <a:shade val="80000"/>
                <a:hueOff val="0"/>
                <a:satOff val="0"/>
                <a:lumOff val="0"/>
                <a:alphaOff val="0"/>
              </a:schemeClr>
            </a:lnRef>
            <a:fillRef idx="2">
              <a:schemeClr val="lt1">
                <a:hueOff val="0"/>
                <a:satOff val="0"/>
                <a:lumOff val="0"/>
                <a:alphaOff val="0"/>
              </a:schemeClr>
            </a:fillRef>
            <a:effectRef idx="1">
              <a:schemeClr val="lt1">
                <a:hueOff val="0"/>
                <a:satOff val="0"/>
                <a:lumOff val="0"/>
                <a:alphaOff val="0"/>
              </a:schemeClr>
            </a:effectRef>
            <a:fontRef idx="minor">
              <a:schemeClr val="dk1">
                <a:hueOff val="0"/>
                <a:satOff val="0"/>
                <a:lumOff val="0"/>
                <a:alphaOff val="0"/>
              </a:schemeClr>
            </a:fontRef>
          </p:style>
          <p:txBody>
            <a:bodyPr/>
            <a:lstStyle/>
            <a:p>
              <a:pPr algn="ctr"/>
              <a:endParaRPr lang="en-US" sz="1900">
                <a:latin typeface="Arial" panose="020B0604020202020204" pitchFamily="34" charset="0"/>
                <a:cs typeface="Arial" panose="020B0604020202020204" pitchFamily="34" charset="0"/>
              </a:endParaRPr>
            </a:p>
          </p:txBody>
        </p:sp>
        <p:sp>
          <p:nvSpPr>
            <p:cNvPr id="49" name="Rounded Rectangle 6">
              <a:extLst>
                <a:ext uri="{FF2B5EF4-FFF2-40B4-BE49-F238E27FC236}">
                  <a16:creationId xmlns:a16="http://schemas.microsoft.com/office/drawing/2014/main" id="{4C3EA831-EF8E-11E4-C86F-C9E06DB2C8CC}"/>
                </a:ext>
              </a:extLst>
            </p:cNvPr>
            <p:cNvSpPr txBox="1"/>
            <p:nvPr/>
          </p:nvSpPr>
          <p:spPr>
            <a:xfrm>
              <a:off x="21704" y="543604"/>
              <a:ext cx="3980904" cy="401192"/>
            </a:xfrm>
            <a:prstGeom prst="rect">
              <a:avLst/>
            </a:prstGeom>
            <a:sp3d/>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de-DE" sz="1900" kern="1200" baseline="0" dirty="0">
                  <a:latin typeface="Arial" panose="020B0604020202020204" pitchFamily="34" charset="0"/>
                  <a:cs typeface="Arial" panose="020B0604020202020204" pitchFamily="34" charset="0"/>
                </a:rPr>
                <a:t>Motivation</a:t>
              </a:r>
              <a:endParaRPr lang="en-US" sz="1900" kern="1200" dirty="0">
                <a:latin typeface="Arial" panose="020B0604020202020204" pitchFamily="34" charset="0"/>
                <a:cs typeface="Arial" panose="020B0604020202020204" pitchFamily="34" charset="0"/>
              </a:endParaRPr>
            </a:p>
          </p:txBody>
        </p:sp>
      </p:grpSp>
      <p:grpSp>
        <p:nvGrpSpPr>
          <p:cNvPr id="45" name="Group 44">
            <a:extLst>
              <a:ext uri="{FF2B5EF4-FFF2-40B4-BE49-F238E27FC236}">
                <a16:creationId xmlns:a16="http://schemas.microsoft.com/office/drawing/2014/main" id="{F520CF45-9FB3-4E8B-E169-CA3708DE5F1F}"/>
              </a:ext>
            </a:extLst>
          </p:cNvPr>
          <p:cNvGrpSpPr/>
          <p:nvPr/>
        </p:nvGrpSpPr>
        <p:grpSpPr>
          <a:xfrm>
            <a:off x="2523661" y="2013642"/>
            <a:ext cx="4024312" cy="444600"/>
            <a:chOff x="0" y="1021220"/>
            <a:chExt cx="4024312" cy="444600"/>
          </a:xfrm>
          <a:scene3d>
            <a:camera prst="orthographicFront"/>
            <a:lightRig rig="flat" dir="t"/>
          </a:scene3d>
        </p:grpSpPr>
        <p:sp>
          <p:nvSpPr>
            <p:cNvPr id="46" name="Rounded Rectangle 45">
              <a:extLst>
                <a:ext uri="{FF2B5EF4-FFF2-40B4-BE49-F238E27FC236}">
                  <a16:creationId xmlns:a16="http://schemas.microsoft.com/office/drawing/2014/main" id="{FFB25957-F627-6B1B-17E2-04D43E98149A}"/>
                </a:ext>
              </a:extLst>
            </p:cNvPr>
            <p:cNvSpPr/>
            <p:nvPr/>
          </p:nvSpPr>
          <p:spPr>
            <a:xfrm>
              <a:off x="0" y="1021220"/>
              <a:ext cx="4024312" cy="444600"/>
            </a:xfrm>
            <a:prstGeom prst="roundRect">
              <a:avLst/>
            </a:prstGeom>
            <a:sp3d prstMaterial="dkEdge">
              <a:bevelT w="8200" h="38100"/>
            </a:sp3d>
          </p:spPr>
          <p:style>
            <a:lnRef idx="0">
              <a:schemeClr val="accent1">
                <a:shade val="80000"/>
                <a:hueOff val="0"/>
                <a:satOff val="0"/>
                <a:lumOff val="0"/>
                <a:alphaOff val="0"/>
              </a:schemeClr>
            </a:lnRef>
            <a:fillRef idx="2">
              <a:schemeClr val="lt1">
                <a:hueOff val="0"/>
                <a:satOff val="0"/>
                <a:lumOff val="0"/>
                <a:alphaOff val="0"/>
              </a:schemeClr>
            </a:fillRef>
            <a:effectRef idx="1">
              <a:schemeClr val="lt1">
                <a:hueOff val="0"/>
                <a:satOff val="0"/>
                <a:lumOff val="0"/>
                <a:alphaOff val="0"/>
              </a:schemeClr>
            </a:effectRef>
            <a:fontRef idx="minor">
              <a:schemeClr val="dk1">
                <a:hueOff val="0"/>
                <a:satOff val="0"/>
                <a:lumOff val="0"/>
                <a:alphaOff val="0"/>
              </a:schemeClr>
            </a:fontRef>
          </p:style>
          <p:txBody>
            <a:bodyPr/>
            <a:lstStyle/>
            <a:p>
              <a:pPr algn="ctr"/>
              <a:endParaRPr lang="en-US" sz="1900">
                <a:latin typeface="Arial" panose="020B0604020202020204" pitchFamily="34" charset="0"/>
                <a:cs typeface="Arial" panose="020B0604020202020204" pitchFamily="34" charset="0"/>
              </a:endParaRPr>
            </a:p>
          </p:txBody>
        </p:sp>
        <p:sp>
          <p:nvSpPr>
            <p:cNvPr id="47" name="Rounded Rectangle 8">
              <a:extLst>
                <a:ext uri="{FF2B5EF4-FFF2-40B4-BE49-F238E27FC236}">
                  <a16:creationId xmlns:a16="http://schemas.microsoft.com/office/drawing/2014/main" id="{7EC52827-FFC6-EE8E-421F-CAB6279575BE}"/>
                </a:ext>
              </a:extLst>
            </p:cNvPr>
            <p:cNvSpPr txBox="1"/>
            <p:nvPr/>
          </p:nvSpPr>
          <p:spPr>
            <a:xfrm>
              <a:off x="21704" y="1042924"/>
              <a:ext cx="3980904" cy="401192"/>
            </a:xfrm>
            <a:prstGeom prst="rect">
              <a:avLst/>
            </a:prstGeom>
            <a:sp3d/>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de-DE" sz="1900" kern="1200" baseline="0" dirty="0">
                  <a:latin typeface="Arial" panose="020B0604020202020204" pitchFamily="34" charset="0"/>
                  <a:cs typeface="Arial" panose="020B0604020202020204" pitchFamily="34" charset="0"/>
                </a:rPr>
                <a:t>Investigation</a:t>
              </a:r>
              <a:endParaRPr lang="en-US" sz="1900" kern="1200" dirty="0">
                <a:latin typeface="Arial" panose="020B0604020202020204" pitchFamily="34" charset="0"/>
                <a:cs typeface="Arial" panose="020B0604020202020204" pitchFamily="34" charset="0"/>
              </a:endParaRPr>
            </a:p>
          </p:txBody>
        </p:sp>
      </p:grpSp>
      <p:grpSp>
        <p:nvGrpSpPr>
          <p:cNvPr id="52" name="Group 51">
            <a:extLst>
              <a:ext uri="{FF2B5EF4-FFF2-40B4-BE49-F238E27FC236}">
                <a16:creationId xmlns:a16="http://schemas.microsoft.com/office/drawing/2014/main" id="{3174B362-AED6-6EDE-DA00-F3BC3AF0162D}"/>
              </a:ext>
            </a:extLst>
          </p:cNvPr>
          <p:cNvGrpSpPr/>
          <p:nvPr/>
        </p:nvGrpSpPr>
        <p:grpSpPr>
          <a:xfrm>
            <a:off x="2523661" y="2672727"/>
            <a:ext cx="4024312" cy="444600"/>
            <a:chOff x="0" y="1520540"/>
            <a:chExt cx="4024312" cy="444600"/>
          </a:xfrm>
          <a:scene3d>
            <a:camera prst="orthographicFront"/>
            <a:lightRig rig="flat" dir="t"/>
          </a:scene3d>
        </p:grpSpPr>
        <p:sp>
          <p:nvSpPr>
            <p:cNvPr id="59" name="Rounded Rectangle 58">
              <a:extLst>
                <a:ext uri="{FF2B5EF4-FFF2-40B4-BE49-F238E27FC236}">
                  <a16:creationId xmlns:a16="http://schemas.microsoft.com/office/drawing/2014/main" id="{10507BE1-948A-56BE-2435-7DE1F21F7FE3}"/>
                </a:ext>
              </a:extLst>
            </p:cNvPr>
            <p:cNvSpPr/>
            <p:nvPr/>
          </p:nvSpPr>
          <p:spPr>
            <a:xfrm>
              <a:off x="0" y="1520540"/>
              <a:ext cx="4024312" cy="444600"/>
            </a:xfrm>
            <a:prstGeom prst="roundRect">
              <a:avLst/>
            </a:prstGeom>
            <a:sp3d prstMaterial="dkEdge">
              <a:bevelT w="8200" h="38100"/>
            </a:sp3d>
          </p:spPr>
          <p:style>
            <a:lnRef idx="0">
              <a:schemeClr val="accent1">
                <a:shade val="80000"/>
                <a:hueOff val="0"/>
                <a:satOff val="0"/>
                <a:lumOff val="0"/>
                <a:alphaOff val="0"/>
              </a:schemeClr>
            </a:lnRef>
            <a:fillRef idx="2">
              <a:schemeClr val="lt1">
                <a:hueOff val="0"/>
                <a:satOff val="0"/>
                <a:lumOff val="0"/>
                <a:alphaOff val="0"/>
              </a:schemeClr>
            </a:fillRef>
            <a:effectRef idx="1">
              <a:schemeClr val="lt1">
                <a:hueOff val="0"/>
                <a:satOff val="0"/>
                <a:lumOff val="0"/>
                <a:alphaOff val="0"/>
              </a:schemeClr>
            </a:effectRef>
            <a:fontRef idx="minor">
              <a:schemeClr val="dk1">
                <a:hueOff val="0"/>
                <a:satOff val="0"/>
                <a:lumOff val="0"/>
                <a:alphaOff val="0"/>
              </a:schemeClr>
            </a:fontRef>
          </p:style>
          <p:txBody>
            <a:bodyPr/>
            <a:lstStyle/>
            <a:p>
              <a:pPr algn="ctr"/>
              <a:endParaRPr lang="en-US" sz="1900">
                <a:latin typeface="Arial" panose="020B0604020202020204" pitchFamily="34" charset="0"/>
                <a:cs typeface="Arial" panose="020B0604020202020204" pitchFamily="34" charset="0"/>
              </a:endParaRPr>
            </a:p>
          </p:txBody>
        </p:sp>
        <p:sp>
          <p:nvSpPr>
            <p:cNvPr id="60" name="Rounded Rectangle 4">
              <a:extLst>
                <a:ext uri="{FF2B5EF4-FFF2-40B4-BE49-F238E27FC236}">
                  <a16:creationId xmlns:a16="http://schemas.microsoft.com/office/drawing/2014/main" id="{61CA98E6-894D-8151-1959-5CA7CBE8A85B}"/>
                </a:ext>
              </a:extLst>
            </p:cNvPr>
            <p:cNvSpPr txBox="1"/>
            <p:nvPr/>
          </p:nvSpPr>
          <p:spPr>
            <a:xfrm>
              <a:off x="21704" y="1542244"/>
              <a:ext cx="3980904" cy="401192"/>
            </a:xfrm>
            <a:prstGeom prst="rect">
              <a:avLst/>
            </a:prstGeom>
            <a:sp3d/>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de-DE" sz="1900" kern="1200" baseline="0" dirty="0">
                  <a:latin typeface="Arial" panose="020B0604020202020204" pitchFamily="34" charset="0"/>
                  <a:cs typeface="Arial" panose="020B0604020202020204" pitchFamily="34" charset="0"/>
                </a:rPr>
                <a:t>Approach: VCP + APU</a:t>
              </a:r>
              <a:endParaRPr lang="en-US" sz="1900" kern="1200" dirty="0">
                <a:latin typeface="Arial" panose="020B0604020202020204" pitchFamily="34" charset="0"/>
                <a:cs typeface="Arial" panose="020B0604020202020204" pitchFamily="34" charset="0"/>
              </a:endParaRPr>
            </a:p>
          </p:txBody>
        </p:sp>
      </p:grpSp>
      <p:grpSp>
        <p:nvGrpSpPr>
          <p:cNvPr id="53" name="Group 52">
            <a:extLst>
              <a:ext uri="{FF2B5EF4-FFF2-40B4-BE49-F238E27FC236}">
                <a16:creationId xmlns:a16="http://schemas.microsoft.com/office/drawing/2014/main" id="{7B158C70-5C18-1087-77EE-9007CCF57BF5}"/>
              </a:ext>
            </a:extLst>
          </p:cNvPr>
          <p:cNvGrpSpPr/>
          <p:nvPr/>
        </p:nvGrpSpPr>
        <p:grpSpPr>
          <a:xfrm>
            <a:off x="2523661" y="3388408"/>
            <a:ext cx="4024312" cy="444600"/>
            <a:chOff x="0" y="2019860"/>
            <a:chExt cx="4024312" cy="444600"/>
          </a:xfrm>
          <a:scene3d>
            <a:camera prst="orthographicFront"/>
            <a:lightRig rig="flat" dir="t"/>
          </a:scene3d>
        </p:grpSpPr>
        <p:sp>
          <p:nvSpPr>
            <p:cNvPr id="57" name="Rounded Rectangle 56">
              <a:extLst>
                <a:ext uri="{FF2B5EF4-FFF2-40B4-BE49-F238E27FC236}">
                  <a16:creationId xmlns:a16="http://schemas.microsoft.com/office/drawing/2014/main" id="{4C706B7F-E26B-1C6F-8BDD-EEFEF1BFC65F}"/>
                </a:ext>
              </a:extLst>
            </p:cNvPr>
            <p:cNvSpPr/>
            <p:nvPr/>
          </p:nvSpPr>
          <p:spPr>
            <a:xfrm>
              <a:off x="0" y="2019860"/>
              <a:ext cx="4024312" cy="444600"/>
            </a:xfrm>
            <a:prstGeom prst="roundRect">
              <a:avLst/>
            </a:prstGeom>
            <a:sp3d prstMaterial="dkEdge">
              <a:bevelT w="8200" h="38100"/>
            </a:sp3d>
          </p:spPr>
          <p:style>
            <a:lnRef idx="0">
              <a:schemeClr val="accent1">
                <a:shade val="80000"/>
                <a:hueOff val="0"/>
                <a:satOff val="0"/>
                <a:lumOff val="0"/>
                <a:alphaOff val="0"/>
              </a:schemeClr>
            </a:lnRef>
            <a:fillRef idx="2">
              <a:schemeClr val="lt1">
                <a:hueOff val="0"/>
                <a:satOff val="0"/>
                <a:lumOff val="0"/>
                <a:alphaOff val="0"/>
              </a:schemeClr>
            </a:fillRef>
            <a:effectRef idx="1">
              <a:schemeClr val="lt1">
                <a:hueOff val="0"/>
                <a:satOff val="0"/>
                <a:lumOff val="0"/>
                <a:alphaOff val="0"/>
              </a:schemeClr>
            </a:effectRef>
            <a:fontRef idx="minor">
              <a:schemeClr val="dk1">
                <a:hueOff val="0"/>
                <a:satOff val="0"/>
                <a:lumOff val="0"/>
                <a:alphaOff val="0"/>
              </a:schemeClr>
            </a:fontRef>
          </p:style>
          <p:txBody>
            <a:bodyPr/>
            <a:lstStyle/>
            <a:p>
              <a:pPr algn="ctr"/>
              <a:endParaRPr lang="en-US" sz="1900">
                <a:latin typeface="Arial" panose="020B0604020202020204" pitchFamily="34" charset="0"/>
                <a:cs typeface="Arial" panose="020B0604020202020204" pitchFamily="34" charset="0"/>
              </a:endParaRPr>
            </a:p>
          </p:txBody>
        </p:sp>
        <p:sp>
          <p:nvSpPr>
            <p:cNvPr id="58" name="Rounded Rectangle 6">
              <a:extLst>
                <a:ext uri="{FF2B5EF4-FFF2-40B4-BE49-F238E27FC236}">
                  <a16:creationId xmlns:a16="http://schemas.microsoft.com/office/drawing/2014/main" id="{CE3D3FD4-3048-A363-BE71-50E706646DDE}"/>
                </a:ext>
              </a:extLst>
            </p:cNvPr>
            <p:cNvSpPr txBox="1"/>
            <p:nvPr/>
          </p:nvSpPr>
          <p:spPr>
            <a:xfrm>
              <a:off x="21704" y="2041564"/>
              <a:ext cx="3980904" cy="401192"/>
            </a:xfrm>
            <a:prstGeom prst="rect">
              <a:avLst/>
            </a:prstGeom>
            <a:sp3d/>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de-DE" sz="1900" kern="1200" baseline="0" dirty="0">
                  <a:latin typeface="Arial" panose="020B0604020202020204" pitchFamily="34" charset="0"/>
                  <a:cs typeface="Arial" panose="020B0604020202020204" pitchFamily="34" charset="0"/>
                </a:rPr>
                <a:t>Evaluation: 4 Research Questions</a:t>
              </a:r>
              <a:endParaRPr lang="en-US" sz="1900" kern="1200" dirty="0">
                <a:latin typeface="Arial" panose="020B0604020202020204" pitchFamily="34" charset="0"/>
                <a:cs typeface="Arial" panose="020B0604020202020204" pitchFamily="34" charset="0"/>
              </a:endParaRPr>
            </a:p>
          </p:txBody>
        </p:sp>
      </p:grpSp>
      <p:grpSp>
        <p:nvGrpSpPr>
          <p:cNvPr id="54" name="Group 53">
            <a:extLst>
              <a:ext uri="{FF2B5EF4-FFF2-40B4-BE49-F238E27FC236}">
                <a16:creationId xmlns:a16="http://schemas.microsoft.com/office/drawing/2014/main" id="{CB1405AD-BA2C-4E7D-975E-5FC3D238864C}"/>
              </a:ext>
            </a:extLst>
          </p:cNvPr>
          <p:cNvGrpSpPr/>
          <p:nvPr/>
        </p:nvGrpSpPr>
        <p:grpSpPr>
          <a:xfrm>
            <a:off x="2523661" y="4115512"/>
            <a:ext cx="4024312" cy="444600"/>
            <a:chOff x="0" y="2519180"/>
            <a:chExt cx="4024312" cy="444600"/>
          </a:xfrm>
          <a:scene3d>
            <a:camera prst="orthographicFront"/>
            <a:lightRig rig="flat" dir="t"/>
          </a:scene3d>
        </p:grpSpPr>
        <p:sp>
          <p:nvSpPr>
            <p:cNvPr id="55" name="Rounded Rectangle 54">
              <a:extLst>
                <a:ext uri="{FF2B5EF4-FFF2-40B4-BE49-F238E27FC236}">
                  <a16:creationId xmlns:a16="http://schemas.microsoft.com/office/drawing/2014/main" id="{C365ADE3-7F23-B827-C065-A1E686B98656}"/>
                </a:ext>
              </a:extLst>
            </p:cNvPr>
            <p:cNvSpPr/>
            <p:nvPr/>
          </p:nvSpPr>
          <p:spPr>
            <a:xfrm>
              <a:off x="0" y="2519180"/>
              <a:ext cx="4024312" cy="444600"/>
            </a:xfrm>
            <a:prstGeom prst="roundRect">
              <a:avLst/>
            </a:prstGeom>
            <a:sp3d prstMaterial="dkEdge">
              <a:bevelT w="8200" h="38100"/>
            </a:sp3d>
          </p:spPr>
          <p:style>
            <a:lnRef idx="0">
              <a:schemeClr val="accent1">
                <a:shade val="80000"/>
                <a:hueOff val="0"/>
                <a:satOff val="0"/>
                <a:lumOff val="0"/>
                <a:alphaOff val="0"/>
              </a:schemeClr>
            </a:lnRef>
            <a:fillRef idx="2">
              <a:schemeClr val="lt1">
                <a:hueOff val="0"/>
                <a:satOff val="0"/>
                <a:lumOff val="0"/>
                <a:alphaOff val="0"/>
              </a:schemeClr>
            </a:fillRef>
            <a:effectRef idx="1">
              <a:schemeClr val="lt1">
                <a:hueOff val="0"/>
                <a:satOff val="0"/>
                <a:lumOff val="0"/>
                <a:alphaOff val="0"/>
              </a:schemeClr>
            </a:effectRef>
            <a:fontRef idx="minor">
              <a:schemeClr val="dk1">
                <a:hueOff val="0"/>
                <a:satOff val="0"/>
                <a:lumOff val="0"/>
                <a:alphaOff val="0"/>
              </a:schemeClr>
            </a:fontRef>
          </p:style>
          <p:txBody>
            <a:bodyPr/>
            <a:lstStyle/>
            <a:p>
              <a:pPr algn="ctr"/>
              <a:endParaRPr lang="en-US" sz="1900">
                <a:latin typeface="Arial" panose="020B0604020202020204" pitchFamily="34" charset="0"/>
                <a:cs typeface="Arial" panose="020B0604020202020204" pitchFamily="34" charset="0"/>
              </a:endParaRPr>
            </a:p>
          </p:txBody>
        </p:sp>
        <p:sp>
          <p:nvSpPr>
            <p:cNvPr id="56" name="Rounded Rectangle 8">
              <a:extLst>
                <a:ext uri="{FF2B5EF4-FFF2-40B4-BE49-F238E27FC236}">
                  <a16:creationId xmlns:a16="http://schemas.microsoft.com/office/drawing/2014/main" id="{F7F3C94E-3893-2198-DB2F-449D2D8A261D}"/>
                </a:ext>
              </a:extLst>
            </p:cNvPr>
            <p:cNvSpPr txBox="1"/>
            <p:nvPr/>
          </p:nvSpPr>
          <p:spPr>
            <a:xfrm>
              <a:off x="21704" y="2540884"/>
              <a:ext cx="3980904" cy="401192"/>
            </a:xfrm>
            <a:prstGeom prst="rect">
              <a:avLst/>
            </a:prstGeom>
            <a:sp3d/>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de-DE" sz="1900" kern="1200" baseline="0">
                  <a:latin typeface="Arial" panose="020B0604020202020204" pitchFamily="34" charset="0"/>
                  <a:cs typeface="Arial" panose="020B0604020202020204" pitchFamily="34" charset="0"/>
                </a:rPr>
                <a:t>Conclusion</a:t>
              </a:r>
              <a:endParaRPr lang="en-US" sz="1900" kern="1200">
                <a:latin typeface="Arial" panose="020B0604020202020204" pitchFamily="34" charset="0"/>
                <a:cs typeface="Arial" panose="020B0604020202020204" pitchFamily="34" charset="0"/>
              </a:endParaRPr>
            </a:p>
          </p:txBody>
        </p:sp>
      </p:grpSp>
      <p:sp>
        <p:nvSpPr>
          <p:cNvPr id="64" name="Rectangle 63">
            <a:extLst>
              <a:ext uri="{FF2B5EF4-FFF2-40B4-BE49-F238E27FC236}">
                <a16:creationId xmlns:a16="http://schemas.microsoft.com/office/drawing/2014/main" id="{D43E1AD2-DA3F-D8FA-0E4A-14ABAF42BA8F}"/>
              </a:ext>
            </a:extLst>
          </p:cNvPr>
          <p:cNvSpPr/>
          <p:nvPr/>
        </p:nvSpPr>
        <p:spPr>
          <a:xfrm>
            <a:off x="0" y="252983"/>
            <a:ext cx="1577591" cy="380745"/>
          </a:xfrm>
          <a:prstGeom prst="rect">
            <a:avLst/>
          </a:prstGeom>
          <a:solidFill>
            <a:srgbClr val="0064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nSpc>
                <a:spcPct val="114000"/>
              </a:lnSpc>
            </a:pPr>
            <a:r>
              <a:rPr lang="en-US" dirty="0">
                <a:latin typeface="Arial" panose="020B0604020202020204" pitchFamily="34" charset="0"/>
                <a:cs typeface="Arial" panose="020B0604020202020204" pitchFamily="34" charset="0"/>
              </a:rPr>
              <a:t>Content</a:t>
            </a:r>
          </a:p>
        </p:txBody>
      </p:sp>
      <p:sp>
        <p:nvSpPr>
          <p:cNvPr id="69" name="Date Placeholder 3">
            <a:extLst>
              <a:ext uri="{FF2B5EF4-FFF2-40B4-BE49-F238E27FC236}">
                <a16:creationId xmlns:a16="http://schemas.microsoft.com/office/drawing/2014/main" id="{C737E8C4-57C8-5489-8355-8B095DC75D47}"/>
              </a:ext>
            </a:extLst>
          </p:cNvPr>
          <p:cNvSpPr txBox="1">
            <a:spLocks/>
          </p:cNvSpPr>
          <p:nvPr/>
        </p:nvSpPr>
        <p:spPr>
          <a:xfrm>
            <a:off x="25673" y="4922595"/>
            <a:ext cx="811609" cy="22090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gn="l" rtl="0" eaLnBrk="1" fontAlgn="base" hangingPunct="1">
              <a:lnSpc>
                <a:spcPct val="150000"/>
              </a:lnSpc>
              <a:spcBef>
                <a:spcPct val="0"/>
              </a:spcBef>
              <a:spcAft>
                <a:spcPct val="0"/>
              </a:spcAft>
              <a:defRPr lang="de-DE" sz="1400" kern="1200" baseline="0" noProof="0" dirty="0" smtClean="0">
                <a:solidFill>
                  <a:schemeClr val="tx1"/>
                </a:solidFill>
                <a:latin typeface="+mn-lt"/>
                <a:ea typeface="+mn-ea"/>
                <a:cs typeface="+mn-cs"/>
              </a:defRPr>
            </a:lvl1pPr>
            <a:lvl2pPr marL="176213" indent="-176213" algn="l" rtl="0" eaLnBrk="1" fontAlgn="base" hangingPunct="1">
              <a:lnSpc>
                <a:spcPct val="100000"/>
              </a:lnSpc>
              <a:spcBef>
                <a:spcPct val="0"/>
              </a:spcBef>
              <a:spcAft>
                <a:spcPct val="0"/>
              </a:spcAft>
              <a:buFont typeface="Arial" charset="0"/>
              <a:buChar char="•"/>
              <a:defRPr lang="de-DE" sz="1600" kern="1200" noProof="0" dirty="0" smtClean="0">
                <a:solidFill>
                  <a:schemeClr val="tx1"/>
                </a:solidFill>
                <a:latin typeface="+mn-lt"/>
                <a:ea typeface="+mn-ea"/>
                <a:cs typeface="+mn-cs"/>
              </a:defRPr>
            </a:lvl2pPr>
            <a:lvl3pPr marL="360363" indent="-184150"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fld id="{E6E0805E-65D9-544D-8805-556D80FFC742}" type="datetime1">
              <a:rPr lang="en-US" sz="1000" smtClean="0">
                <a:solidFill>
                  <a:schemeClr val="bg1">
                    <a:lumMod val="85000"/>
                  </a:schemeClr>
                </a:solidFill>
              </a:rPr>
              <a:pPr/>
              <a:t>12/7/25</a:t>
            </a:fld>
            <a:endParaRPr lang="en-US" sz="1000" dirty="0">
              <a:solidFill>
                <a:schemeClr val="bg1">
                  <a:lumMod val="85000"/>
                </a:schemeClr>
              </a:solidFill>
            </a:endParaRPr>
          </a:p>
        </p:txBody>
      </p:sp>
      <p:sp>
        <p:nvSpPr>
          <p:cNvPr id="2" name="Footer Placeholder 4">
            <a:extLst>
              <a:ext uri="{FF2B5EF4-FFF2-40B4-BE49-F238E27FC236}">
                <a16:creationId xmlns:a16="http://schemas.microsoft.com/office/drawing/2014/main" id="{03CE8945-16A1-0240-F2EA-3DDBF0D3A9F9}"/>
              </a:ext>
            </a:extLst>
          </p:cNvPr>
          <p:cNvSpPr txBox="1">
            <a:spLocks/>
          </p:cNvSpPr>
          <p:nvPr/>
        </p:nvSpPr>
        <p:spPr>
          <a:xfrm>
            <a:off x="2394860" y="4787044"/>
            <a:ext cx="4482901" cy="360210"/>
          </a:xfrm>
          <a:prstGeom prst="rect">
            <a:avLst/>
          </a:prstGeom>
        </p:spPr>
        <p:txBody>
          <a:bodyPr/>
          <a:ls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lgn="ctr"/>
            <a:br>
              <a:rPr lang="en-US" sz="1000" dirty="0">
                <a:solidFill>
                  <a:schemeClr val="bg1">
                    <a:lumMod val="85000"/>
                  </a:schemeClr>
                </a:solidFill>
              </a:rPr>
            </a:br>
            <a:r>
              <a:rPr lang="en-US" sz="1000" dirty="0">
                <a:solidFill>
                  <a:schemeClr val="bg1">
                    <a:lumMod val="85000"/>
                  </a:schemeClr>
                </a:solidFill>
              </a:rPr>
              <a:t>Algorithmic Decision Making: Metaheuristics and Decomposition in Practice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p:cNvSpPr>
            <a:spLocks noGrp="1"/>
          </p:cNvSpPr>
          <p:nvPr>
            <p:ph type="sldNum" sz="quarter" idx="11"/>
          </p:nvPr>
        </p:nvSpPr>
        <p:spPr/>
        <p:txBody>
          <a:bodyPr/>
          <a:lstStyle/>
          <a:p>
            <a:fld id="{CE58CB1E-F828-4F11-99E0-327109AF9DA4}" type="slidenum">
              <a:rPr lang="de-DE" smtClean="0"/>
              <a:pPr/>
              <a:t>3</a:t>
            </a:fld>
            <a:endParaRPr lang="de-DE" dirty="0"/>
          </a:p>
        </p:txBody>
      </p:sp>
      <p:sp>
        <p:nvSpPr>
          <p:cNvPr id="6" name="Content Placeholder 5">
            <a:extLst>
              <a:ext uri="{FF2B5EF4-FFF2-40B4-BE49-F238E27FC236}">
                <a16:creationId xmlns:a16="http://schemas.microsoft.com/office/drawing/2014/main" id="{C93DAB46-0201-40DF-A4F7-F1D8990470C8}"/>
              </a:ext>
            </a:extLst>
          </p:cNvPr>
          <p:cNvSpPr>
            <a:spLocks noGrp="1"/>
          </p:cNvSpPr>
          <p:nvPr>
            <p:ph idx="1"/>
          </p:nvPr>
        </p:nvSpPr>
        <p:spPr>
          <a:xfrm>
            <a:off x="837282" y="1060062"/>
            <a:ext cx="1886719" cy="1828707"/>
          </a:xfrm>
        </p:spPr>
        <p:txBody>
          <a:bodyPr/>
          <a:lstStyle/>
          <a:p>
            <a:pPr marL="285750" indent="-285750">
              <a:buFont typeface="Arial" panose="020B0604020202020204" pitchFamily="34" charset="0"/>
              <a:buChar char="•"/>
            </a:pPr>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Bugs </a:t>
            </a:r>
          </a:p>
          <a:p>
            <a:r>
              <a:rPr lang="en-US" sz="1600" dirty="0">
                <a:latin typeface="Arial" panose="020B0604020202020204" pitchFamily="34" charset="0"/>
                <a:cs typeface="Arial" panose="020B0604020202020204" pitchFamily="34" charset="0"/>
              </a:rPr>
              <a:t>Outdated</a:t>
            </a:r>
          </a:p>
          <a:p>
            <a:r>
              <a:rPr lang="en-US" sz="1600" dirty="0">
                <a:latin typeface="Arial" panose="020B0604020202020204" pitchFamily="34" charset="0"/>
                <a:cs typeface="Arial" panose="020B0604020202020204" pitchFamily="34" charset="0"/>
              </a:rPr>
              <a:t>Suboptimal</a:t>
            </a:r>
          </a:p>
          <a:p>
            <a:r>
              <a:rPr lang="en-US" sz="1600" dirty="0">
                <a:latin typeface="Arial" panose="020B0604020202020204" pitchFamily="34" charset="0"/>
                <a:cs typeface="Arial" panose="020B0604020202020204" pitchFamily="34" charset="0"/>
              </a:rPr>
              <a:t>…</a:t>
            </a:r>
          </a:p>
          <a:p>
            <a:pPr marL="285750" indent="-285750">
              <a:buFont typeface="Arial" panose="020B0604020202020204" pitchFamily="34" charset="0"/>
              <a:buChar char="•"/>
            </a:pPr>
            <a:endParaRPr lang="en-US" sz="1600" dirty="0">
              <a:latin typeface="Arial" panose="020B0604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EB258694-6150-DEA1-79B4-C8744FCE14C6}"/>
              </a:ext>
            </a:extLst>
          </p:cNvPr>
          <p:cNvSpPr/>
          <p:nvPr/>
        </p:nvSpPr>
        <p:spPr>
          <a:xfrm>
            <a:off x="0" y="252983"/>
            <a:ext cx="1577591" cy="380745"/>
          </a:xfrm>
          <a:prstGeom prst="rect">
            <a:avLst/>
          </a:prstGeom>
          <a:solidFill>
            <a:srgbClr val="0064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nSpc>
                <a:spcPct val="114000"/>
              </a:lnSpc>
            </a:pPr>
            <a:r>
              <a:rPr lang="en-US" dirty="0"/>
              <a:t>Background</a:t>
            </a:r>
          </a:p>
        </p:txBody>
      </p:sp>
      <p:cxnSp>
        <p:nvCxnSpPr>
          <p:cNvPr id="32" name="Straight Connector 31">
            <a:extLst>
              <a:ext uri="{FF2B5EF4-FFF2-40B4-BE49-F238E27FC236}">
                <a16:creationId xmlns:a16="http://schemas.microsoft.com/office/drawing/2014/main" id="{1825C004-A533-E609-B5E7-7D081E23DDC9}"/>
              </a:ext>
            </a:extLst>
          </p:cNvPr>
          <p:cNvCxnSpPr>
            <a:cxnSpLocks/>
          </p:cNvCxnSpPr>
          <p:nvPr/>
        </p:nvCxnSpPr>
        <p:spPr>
          <a:xfrm>
            <a:off x="0" y="0"/>
            <a:ext cx="1577591"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9" name="Date Placeholder 3">
            <a:extLst>
              <a:ext uri="{FF2B5EF4-FFF2-40B4-BE49-F238E27FC236}">
                <a16:creationId xmlns:a16="http://schemas.microsoft.com/office/drawing/2014/main" id="{4827AEFD-CABB-6C15-D86E-E8F1308D34E7}"/>
              </a:ext>
            </a:extLst>
          </p:cNvPr>
          <p:cNvSpPr txBox="1">
            <a:spLocks/>
          </p:cNvSpPr>
          <p:nvPr/>
        </p:nvSpPr>
        <p:spPr>
          <a:xfrm>
            <a:off x="25673" y="4922595"/>
            <a:ext cx="811609" cy="22090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gn="l" rtl="0" eaLnBrk="1" fontAlgn="base" hangingPunct="1">
              <a:lnSpc>
                <a:spcPct val="150000"/>
              </a:lnSpc>
              <a:spcBef>
                <a:spcPct val="0"/>
              </a:spcBef>
              <a:spcAft>
                <a:spcPct val="0"/>
              </a:spcAft>
              <a:defRPr lang="de-DE" sz="1400" kern="1200" baseline="0" noProof="0" dirty="0" smtClean="0">
                <a:solidFill>
                  <a:schemeClr val="tx1"/>
                </a:solidFill>
                <a:latin typeface="+mn-lt"/>
                <a:ea typeface="+mn-ea"/>
                <a:cs typeface="+mn-cs"/>
              </a:defRPr>
            </a:lvl1pPr>
            <a:lvl2pPr marL="176213" indent="-176213" algn="l" rtl="0" eaLnBrk="1" fontAlgn="base" hangingPunct="1">
              <a:lnSpc>
                <a:spcPct val="100000"/>
              </a:lnSpc>
              <a:spcBef>
                <a:spcPct val="0"/>
              </a:spcBef>
              <a:spcAft>
                <a:spcPct val="0"/>
              </a:spcAft>
              <a:buFont typeface="Arial" charset="0"/>
              <a:buChar char="•"/>
              <a:defRPr lang="de-DE" sz="1600" kern="1200" noProof="0" dirty="0" smtClean="0">
                <a:solidFill>
                  <a:schemeClr val="tx1"/>
                </a:solidFill>
                <a:latin typeface="+mn-lt"/>
                <a:ea typeface="+mn-ea"/>
                <a:cs typeface="+mn-cs"/>
              </a:defRPr>
            </a:lvl2pPr>
            <a:lvl3pPr marL="360363" indent="-184150"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fld id="{E6E0805E-65D9-544D-8805-556D80FFC742}" type="datetime1">
              <a:rPr lang="en-US" sz="1000" smtClean="0">
                <a:solidFill>
                  <a:schemeClr val="bg1">
                    <a:lumMod val="85000"/>
                  </a:schemeClr>
                </a:solidFill>
              </a:rPr>
              <a:pPr/>
              <a:t>12/7/25</a:t>
            </a:fld>
            <a:endParaRPr lang="en-US" sz="1000" dirty="0">
              <a:solidFill>
                <a:schemeClr val="bg1">
                  <a:lumMod val="85000"/>
                </a:schemeClr>
              </a:solidFill>
            </a:endParaRPr>
          </a:p>
        </p:txBody>
      </p:sp>
      <p:sp>
        <p:nvSpPr>
          <p:cNvPr id="2" name="Footer Placeholder 4">
            <a:extLst>
              <a:ext uri="{FF2B5EF4-FFF2-40B4-BE49-F238E27FC236}">
                <a16:creationId xmlns:a16="http://schemas.microsoft.com/office/drawing/2014/main" id="{508CA0DE-E7E4-47E1-71BD-B489EAC12D18}"/>
              </a:ext>
            </a:extLst>
          </p:cNvPr>
          <p:cNvSpPr txBox="1">
            <a:spLocks/>
          </p:cNvSpPr>
          <p:nvPr/>
        </p:nvSpPr>
        <p:spPr>
          <a:xfrm>
            <a:off x="2394860" y="4787044"/>
            <a:ext cx="4482901" cy="360210"/>
          </a:xfrm>
          <a:prstGeom prst="rect">
            <a:avLst/>
          </a:prstGeom>
        </p:spPr>
        <p:txBody>
          <a:bodyPr/>
          <a:ls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lgn="ctr"/>
            <a:br>
              <a:rPr lang="en-US" sz="1000" dirty="0">
                <a:solidFill>
                  <a:schemeClr val="bg1">
                    <a:lumMod val="85000"/>
                  </a:schemeClr>
                </a:solidFill>
              </a:rPr>
            </a:br>
            <a:r>
              <a:rPr lang="en-US" sz="1000" dirty="0">
                <a:solidFill>
                  <a:schemeClr val="bg1">
                    <a:lumMod val="85000"/>
                  </a:schemeClr>
                </a:solidFill>
              </a:rPr>
              <a:t>Algorithmic Decision Making: Metaheuristics and Decomposition in Practice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C602F5-CBC9-D9F6-ACB9-C84C91BB6008}"/>
            </a:ext>
          </a:extLst>
        </p:cNvPr>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22DCCA56-EFA4-D0A3-F2FE-AA314C74B5AC}"/>
              </a:ext>
            </a:extLst>
          </p:cNvPr>
          <p:cNvSpPr>
            <a:spLocks noGrp="1"/>
          </p:cNvSpPr>
          <p:nvPr>
            <p:ph type="sldNum" sz="quarter" idx="11"/>
          </p:nvPr>
        </p:nvSpPr>
        <p:spPr/>
        <p:txBody>
          <a:bodyPr/>
          <a:lstStyle/>
          <a:p>
            <a:fld id="{CE58CB1E-F828-4F11-99E0-327109AF9DA4}" type="slidenum">
              <a:rPr lang="de-DE" smtClean="0"/>
              <a:pPr/>
              <a:t>4</a:t>
            </a:fld>
            <a:endParaRPr lang="de-DE" dirty="0"/>
          </a:p>
        </p:txBody>
      </p:sp>
      <p:sp>
        <p:nvSpPr>
          <p:cNvPr id="9" name="Rectangle 8">
            <a:extLst>
              <a:ext uri="{FF2B5EF4-FFF2-40B4-BE49-F238E27FC236}">
                <a16:creationId xmlns:a16="http://schemas.microsoft.com/office/drawing/2014/main" id="{DF7C48B1-D6B8-8CB8-6E48-AE3340B35778}"/>
              </a:ext>
            </a:extLst>
          </p:cNvPr>
          <p:cNvSpPr/>
          <p:nvPr/>
        </p:nvSpPr>
        <p:spPr>
          <a:xfrm>
            <a:off x="0" y="252983"/>
            <a:ext cx="1577591" cy="380745"/>
          </a:xfrm>
          <a:prstGeom prst="rect">
            <a:avLst/>
          </a:prstGeom>
          <a:solidFill>
            <a:srgbClr val="0064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nSpc>
                <a:spcPct val="114000"/>
              </a:lnSpc>
            </a:pPr>
            <a:r>
              <a:rPr lang="en-US" dirty="0"/>
              <a:t>Motivation</a:t>
            </a:r>
          </a:p>
        </p:txBody>
      </p:sp>
      <p:sp>
        <p:nvSpPr>
          <p:cNvPr id="12" name="TextBox 11">
            <a:extLst>
              <a:ext uri="{FF2B5EF4-FFF2-40B4-BE49-F238E27FC236}">
                <a16:creationId xmlns:a16="http://schemas.microsoft.com/office/drawing/2014/main" id="{28B21DE1-2F93-908A-ABD9-E495C12F13F6}"/>
              </a:ext>
            </a:extLst>
          </p:cNvPr>
          <p:cNvSpPr txBox="1"/>
          <p:nvPr/>
        </p:nvSpPr>
        <p:spPr>
          <a:xfrm>
            <a:off x="1577591" y="3716016"/>
            <a:ext cx="6475474" cy="333874"/>
          </a:xfrm>
          <a:prstGeom prst="rect">
            <a:avLst/>
          </a:prstGeom>
          <a:noFill/>
        </p:spPr>
        <p:txBody>
          <a:bodyPr wrap="square" lIns="0" tIns="0" rIns="0" bIns="0" rtlCol="0">
            <a:spAutoFit/>
          </a:bodyPr>
          <a:lstStyle/>
          <a:p>
            <a:pPr>
              <a:lnSpc>
                <a:spcPct val="114000"/>
              </a:lnSpc>
            </a:pPr>
            <a:r>
              <a:rPr lang="en-US" sz="1600" dirty="0">
                <a:solidFill>
                  <a:srgbClr val="141413"/>
                </a:solidFill>
                <a:effectLst/>
                <a:latin typeface="Helvetica" pitchFamily="2" charset="0"/>
              </a:rPr>
              <a:t>Onl</a:t>
            </a:r>
            <a:r>
              <a:rPr lang="en-US" sz="1600" dirty="0">
                <a:solidFill>
                  <a:srgbClr val="141413"/>
                </a:solidFill>
                <a:latin typeface="Helvetica" pitchFamily="2" charset="0"/>
              </a:rPr>
              <a:t>y </a:t>
            </a:r>
            <a:r>
              <a:rPr lang="en-US" sz="2000" dirty="0">
                <a:solidFill>
                  <a:srgbClr val="FF0000"/>
                </a:solidFill>
                <a:latin typeface="Helvetica" pitchFamily="2" charset="0"/>
              </a:rPr>
              <a:t>4.6% </a:t>
            </a:r>
            <a:r>
              <a:rPr lang="en-US" sz="1600" dirty="0">
                <a:solidFill>
                  <a:srgbClr val="141413"/>
                </a:solidFill>
                <a:latin typeface="Helvetica" pitchFamily="2" charset="0"/>
              </a:rPr>
              <a:t>of the answers are edited after comments are posted.</a:t>
            </a:r>
            <a:endParaRPr lang="en-US" sz="1600" dirty="0">
              <a:solidFill>
                <a:srgbClr val="141413"/>
              </a:solidFill>
              <a:effectLst/>
              <a:latin typeface="Helvetica" pitchFamily="2" charset="0"/>
            </a:endParaRPr>
          </a:p>
        </p:txBody>
      </p:sp>
      <p:sp>
        <p:nvSpPr>
          <p:cNvPr id="16" name="TextBox 15">
            <a:extLst>
              <a:ext uri="{FF2B5EF4-FFF2-40B4-BE49-F238E27FC236}">
                <a16:creationId xmlns:a16="http://schemas.microsoft.com/office/drawing/2014/main" id="{466CE0CC-4423-F315-D00A-BEE915CA3F99}"/>
              </a:ext>
            </a:extLst>
          </p:cNvPr>
          <p:cNvSpPr txBox="1"/>
          <p:nvPr/>
        </p:nvSpPr>
        <p:spPr>
          <a:xfrm>
            <a:off x="670727" y="4265174"/>
            <a:ext cx="7802546" cy="307777"/>
          </a:xfrm>
          <a:prstGeom prst="rect">
            <a:avLst/>
          </a:prstGeom>
          <a:noFill/>
        </p:spPr>
        <p:txBody>
          <a:bodyPr wrap="square">
            <a:spAutoFit/>
          </a:bodyPr>
          <a:lstStyle/>
          <a:p>
            <a:r>
              <a:rPr lang="en-US" sz="1400" i="1" dirty="0">
                <a:solidFill>
                  <a:srgbClr val="141413"/>
                </a:solidFill>
                <a:effectLst/>
                <a:latin typeface="Helvetica" pitchFamily="2" charset="0"/>
              </a:rPr>
              <a:t>“Feel free to update the answer yourself, if you like. I honestly would, but I don’t have the time.”</a:t>
            </a:r>
          </a:p>
        </p:txBody>
      </p:sp>
      <p:grpSp>
        <p:nvGrpSpPr>
          <p:cNvPr id="30" name="Group 29">
            <a:extLst>
              <a:ext uri="{FF2B5EF4-FFF2-40B4-BE49-F238E27FC236}">
                <a16:creationId xmlns:a16="http://schemas.microsoft.com/office/drawing/2014/main" id="{BC96B61D-4E64-AD04-3CA3-9B86A9E30CCA}"/>
              </a:ext>
            </a:extLst>
          </p:cNvPr>
          <p:cNvGrpSpPr/>
          <p:nvPr/>
        </p:nvGrpSpPr>
        <p:grpSpPr>
          <a:xfrm>
            <a:off x="1178248" y="1552887"/>
            <a:ext cx="2275446" cy="896563"/>
            <a:chOff x="1997362" y="1646512"/>
            <a:chExt cx="2275446" cy="896563"/>
          </a:xfrm>
        </p:grpSpPr>
        <p:sp>
          <p:nvSpPr>
            <p:cNvPr id="7" name="Rounded Rectangle 6">
              <a:extLst>
                <a:ext uri="{FF2B5EF4-FFF2-40B4-BE49-F238E27FC236}">
                  <a16:creationId xmlns:a16="http://schemas.microsoft.com/office/drawing/2014/main" id="{05AD3ED7-7599-D109-C2C6-03F6300FB475}"/>
                </a:ext>
              </a:extLst>
            </p:cNvPr>
            <p:cNvSpPr/>
            <p:nvPr/>
          </p:nvSpPr>
          <p:spPr>
            <a:xfrm>
              <a:off x="2195564" y="1726591"/>
              <a:ext cx="1879042" cy="743578"/>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pic>
          <p:nvPicPr>
            <p:cNvPr id="2050" name="Picture 2">
              <a:extLst>
                <a:ext uri="{FF2B5EF4-FFF2-40B4-BE49-F238E27FC236}">
                  <a16:creationId xmlns:a16="http://schemas.microsoft.com/office/drawing/2014/main" id="{27D65111-DD82-3063-A1D8-3B523E9282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7362" y="1646512"/>
              <a:ext cx="896563" cy="896563"/>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02D34717-61FE-6003-368E-D9AD2A1B2220}"/>
                </a:ext>
              </a:extLst>
            </p:cNvPr>
            <p:cNvSpPr txBox="1"/>
            <p:nvPr/>
          </p:nvSpPr>
          <p:spPr>
            <a:xfrm>
              <a:off x="2393766" y="2002713"/>
              <a:ext cx="1879042" cy="317395"/>
            </a:xfrm>
            <a:prstGeom prst="rect">
              <a:avLst/>
            </a:prstGeom>
            <a:noFill/>
          </p:spPr>
          <p:txBody>
            <a:bodyPr wrap="square">
              <a:spAutoFit/>
            </a:bodyPr>
            <a:lstStyle/>
            <a:p>
              <a:pPr algn="ctr">
                <a:lnSpc>
                  <a:spcPct val="114000"/>
                </a:lnSpc>
              </a:pPr>
              <a:r>
                <a:rPr lang="en-US" sz="1400" dirty="0"/>
                <a:t>Stack Overflow</a:t>
              </a:r>
            </a:p>
          </p:txBody>
        </p:sp>
      </p:grpSp>
      <p:grpSp>
        <p:nvGrpSpPr>
          <p:cNvPr id="31" name="Group 30">
            <a:extLst>
              <a:ext uri="{FF2B5EF4-FFF2-40B4-BE49-F238E27FC236}">
                <a16:creationId xmlns:a16="http://schemas.microsoft.com/office/drawing/2014/main" id="{A913C7BF-26F1-E863-1BC1-1359E4BCFBCF}"/>
              </a:ext>
            </a:extLst>
          </p:cNvPr>
          <p:cNvGrpSpPr/>
          <p:nvPr/>
        </p:nvGrpSpPr>
        <p:grpSpPr>
          <a:xfrm>
            <a:off x="5378807" y="1638393"/>
            <a:ext cx="1879042" cy="743578"/>
            <a:chOff x="4729424" y="1726591"/>
            <a:chExt cx="1879042" cy="743578"/>
          </a:xfrm>
        </p:grpSpPr>
        <p:sp>
          <p:nvSpPr>
            <p:cNvPr id="11" name="Rounded Rectangle 10">
              <a:extLst>
                <a:ext uri="{FF2B5EF4-FFF2-40B4-BE49-F238E27FC236}">
                  <a16:creationId xmlns:a16="http://schemas.microsoft.com/office/drawing/2014/main" id="{A3732B81-0567-96B8-FDBE-BEF9B15DAA5F}"/>
                </a:ext>
              </a:extLst>
            </p:cNvPr>
            <p:cNvSpPr/>
            <p:nvPr/>
          </p:nvSpPr>
          <p:spPr>
            <a:xfrm>
              <a:off x="4729424" y="1726591"/>
              <a:ext cx="1879042" cy="743578"/>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13" name="Rounded Rectangular Callout 12">
              <a:extLst>
                <a:ext uri="{FF2B5EF4-FFF2-40B4-BE49-F238E27FC236}">
                  <a16:creationId xmlns:a16="http://schemas.microsoft.com/office/drawing/2014/main" id="{B7EB0688-CA25-D295-C385-2439DC195F36}"/>
                </a:ext>
              </a:extLst>
            </p:cNvPr>
            <p:cNvSpPr/>
            <p:nvPr/>
          </p:nvSpPr>
          <p:spPr>
            <a:xfrm>
              <a:off x="4853354" y="1918967"/>
              <a:ext cx="482321" cy="317395"/>
            </a:xfrm>
            <a:prstGeom prst="wedgeRoundRectCallout">
              <a:avLst/>
            </a:prstGeom>
            <a:solidFill>
              <a:srgbClr val="F5802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17" name="TextBox 16">
              <a:extLst>
                <a:ext uri="{FF2B5EF4-FFF2-40B4-BE49-F238E27FC236}">
                  <a16:creationId xmlns:a16="http://schemas.microsoft.com/office/drawing/2014/main" id="{D1B51143-B89A-468C-7BAE-04590273E103}"/>
                </a:ext>
              </a:extLst>
            </p:cNvPr>
            <p:cNvSpPr txBox="1"/>
            <p:nvPr/>
          </p:nvSpPr>
          <p:spPr>
            <a:xfrm>
              <a:off x="5392204" y="1966168"/>
              <a:ext cx="992259" cy="257250"/>
            </a:xfrm>
            <a:prstGeom prst="rect">
              <a:avLst/>
            </a:prstGeom>
            <a:noFill/>
          </p:spPr>
          <p:txBody>
            <a:bodyPr wrap="none" lIns="0" tIns="0" rIns="0" bIns="0" rtlCol="0">
              <a:spAutoFit/>
            </a:bodyPr>
            <a:lstStyle/>
            <a:p>
              <a:pPr>
                <a:lnSpc>
                  <a:spcPct val="114000"/>
                </a:lnSpc>
              </a:pPr>
              <a:r>
                <a:rPr lang="en-US" sz="1600" dirty="0">
                  <a:latin typeface="+mn-lt"/>
                </a:rPr>
                <a:t>Comments</a:t>
              </a:r>
            </a:p>
          </p:txBody>
        </p:sp>
      </p:grpSp>
      <p:sp>
        <p:nvSpPr>
          <p:cNvPr id="18" name="Right Arrow 17">
            <a:extLst>
              <a:ext uri="{FF2B5EF4-FFF2-40B4-BE49-F238E27FC236}">
                <a16:creationId xmlns:a16="http://schemas.microsoft.com/office/drawing/2014/main" id="{804B6579-772F-2997-84F5-12D935F9B4FD}"/>
              </a:ext>
            </a:extLst>
          </p:cNvPr>
          <p:cNvSpPr/>
          <p:nvPr/>
        </p:nvSpPr>
        <p:spPr>
          <a:xfrm>
            <a:off x="3379423" y="2002713"/>
            <a:ext cx="1879042" cy="223770"/>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29" name="Curved Down Arrow 28">
            <a:extLst>
              <a:ext uri="{FF2B5EF4-FFF2-40B4-BE49-F238E27FC236}">
                <a16:creationId xmlns:a16="http://schemas.microsoft.com/office/drawing/2014/main" id="{6B28046D-0C4B-7092-DC02-C5718E0DB3BD}"/>
              </a:ext>
            </a:extLst>
          </p:cNvPr>
          <p:cNvSpPr/>
          <p:nvPr/>
        </p:nvSpPr>
        <p:spPr>
          <a:xfrm rot="10800000">
            <a:off x="3131563" y="2456623"/>
            <a:ext cx="2247244" cy="486349"/>
          </a:xfrm>
          <a:prstGeom prst="curved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solidFill>
                <a:schemeClr val="tx1"/>
              </a:solidFill>
            </a:endParaRPr>
          </a:p>
        </p:txBody>
      </p:sp>
      <p:sp>
        <p:nvSpPr>
          <p:cNvPr id="32" name="TextBox 31">
            <a:extLst>
              <a:ext uri="{FF2B5EF4-FFF2-40B4-BE49-F238E27FC236}">
                <a16:creationId xmlns:a16="http://schemas.microsoft.com/office/drawing/2014/main" id="{2FBB4982-D2BF-EAF2-BD47-A1454CCA9343}"/>
              </a:ext>
            </a:extLst>
          </p:cNvPr>
          <p:cNvSpPr txBox="1"/>
          <p:nvPr/>
        </p:nvSpPr>
        <p:spPr>
          <a:xfrm>
            <a:off x="3745595" y="1759018"/>
            <a:ext cx="1248436" cy="256464"/>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lIns="0" tIns="0" rIns="0" bIns="0" rtlCol="0">
            <a:spAutoFit/>
          </a:bodyPr>
          <a:lstStyle/>
          <a:p>
            <a:pPr algn="ctr">
              <a:lnSpc>
                <a:spcPct val="114000"/>
              </a:lnSpc>
            </a:pPr>
            <a:r>
              <a:rPr lang="en-US" sz="1600" dirty="0">
                <a:latin typeface="+mn-lt"/>
              </a:rPr>
              <a:t>Errors found</a:t>
            </a:r>
          </a:p>
        </p:txBody>
      </p:sp>
      <p:sp>
        <p:nvSpPr>
          <p:cNvPr id="34" name="TextBox 33">
            <a:extLst>
              <a:ext uri="{FF2B5EF4-FFF2-40B4-BE49-F238E27FC236}">
                <a16:creationId xmlns:a16="http://schemas.microsoft.com/office/drawing/2014/main" id="{47991B58-64C6-4882-421F-7536E7B2C81C}"/>
              </a:ext>
            </a:extLst>
          </p:cNvPr>
          <p:cNvSpPr txBox="1"/>
          <p:nvPr/>
        </p:nvSpPr>
        <p:spPr>
          <a:xfrm>
            <a:off x="3886677" y="3017625"/>
            <a:ext cx="914871" cy="264423"/>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lIns="0" tIns="0" rIns="0" bIns="0" rtlCol="0">
            <a:spAutoFit/>
          </a:bodyPr>
          <a:lstStyle/>
          <a:p>
            <a:pPr algn="ctr">
              <a:lnSpc>
                <a:spcPct val="114000"/>
              </a:lnSpc>
            </a:pPr>
            <a:r>
              <a:rPr lang="en-US" sz="1600" dirty="0">
                <a:latin typeface="+mn-lt"/>
              </a:rPr>
              <a:t>Update</a:t>
            </a:r>
          </a:p>
        </p:txBody>
      </p:sp>
      <p:sp>
        <p:nvSpPr>
          <p:cNvPr id="35" name="Multiply 34">
            <a:extLst>
              <a:ext uri="{FF2B5EF4-FFF2-40B4-BE49-F238E27FC236}">
                <a16:creationId xmlns:a16="http://schemas.microsoft.com/office/drawing/2014/main" id="{4C038257-8B91-EB27-F068-B428E7275786}"/>
              </a:ext>
            </a:extLst>
          </p:cNvPr>
          <p:cNvSpPr/>
          <p:nvPr/>
        </p:nvSpPr>
        <p:spPr>
          <a:xfrm>
            <a:off x="3998684" y="2444519"/>
            <a:ext cx="559483" cy="1016218"/>
          </a:xfrm>
          <a:prstGeom prst="mathMultiply">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38" name="Oval 37">
            <a:extLst>
              <a:ext uri="{FF2B5EF4-FFF2-40B4-BE49-F238E27FC236}">
                <a16:creationId xmlns:a16="http://schemas.microsoft.com/office/drawing/2014/main" id="{2943AC4F-BD8F-5C02-1DD3-DF5CFB4EFEEC}"/>
              </a:ext>
            </a:extLst>
          </p:cNvPr>
          <p:cNvSpPr/>
          <p:nvPr/>
        </p:nvSpPr>
        <p:spPr>
          <a:xfrm>
            <a:off x="1666163" y="503434"/>
            <a:ext cx="130294" cy="130294"/>
          </a:xfrm>
          <a:prstGeom prst="ellipse">
            <a:avLst/>
          </a:prstGeom>
          <a:solidFill>
            <a:srgbClr val="0063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39" name="Oval 38">
            <a:extLst>
              <a:ext uri="{FF2B5EF4-FFF2-40B4-BE49-F238E27FC236}">
                <a16:creationId xmlns:a16="http://schemas.microsoft.com/office/drawing/2014/main" id="{B899AC79-F991-AE6F-797C-E7199A7FD2A5}"/>
              </a:ext>
            </a:extLst>
          </p:cNvPr>
          <p:cNvSpPr/>
          <p:nvPr/>
        </p:nvSpPr>
        <p:spPr>
          <a:xfrm>
            <a:off x="1919124" y="503434"/>
            <a:ext cx="130294" cy="130294"/>
          </a:xfrm>
          <a:prstGeom prst="ellipse">
            <a:avLst/>
          </a:prstGeom>
          <a:noFill/>
          <a:ln w="12700">
            <a:solidFill>
              <a:srgbClr val="0063BD"/>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cxnSp>
        <p:nvCxnSpPr>
          <p:cNvPr id="40" name="Straight Connector 39">
            <a:extLst>
              <a:ext uri="{FF2B5EF4-FFF2-40B4-BE49-F238E27FC236}">
                <a16:creationId xmlns:a16="http://schemas.microsoft.com/office/drawing/2014/main" id="{AF34C1B9-39C0-8AB5-746F-562001BE5B5F}"/>
              </a:ext>
            </a:extLst>
          </p:cNvPr>
          <p:cNvCxnSpPr>
            <a:cxnSpLocks/>
          </p:cNvCxnSpPr>
          <p:nvPr/>
        </p:nvCxnSpPr>
        <p:spPr>
          <a:xfrm>
            <a:off x="0" y="0"/>
            <a:ext cx="1577591"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0C124B44-20F9-30F8-37F4-5F1F48FA02EF}"/>
              </a:ext>
            </a:extLst>
          </p:cNvPr>
          <p:cNvCxnSpPr>
            <a:cxnSpLocks/>
          </p:cNvCxnSpPr>
          <p:nvPr/>
        </p:nvCxnSpPr>
        <p:spPr>
          <a:xfrm>
            <a:off x="1513583" y="0"/>
            <a:ext cx="1577591"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47" name="Date Placeholder 3">
            <a:extLst>
              <a:ext uri="{FF2B5EF4-FFF2-40B4-BE49-F238E27FC236}">
                <a16:creationId xmlns:a16="http://schemas.microsoft.com/office/drawing/2014/main" id="{6FCDD8F8-F3FB-5811-966A-E3F54E05F289}"/>
              </a:ext>
            </a:extLst>
          </p:cNvPr>
          <p:cNvSpPr txBox="1">
            <a:spLocks/>
          </p:cNvSpPr>
          <p:nvPr/>
        </p:nvSpPr>
        <p:spPr>
          <a:xfrm>
            <a:off x="25673" y="4922595"/>
            <a:ext cx="811609" cy="22090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gn="l" rtl="0" eaLnBrk="1" fontAlgn="base" hangingPunct="1">
              <a:lnSpc>
                <a:spcPct val="150000"/>
              </a:lnSpc>
              <a:spcBef>
                <a:spcPct val="0"/>
              </a:spcBef>
              <a:spcAft>
                <a:spcPct val="0"/>
              </a:spcAft>
              <a:defRPr lang="de-DE" sz="1400" kern="1200" baseline="0" noProof="0" dirty="0" smtClean="0">
                <a:solidFill>
                  <a:schemeClr val="tx1"/>
                </a:solidFill>
                <a:latin typeface="+mn-lt"/>
                <a:ea typeface="+mn-ea"/>
                <a:cs typeface="+mn-cs"/>
              </a:defRPr>
            </a:lvl1pPr>
            <a:lvl2pPr marL="176213" indent="-176213" algn="l" rtl="0" eaLnBrk="1" fontAlgn="base" hangingPunct="1">
              <a:lnSpc>
                <a:spcPct val="100000"/>
              </a:lnSpc>
              <a:spcBef>
                <a:spcPct val="0"/>
              </a:spcBef>
              <a:spcAft>
                <a:spcPct val="0"/>
              </a:spcAft>
              <a:buFont typeface="Arial" charset="0"/>
              <a:buChar char="•"/>
              <a:defRPr lang="de-DE" sz="1600" kern="1200" noProof="0" dirty="0" smtClean="0">
                <a:solidFill>
                  <a:schemeClr val="tx1"/>
                </a:solidFill>
                <a:latin typeface="+mn-lt"/>
                <a:ea typeface="+mn-ea"/>
                <a:cs typeface="+mn-cs"/>
              </a:defRPr>
            </a:lvl2pPr>
            <a:lvl3pPr marL="360363" indent="-184150"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fld id="{E6E0805E-65D9-544D-8805-556D80FFC742}" type="datetime1">
              <a:rPr lang="en-US" sz="1000" smtClean="0">
                <a:solidFill>
                  <a:schemeClr val="bg1">
                    <a:lumMod val="85000"/>
                  </a:schemeClr>
                </a:solidFill>
              </a:rPr>
              <a:pPr/>
              <a:t>12/7/25</a:t>
            </a:fld>
            <a:endParaRPr lang="en-US" sz="1000" dirty="0">
              <a:solidFill>
                <a:schemeClr val="bg1">
                  <a:lumMod val="85000"/>
                </a:schemeClr>
              </a:solidFill>
            </a:endParaRPr>
          </a:p>
        </p:txBody>
      </p:sp>
      <p:sp>
        <p:nvSpPr>
          <p:cNvPr id="2" name="Footer Placeholder 4">
            <a:extLst>
              <a:ext uri="{FF2B5EF4-FFF2-40B4-BE49-F238E27FC236}">
                <a16:creationId xmlns:a16="http://schemas.microsoft.com/office/drawing/2014/main" id="{2B7CCB77-1A3B-AE79-965C-913DFB3D3D6B}"/>
              </a:ext>
            </a:extLst>
          </p:cNvPr>
          <p:cNvSpPr txBox="1">
            <a:spLocks/>
          </p:cNvSpPr>
          <p:nvPr/>
        </p:nvSpPr>
        <p:spPr>
          <a:xfrm>
            <a:off x="2394860" y="4787044"/>
            <a:ext cx="4482901" cy="360210"/>
          </a:xfrm>
          <a:prstGeom prst="rect">
            <a:avLst/>
          </a:prstGeom>
        </p:spPr>
        <p:txBody>
          <a:bodyPr/>
          <a:ls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lgn="ctr"/>
            <a:br>
              <a:rPr lang="en-US" sz="1000" dirty="0">
                <a:solidFill>
                  <a:schemeClr val="bg1">
                    <a:lumMod val="85000"/>
                  </a:schemeClr>
                </a:solidFill>
              </a:rPr>
            </a:br>
            <a:r>
              <a:rPr lang="en-US" sz="1000" dirty="0">
                <a:solidFill>
                  <a:schemeClr val="bg1">
                    <a:lumMod val="85000"/>
                  </a:schemeClr>
                </a:solidFill>
              </a:rPr>
              <a:t>Algorithmic Decision Making: Metaheuristics and Decomposition in Practice</a:t>
            </a:r>
          </a:p>
        </p:txBody>
      </p:sp>
    </p:spTree>
    <p:extLst>
      <p:ext uri="{BB962C8B-B14F-4D97-AF65-F5344CB8AC3E}">
        <p14:creationId xmlns:p14="http://schemas.microsoft.com/office/powerpoint/2010/main" val="972726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6" grpId="0"/>
      <p:bldP spid="18" grpId="0" animBg="1"/>
      <p:bldP spid="29" grpId="0" animBg="1"/>
      <p:bldP spid="32" grpId="0" animBg="1"/>
      <p:bldP spid="34" grpId="0" animBg="1"/>
      <p:bldP spid="3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4635F8-E5B0-2672-9798-4C2160820F19}"/>
            </a:ext>
          </a:extLst>
        </p:cNvPr>
        <p:cNvGrpSpPr/>
        <p:nvPr/>
      </p:nvGrpSpPr>
      <p:grpSpPr>
        <a:xfrm>
          <a:off x="0" y="0"/>
          <a:ext cx="0" cy="0"/>
          <a:chOff x="0" y="0"/>
          <a:chExt cx="0" cy="0"/>
        </a:xfrm>
      </p:grpSpPr>
      <p:sp>
        <p:nvSpPr>
          <p:cNvPr id="21" name="Rectangle 20">
            <a:extLst>
              <a:ext uri="{FF2B5EF4-FFF2-40B4-BE49-F238E27FC236}">
                <a16:creationId xmlns:a16="http://schemas.microsoft.com/office/drawing/2014/main" id="{063A0C80-3E5E-FA73-07A1-35CB2A0239D0}"/>
              </a:ext>
            </a:extLst>
          </p:cNvPr>
          <p:cNvSpPr/>
          <p:nvPr/>
        </p:nvSpPr>
        <p:spPr>
          <a:xfrm>
            <a:off x="0" y="4023299"/>
            <a:ext cx="9144000" cy="4199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4" name="Foliennummernplatzhalter 3">
            <a:extLst>
              <a:ext uri="{FF2B5EF4-FFF2-40B4-BE49-F238E27FC236}">
                <a16:creationId xmlns:a16="http://schemas.microsoft.com/office/drawing/2014/main" id="{E9B0CD2D-ED34-1A40-821D-19E725ED92C8}"/>
              </a:ext>
            </a:extLst>
          </p:cNvPr>
          <p:cNvSpPr>
            <a:spLocks noGrp="1"/>
          </p:cNvSpPr>
          <p:nvPr>
            <p:ph type="sldNum" sz="quarter" idx="11"/>
          </p:nvPr>
        </p:nvSpPr>
        <p:spPr/>
        <p:txBody>
          <a:bodyPr/>
          <a:lstStyle/>
          <a:p>
            <a:fld id="{CE58CB1E-F828-4F11-99E0-327109AF9DA4}" type="slidenum">
              <a:rPr lang="de-DE" smtClean="0"/>
              <a:pPr/>
              <a:t>5</a:t>
            </a:fld>
            <a:endParaRPr lang="de-DE" dirty="0"/>
          </a:p>
        </p:txBody>
      </p:sp>
      <p:sp>
        <p:nvSpPr>
          <p:cNvPr id="6" name="Content Placeholder 5">
            <a:extLst>
              <a:ext uri="{FF2B5EF4-FFF2-40B4-BE49-F238E27FC236}">
                <a16:creationId xmlns:a16="http://schemas.microsoft.com/office/drawing/2014/main" id="{F01CCE02-37E3-0D92-271A-66507EB66BB3}"/>
              </a:ext>
            </a:extLst>
          </p:cNvPr>
          <p:cNvSpPr>
            <a:spLocks noGrp="1"/>
          </p:cNvSpPr>
          <p:nvPr>
            <p:ph idx="1"/>
          </p:nvPr>
        </p:nvSpPr>
        <p:spPr>
          <a:xfrm>
            <a:off x="998582" y="1189201"/>
            <a:ext cx="5177358" cy="2004648"/>
          </a:xfrm>
        </p:spPr>
        <p:txBody>
          <a:bodyPr/>
          <a:lstStyle/>
          <a:p>
            <a:pPr>
              <a:lnSpc>
                <a:spcPct val="114000"/>
              </a:lnSpc>
            </a:pPr>
            <a:r>
              <a:rPr lang="en-US" sz="1800" dirty="0">
                <a:latin typeface="Arial" panose="020B0604020202020204" pitchFamily="34" charset="0"/>
                <a:cs typeface="Arial" panose="020B0604020202020204" pitchFamily="34" charset="0"/>
              </a:rPr>
              <a:t>To help update these posts we need to recognize:</a:t>
            </a:r>
          </a:p>
          <a:p>
            <a:pPr>
              <a:lnSpc>
                <a:spcPct val="114000"/>
              </a:lnSpc>
            </a:pPr>
            <a:endParaRPr lang="en-US" sz="1600"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DBE3CE3B-1D5C-E628-FAC5-457745605FE0}"/>
              </a:ext>
            </a:extLst>
          </p:cNvPr>
          <p:cNvSpPr txBox="1"/>
          <p:nvPr/>
        </p:nvSpPr>
        <p:spPr>
          <a:xfrm>
            <a:off x="4849779" y="2014257"/>
            <a:ext cx="3486558" cy="608115"/>
          </a:xfrm>
          <a:prstGeom prst="rect">
            <a:avLst/>
          </a:prstGeom>
          <a:noFill/>
        </p:spPr>
        <p:txBody>
          <a:bodyPr wrap="square" lIns="0" tIns="0" rIns="0" bIns="0" rtlCol="0">
            <a:spAutoFit/>
          </a:bodyPr>
          <a:lstStyle/>
          <a:p>
            <a:pPr>
              <a:lnSpc>
                <a:spcPct val="114000"/>
              </a:lnSpc>
            </a:pPr>
            <a:r>
              <a:rPr lang="en-US" sz="1600" dirty="0">
                <a:latin typeface="+mn-lt"/>
              </a:rPr>
              <a:t>But it’s very </a:t>
            </a:r>
            <a:r>
              <a:rPr lang="en-US" sz="2000" b="1" dirty="0">
                <a:solidFill>
                  <a:srgbClr val="FF0000"/>
                </a:solidFill>
                <a:latin typeface="+mn-lt"/>
              </a:rPr>
              <a:t>time</a:t>
            </a:r>
            <a:r>
              <a:rPr lang="en-US" sz="1600" dirty="0">
                <a:latin typeface="+mn-lt"/>
              </a:rPr>
              <a:t> and </a:t>
            </a:r>
            <a:r>
              <a:rPr lang="en-US" sz="2000" b="1" dirty="0">
                <a:solidFill>
                  <a:srgbClr val="FF0000"/>
                </a:solidFill>
                <a:latin typeface="+mn-lt"/>
              </a:rPr>
              <a:t>labor</a:t>
            </a:r>
            <a:r>
              <a:rPr lang="en-US" sz="1600" dirty="0">
                <a:latin typeface="+mn-lt"/>
              </a:rPr>
              <a:t> consuming to do this manually !!</a:t>
            </a:r>
          </a:p>
        </p:txBody>
      </p:sp>
      <p:sp>
        <p:nvSpPr>
          <p:cNvPr id="9" name="Rectangle 8">
            <a:extLst>
              <a:ext uri="{FF2B5EF4-FFF2-40B4-BE49-F238E27FC236}">
                <a16:creationId xmlns:a16="http://schemas.microsoft.com/office/drawing/2014/main" id="{0FE9B528-552F-CA9F-3FEA-8CF29BF66148}"/>
              </a:ext>
            </a:extLst>
          </p:cNvPr>
          <p:cNvSpPr/>
          <p:nvPr/>
        </p:nvSpPr>
        <p:spPr>
          <a:xfrm>
            <a:off x="0" y="252983"/>
            <a:ext cx="1577591" cy="380745"/>
          </a:xfrm>
          <a:prstGeom prst="rect">
            <a:avLst/>
          </a:prstGeom>
          <a:solidFill>
            <a:srgbClr val="0064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nSpc>
                <a:spcPct val="114000"/>
              </a:lnSpc>
            </a:pPr>
            <a:r>
              <a:rPr lang="en-US" dirty="0"/>
              <a:t>Motivation</a:t>
            </a:r>
          </a:p>
        </p:txBody>
      </p:sp>
      <p:sp>
        <p:nvSpPr>
          <p:cNvPr id="14" name="TextBox 13">
            <a:extLst>
              <a:ext uri="{FF2B5EF4-FFF2-40B4-BE49-F238E27FC236}">
                <a16:creationId xmlns:a16="http://schemas.microsoft.com/office/drawing/2014/main" id="{7A942038-C984-1DEE-1343-8021D2E87C63}"/>
              </a:ext>
            </a:extLst>
          </p:cNvPr>
          <p:cNvSpPr txBox="1"/>
          <p:nvPr/>
        </p:nvSpPr>
        <p:spPr>
          <a:xfrm>
            <a:off x="445923" y="3603324"/>
            <a:ext cx="8381085" cy="800219"/>
          </a:xfrm>
          <a:prstGeom prst="rect">
            <a:avLst/>
          </a:prstGeom>
          <a:noFill/>
        </p:spPr>
        <p:txBody>
          <a:bodyPr wrap="square">
            <a:spAutoFit/>
          </a:bodyPr>
          <a:lstStyle/>
          <a:p>
            <a:r>
              <a:rPr lang="en-US" sz="1600" dirty="0">
                <a:solidFill>
                  <a:srgbClr val="141413"/>
                </a:solidFill>
                <a:effectLst/>
                <a:latin typeface="Helvetica" pitchFamily="2" charset="0"/>
              </a:rPr>
              <a:t>Solution:</a:t>
            </a:r>
          </a:p>
          <a:p>
            <a:endParaRPr lang="en-US" sz="1600" dirty="0">
              <a:solidFill>
                <a:srgbClr val="141413"/>
              </a:solidFill>
              <a:effectLst/>
              <a:latin typeface="Helvetica" pitchFamily="2" charset="0"/>
            </a:endParaRPr>
          </a:p>
          <a:p>
            <a:r>
              <a:rPr lang="en-US" sz="1400" dirty="0">
                <a:solidFill>
                  <a:schemeClr val="bg1"/>
                </a:solidFill>
                <a:effectLst/>
                <a:latin typeface="Helvetica" pitchFamily="2" charset="0"/>
              </a:rPr>
              <a:t>Automatically </a:t>
            </a:r>
            <a:r>
              <a:rPr lang="en-US" sz="1400" dirty="0">
                <a:solidFill>
                  <a:schemeClr val="bg1"/>
                </a:solidFill>
                <a:latin typeface="Helvetica" pitchFamily="2" charset="0"/>
              </a:rPr>
              <a:t>recognize and </a:t>
            </a:r>
            <a:r>
              <a:rPr lang="en-US" sz="1400" dirty="0">
                <a:solidFill>
                  <a:schemeClr val="bg1"/>
                </a:solidFill>
                <a:effectLst/>
                <a:latin typeface="Helvetica" pitchFamily="2" charset="0"/>
              </a:rPr>
              <a:t>update code snippets based on their associated comments with LLMs.</a:t>
            </a:r>
          </a:p>
        </p:txBody>
      </p:sp>
      <p:sp>
        <p:nvSpPr>
          <p:cNvPr id="17" name="Rounded Rectangle 16">
            <a:extLst>
              <a:ext uri="{FF2B5EF4-FFF2-40B4-BE49-F238E27FC236}">
                <a16:creationId xmlns:a16="http://schemas.microsoft.com/office/drawing/2014/main" id="{A4CACBC2-AEF1-C0B8-6A17-C6DC2C10692E}"/>
              </a:ext>
            </a:extLst>
          </p:cNvPr>
          <p:cNvSpPr/>
          <p:nvPr/>
        </p:nvSpPr>
        <p:spPr>
          <a:xfrm>
            <a:off x="1583262" y="1762797"/>
            <a:ext cx="2276801" cy="447865"/>
          </a:xfrm>
          <a:prstGeom prst="roundRect">
            <a:avLst/>
          </a:prstGeom>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nSpc>
                <a:spcPct val="114000"/>
              </a:lnSpc>
            </a:pPr>
            <a:r>
              <a:rPr lang="en-US" sz="1600" dirty="0"/>
              <a:t>1. Suboptimal Code</a:t>
            </a:r>
          </a:p>
        </p:txBody>
      </p:sp>
      <p:sp>
        <p:nvSpPr>
          <p:cNvPr id="18" name="Rounded Rectangle 17">
            <a:extLst>
              <a:ext uri="{FF2B5EF4-FFF2-40B4-BE49-F238E27FC236}">
                <a16:creationId xmlns:a16="http://schemas.microsoft.com/office/drawing/2014/main" id="{D8CBFDA4-E6A8-080B-2158-B951964C3186}"/>
              </a:ext>
            </a:extLst>
          </p:cNvPr>
          <p:cNvSpPr/>
          <p:nvPr/>
        </p:nvSpPr>
        <p:spPr>
          <a:xfrm>
            <a:off x="1577591" y="2318315"/>
            <a:ext cx="2276801" cy="447865"/>
          </a:xfrm>
          <a:prstGeom prst="roundRect">
            <a:avLst/>
          </a:prstGeom>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nSpc>
                <a:spcPct val="114000"/>
              </a:lnSpc>
            </a:pPr>
            <a:r>
              <a:rPr lang="en-US" sz="1600" dirty="0"/>
              <a:t>2. Outdated Code</a:t>
            </a:r>
          </a:p>
        </p:txBody>
      </p:sp>
      <p:sp>
        <p:nvSpPr>
          <p:cNvPr id="19" name="Rounded Rectangle 18">
            <a:extLst>
              <a:ext uri="{FF2B5EF4-FFF2-40B4-BE49-F238E27FC236}">
                <a16:creationId xmlns:a16="http://schemas.microsoft.com/office/drawing/2014/main" id="{CCEC9532-EDB5-A568-9FF4-B193C1A91395}"/>
              </a:ext>
            </a:extLst>
          </p:cNvPr>
          <p:cNvSpPr/>
          <p:nvPr/>
        </p:nvSpPr>
        <p:spPr>
          <a:xfrm>
            <a:off x="1577591" y="2873449"/>
            <a:ext cx="2276801" cy="447865"/>
          </a:xfrm>
          <a:prstGeom prst="roundRect">
            <a:avLst/>
          </a:prstGeom>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nSpc>
                <a:spcPct val="114000"/>
              </a:lnSpc>
            </a:pPr>
            <a:r>
              <a:rPr lang="en-US" sz="1600" dirty="0"/>
              <a:t>3. Bugs</a:t>
            </a:r>
          </a:p>
        </p:txBody>
      </p:sp>
      <p:sp>
        <p:nvSpPr>
          <p:cNvPr id="22" name="Oval 21">
            <a:extLst>
              <a:ext uri="{FF2B5EF4-FFF2-40B4-BE49-F238E27FC236}">
                <a16:creationId xmlns:a16="http://schemas.microsoft.com/office/drawing/2014/main" id="{B35E816C-CC40-CF29-ACFC-E6EAF742F17C}"/>
              </a:ext>
            </a:extLst>
          </p:cNvPr>
          <p:cNvSpPr/>
          <p:nvPr/>
        </p:nvSpPr>
        <p:spPr>
          <a:xfrm>
            <a:off x="1666163" y="503434"/>
            <a:ext cx="130294" cy="130294"/>
          </a:xfrm>
          <a:prstGeom prst="ellipse">
            <a:avLst/>
          </a:prstGeom>
          <a:solidFill>
            <a:srgbClr val="0063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24" name="Oval 23">
            <a:extLst>
              <a:ext uri="{FF2B5EF4-FFF2-40B4-BE49-F238E27FC236}">
                <a16:creationId xmlns:a16="http://schemas.microsoft.com/office/drawing/2014/main" id="{CA90B90B-6479-FBDF-0100-3D87F2CD1E6B}"/>
              </a:ext>
            </a:extLst>
          </p:cNvPr>
          <p:cNvSpPr/>
          <p:nvPr/>
        </p:nvSpPr>
        <p:spPr>
          <a:xfrm>
            <a:off x="1903486" y="503434"/>
            <a:ext cx="130294" cy="130294"/>
          </a:xfrm>
          <a:prstGeom prst="ellipse">
            <a:avLst/>
          </a:prstGeom>
          <a:solidFill>
            <a:srgbClr val="0063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cxnSp>
        <p:nvCxnSpPr>
          <p:cNvPr id="25" name="Straight Connector 24">
            <a:extLst>
              <a:ext uri="{FF2B5EF4-FFF2-40B4-BE49-F238E27FC236}">
                <a16:creationId xmlns:a16="http://schemas.microsoft.com/office/drawing/2014/main" id="{BBCF174C-7194-EBD7-85FB-7DAE2D2B06FC}"/>
              </a:ext>
            </a:extLst>
          </p:cNvPr>
          <p:cNvCxnSpPr>
            <a:cxnSpLocks/>
          </p:cNvCxnSpPr>
          <p:nvPr/>
        </p:nvCxnSpPr>
        <p:spPr>
          <a:xfrm>
            <a:off x="0" y="0"/>
            <a:ext cx="1577591"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49EE6D8D-9AC1-5DDE-4679-A190AF181090}"/>
              </a:ext>
            </a:extLst>
          </p:cNvPr>
          <p:cNvCxnSpPr>
            <a:cxnSpLocks/>
          </p:cNvCxnSpPr>
          <p:nvPr/>
        </p:nvCxnSpPr>
        <p:spPr>
          <a:xfrm>
            <a:off x="1513583" y="0"/>
            <a:ext cx="1577591"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5" name="Date Placeholder 3">
            <a:extLst>
              <a:ext uri="{FF2B5EF4-FFF2-40B4-BE49-F238E27FC236}">
                <a16:creationId xmlns:a16="http://schemas.microsoft.com/office/drawing/2014/main" id="{2DB121A1-EAF8-C7AA-58A9-A24B9401EF6F}"/>
              </a:ext>
            </a:extLst>
          </p:cNvPr>
          <p:cNvSpPr txBox="1">
            <a:spLocks/>
          </p:cNvSpPr>
          <p:nvPr/>
        </p:nvSpPr>
        <p:spPr>
          <a:xfrm>
            <a:off x="25673" y="4922595"/>
            <a:ext cx="811609" cy="22090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gn="l" rtl="0" eaLnBrk="1" fontAlgn="base" hangingPunct="1">
              <a:lnSpc>
                <a:spcPct val="150000"/>
              </a:lnSpc>
              <a:spcBef>
                <a:spcPct val="0"/>
              </a:spcBef>
              <a:spcAft>
                <a:spcPct val="0"/>
              </a:spcAft>
              <a:defRPr lang="de-DE" sz="1400" kern="1200" baseline="0" noProof="0" dirty="0" smtClean="0">
                <a:solidFill>
                  <a:schemeClr val="tx1"/>
                </a:solidFill>
                <a:latin typeface="+mn-lt"/>
                <a:ea typeface="+mn-ea"/>
                <a:cs typeface="+mn-cs"/>
              </a:defRPr>
            </a:lvl1pPr>
            <a:lvl2pPr marL="176213" indent="-176213" algn="l" rtl="0" eaLnBrk="1" fontAlgn="base" hangingPunct="1">
              <a:lnSpc>
                <a:spcPct val="100000"/>
              </a:lnSpc>
              <a:spcBef>
                <a:spcPct val="0"/>
              </a:spcBef>
              <a:spcAft>
                <a:spcPct val="0"/>
              </a:spcAft>
              <a:buFont typeface="Arial" charset="0"/>
              <a:buChar char="•"/>
              <a:defRPr lang="de-DE" sz="1600" kern="1200" noProof="0" dirty="0" smtClean="0">
                <a:solidFill>
                  <a:schemeClr val="tx1"/>
                </a:solidFill>
                <a:latin typeface="+mn-lt"/>
                <a:ea typeface="+mn-ea"/>
                <a:cs typeface="+mn-cs"/>
              </a:defRPr>
            </a:lvl2pPr>
            <a:lvl3pPr marL="360363" indent="-184150"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fld id="{E6E0805E-65D9-544D-8805-556D80FFC742}" type="datetime1">
              <a:rPr lang="en-US" sz="1000" smtClean="0">
                <a:solidFill>
                  <a:schemeClr val="bg1">
                    <a:lumMod val="85000"/>
                  </a:schemeClr>
                </a:solidFill>
              </a:rPr>
              <a:pPr/>
              <a:t>12/7/25</a:t>
            </a:fld>
            <a:endParaRPr lang="en-US" sz="1000" dirty="0">
              <a:solidFill>
                <a:schemeClr val="bg1">
                  <a:lumMod val="85000"/>
                </a:schemeClr>
              </a:solidFill>
            </a:endParaRPr>
          </a:p>
        </p:txBody>
      </p:sp>
      <p:sp>
        <p:nvSpPr>
          <p:cNvPr id="2" name="Footer Placeholder 4">
            <a:extLst>
              <a:ext uri="{FF2B5EF4-FFF2-40B4-BE49-F238E27FC236}">
                <a16:creationId xmlns:a16="http://schemas.microsoft.com/office/drawing/2014/main" id="{9C126567-BD47-8D91-1233-BAB9D95E55F8}"/>
              </a:ext>
            </a:extLst>
          </p:cNvPr>
          <p:cNvSpPr txBox="1">
            <a:spLocks/>
          </p:cNvSpPr>
          <p:nvPr/>
        </p:nvSpPr>
        <p:spPr>
          <a:xfrm>
            <a:off x="2394860" y="4787044"/>
            <a:ext cx="4482901" cy="360210"/>
          </a:xfrm>
          <a:prstGeom prst="rect">
            <a:avLst/>
          </a:prstGeom>
        </p:spPr>
        <p:txBody>
          <a:bodyPr/>
          <a:ls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lgn="ctr"/>
            <a:br>
              <a:rPr lang="en-US" sz="1000" dirty="0">
                <a:solidFill>
                  <a:schemeClr val="bg1">
                    <a:lumMod val="85000"/>
                  </a:schemeClr>
                </a:solidFill>
              </a:rPr>
            </a:br>
            <a:r>
              <a:rPr lang="en-US" sz="1000" dirty="0">
                <a:solidFill>
                  <a:schemeClr val="bg1">
                    <a:lumMod val="85000"/>
                  </a:schemeClr>
                </a:solidFill>
              </a:rPr>
              <a:t>Algorithmic Decision Making: Metaheuristics and Decomposition in Practice</a:t>
            </a:r>
          </a:p>
        </p:txBody>
      </p:sp>
    </p:spTree>
    <p:extLst>
      <p:ext uri="{BB962C8B-B14F-4D97-AF65-F5344CB8AC3E}">
        <p14:creationId xmlns:p14="http://schemas.microsoft.com/office/powerpoint/2010/main" val="2733326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6" grpId="0" build="p"/>
      <p:bldP spid="5" grpId="0"/>
      <p:bldP spid="14" grpId="0"/>
      <p:bldP spid="17" grpId="0" animBg="1"/>
      <p:bldP spid="18" grpId="0" animBg="1"/>
      <p:bldP spid="1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E82464-34A6-766A-B847-39F505E93723}"/>
            </a:ext>
          </a:extLst>
        </p:cNvPr>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C9FE8C84-C56C-460C-9E0D-54D2C1521F5A}"/>
              </a:ext>
            </a:extLst>
          </p:cNvPr>
          <p:cNvSpPr>
            <a:spLocks noGrp="1"/>
          </p:cNvSpPr>
          <p:nvPr>
            <p:ph type="sldNum" sz="quarter" idx="11"/>
          </p:nvPr>
        </p:nvSpPr>
        <p:spPr/>
        <p:txBody>
          <a:bodyPr/>
          <a:lstStyle/>
          <a:p>
            <a:fld id="{CE58CB1E-F828-4F11-99E0-327109AF9DA4}" type="slidenum">
              <a:rPr lang="de-DE" smtClean="0"/>
              <a:pPr/>
              <a:t>6</a:t>
            </a:fld>
            <a:endParaRPr lang="de-DE" dirty="0"/>
          </a:p>
        </p:txBody>
      </p:sp>
      <p:sp>
        <p:nvSpPr>
          <p:cNvPr id="6" name="Content Placeholder 5">
            <a:extLst>
              <a:ext uri="{FF2B5EF4-FFF2-40B4-BE49-F238E27FC236}">
                <a16:creationId xmlns:a16="http://schemas.microsoft.com/office/drawing/2014/main" id="{0C24EAA5-C687-911A-A9E7-025E34711084}"/>
              </a:ext>
            </a:extLst>
          </p:cNvPr>
          <p:cNvSpPr>
            <a:spLocks noGrp="1"/>
          </p:cNvSpPr>
          <p:nvPr>
            <p:ph idx="1"/>
          </p:nvPr>
        </p:nvSpPr>
        <p:spPr>
          <a:xfrm>
            <a:off x="1010962" y="1151917"/>
            <a:ext cx="4333297" cy="954107"/>
          </a:xfrm>
        </p:spPr>
        <p:txBody>
          <a:bodyPr/>
          <a:lstStyle/>
          <a:p>
            <a:r>
              <a:rPr lang="en-US" sz="2000" b="1" dirty="0">
                <a:latin typeface="Arial" panose="020B0604020202020204" pitchFamily="34" charset="0"/>
                <a:cs typeface="Arial" panose="020B0604020202020204" pitchFamily="34" charset="0"/>
              </a:rPr>
              <a:t>Tang’s work</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42434ECB-54F6-3D3D-AA1C-F5BED6BCE45C}"/>
              </a:ext>
            </a:extLst>
          </p:cNvPr>
          <p:cNvSpPr txBox="1"/>
          <p:nvPr/>
        </p:nvSpPr>
        <p:spPr>
          <a:xfrm>
            <a:off x="946530" y="3579178"/>
            <a:ext cx="7250940" cy="1077218"/>
          </a:xfrm>
          <a:prstGeom prst="rect">
            <a:avLst/>
          </a:prstGeom>
          <a:noFill/>
        </p:spPr>
        <p:txBody>
          <a:bodyPr wrap="square">
            <a:spAutoFit/>
          </a:bodyPr>
          <a:lstStyle/>
          <a:p>
            <a:r>
              <a:rPr lang="en-US" sz="1600" dirty="0">
                <a:solidFill>
                  <a:srgbClr val="141413"/>
                </a:solidFill>
                <a:effectLst/>
                <a:latin typeface="Arial" panose="020B0604020202020204" pitchFamily="34" charset="0"/>
                <a:cs typeface="Arial" panose="020B0604020202020204" pitchFamily="34" charset="0"/>
              </a:rPr>
              <a:t>Limitations</a:t>
            </a:r>
            <a:r>
              <a:rPr lang="zh-CN" altLang="en-US" sz="1600" dirty="0">
                <a:solidFill>
                  <a:srgbClr val="141413"/>
                </a:solidFill>
                <a:effectLst/>
                <a:latin typeface="Arial" panose="020B0604020202020204" pitchFamily="34" charset="0"/>
                <a:cs typeface="Arial" panose="020B0604020202020204" pitchFamily="34" charset="0"/>
              </a:rPr>
              <a:t>：</a:t>
            </a:r>
            <a:endParaRPr lang="en-US" altLang="zh-CN" sz="1600" dirty="0">
              <a:solidFill>
                <a:srgbClr val="141413"/>
              </a:solidFill>
              <a:effectLst/>
              <a:latin typeface="Arial" panose="020B0604020202020204" pitchFamily="34" charset="0"/>
              <a:cs typeface="Arial" panose="020B0604020202020204" pitchFamily="34" charset="0"/>
            </a:endParaRPr>
          </a:p>
          <a:p>
            <a:r>
              <a:rPr lang="en-US" altLang="zh-CN" sz="1600" dirty="0">
                <a:solidFill>
                  <a:srgbClr val="141413"/>
                </a:solidFill>
                <a:latin typeface="Arial" panose="020B0604020202020204" pitchFamily="34" charset="0"/>
                <a:cs typeface="Arial" panose="020B0604020202020204" pitchFamily="34" charset="0"/>
              </a:rPr>
              <a:t>1.</a:t>
            </a:r>
            <a:r>
              <a:rPr lang="en-US" sz="1600" dirty="0">
                <a:solidFill>
                  <a:srgbClr val="141413"/>
                </a:solidFill>
                <a:effectLst/>
                <a:latin typeface="Arial" panose="020B0604020202020204" pitchFamily="34" charset="0"/>
                <a:cs typeface="Arial" panose="020B0604020202020204" pitchFamily="34" charset="0"/>
              </a:rPr>
              <a:t> Ignores the semantic relationship between code terms and edits</a:t>
            </a:r>
          </a:p>
          <a:p>
            <a:r>
              <a:rPr lang="en-US" altLang="zh-CN" sz="1600" dirty="0">
                <a:solidFill>
                  <a:srgbClr val="141413"/>
                </a:solidFill>
                <a:latin typeface="Arial" panose="020B0604020202020204" pitchFamily="34" charset="0"/>
                <a:cs typeface="Arial" panose="020B0604020202020204" pitchFamily="34" charset="0"/>
              </a:rPr>
              <a:t>2. Some editing might be similar with those in comments.</a:t>
            </a:r>
          </a:p>
          <a:p>
            <a:r>
              <a:rPr lang="en-US" sz="1600" dirty="0">
                <a:solidFill>
                  <a:srgbClr val="141413"/>
                </a:solidFill>
                <a:effectLst/>
                <a:latin typeface="Arial" panose="020B0604020202020204" pitchFamily="34" charset="0"/>
                <a:cs typeface="Arial" panose="020B0604020202020204" pitchFamily="34" charset="0"/>
              </a:rPr>
              <a:t>3. Some c</a:t>
            </a:r>
            <a:r>
              <a:rPr lang="en-US" sz="1600" dirty="0">
                <a:solidFill>
                  <a:srgbClr val="141413"/>
                </a:solidFill>
                <a:latin typeface="Arial" panose="020B0604020202020204" pitchFamily="34" charset="0"/>
                <a:cs typeface="Arial" panose="020B0604020202020204" pitchFamily="34" charset="0"/>
              </a:rPr>
              <a:t>omments lead an edit without any code terms</a:t>
            </a:r>
            <a:endParaRPr lang="en-US" sz="1600" dirty="0">
              <a:solidFill>
                <a:srgbClr val="141413"/>
              </a:solidFill>
              <a:effectLst/>
              <a:latin typeface="Arial" panose="020B0604020202020204" pitchFamily="34" charset="0"/>
              <a:cs typeface="Arial" panose="020B0604020202020204" pitchFamily="34" charset="0"/>
            </a:endParaRPr>
          </a:p>
        </p:txBody>
      </p:sp>
      <p:sp>
        <p:nvSpPr>
          <p:cNvPr id="13" name="Rectangle 12">
            <a:extLst>
              <a:ext uri="{FF2B5EF4-FFF2-40B4-BE49-F238E27FC236}">
                <a16:creationId xmlns:a16="http://schemas.microsoft.com/office/drawing/2014/main" id="{92DAF7AD-4155-73C7-2804-2C7113BAC336}"/>
              </a:ext>
            </a:extLst>
          </p:cNvPr>
          <p:cNvSpPr/>
          <p:nvPr/>
        </p:nvSpPr>
        <p:spPr>
          <a:xfrm>
            <a:off x="0" y="252983"/>
            <a:ext cx="1577591" cy="380745"/>
          </a:xfrm>
          <a:prstGeom prst="rect">
            <a:avLst/>
          </a:prstGeom>
          <a:solidFill>
            <a:srgbClr val="0064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nSpc>
                <a:spcPct val="114000"/>
              </a:lnSpc>
            </a:pPr>
            <a:r>
              <a:rPr lang="en-US" dirty="0"/>
              <a:t>Investigation</a:t>
            </a:r>
          </a:p>
        </p:txBody>
      </p:sp>
      <p:sp>
        <p:nvSpPr>
          <p:cNvPr id="15" name="TextBox 14">
            <a:extLst>
              <a:ext uri="{FF2B5EF4-FFF2-40B4-BE49-F238E27FC236}">
                <a16:creationId xmlns:a16="http://schemas.microsoft.com/office/drawing/2014/main" id="{156D0CE4-6D4D-FA7B-F60C-95B3D75C4576}"/>
              </a:ext>
            </a:extLst>
          </p:cNvPr>
          <p:cNvSpPr txBox="1"/>
          <p:nvPr/>
        </p:nvSpPr>
        <p:spPr>
          <a:xfrm>
            <a:off x="946530" y="1714039"/>
            <a:ext cx="4136382" cy="830997"/>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They used match pattern to build a dataset.</a:t>
            </a:r>
          </a:p>
          <a:p>
            <a:endParaRPr lang="en-US" sz="1600" dirty="0">
              <a:solidFill>
                <a:srgbClr val="141413"/>
              </a:solidFill>
              <a:latin typeface="Arial" panose="020B0604020202020204" pitchFamily="34" charset="0"/>
              <a:cs typeface="Arial" panose="020B0604020202020204" pitchFamily="34" charset="0"/>
            </a:endParaRPr>
          </a:p>
          <a:p>
            <a:endParaRPr lang="en-US" sz="1600" dirty="0">
              <a:latin typeface="Arial" panose="020B0604020202020204" pitchFamily="34" charset="0"/>
              <a:cs typeface="Arial" panose="020B0604020202020204" pitchFamily="34" charset="0"/>
            </a:endParaRPr>
          </a:p>
        </p:txBody>
      </p:sp>
      <p:grpSp>
        <p:nvGrpSpPr>
          <p:cNvPr id="24" name="Group 23">
            <a:extLst>
              <a:ext uri="{FF2B5EF4-FFF2-40B4-BE49-F238E27FC236}">
                <a16:creationId xmlns:a16="http://schemas.microsoft.com/office/drawing/2014/main" id="{E5C90351-C02A-7C0A-AF36-6C7BD2461AB1}"/>
              </a:ext>
            </a:extLst>
          </p:cNvPr>
          <p:cNvGrpSpPr/>
          <p:nvPr/>
        </p:nvGrpSpPr>
        <p:grpSpPr>
          <a:xfrm>
            <a:off x="5549839" y="1359631"/>
            <a:ext cx="2647631" cy="1866974"/>
            <a:chOff x="5541775" y="931839"/>
            <a:chExt cx="2647631" cy="1866974"/>
          </a:xfrm>
        </p:grpSpPr>
        <p:sp>
          <p:nvSpPr>
            <p:cNvPr id="23" name="Rounded Rectangle 22">
              <a:extLst>
                <a:ext uri="{FF2B5EF4-FFF2-40B4-BE49-F238E27FC236}">
                  <a16:creationId xmlns:a16="http://schemas.microsoft.com/office/drawing/2014/main" id="{0707B88E-A8D7-7EDA-5748-FFEAACF9898A}"/>
                </a:ext>
              </a:extLst>
            </p:cNvPr>
            <p:cNvSpPr/>
            <p:nvPr/>
          </p:nvSpPr>
          <p:spPr>
            <a:xfrm>
              <a:off x="5541775" y="931839"/>
              <a:ext cx="2647631" cy="1866974"/>
            </a:xfrm>
            <a:prstGeom prst="roundRect">
              <a:avLst/>
            </a:prstGeom>
            <a:solidFill>
              <a:schemeClr val="accent3">
                <a:lumMod val="60000"/>
                <a:lumOff val="40000"/>
              </a:schemeClr>
            </a:solidFill>
            <a:ln w="38100"/>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19" name="Rounded Rectangle 18">
              <a:extLst>
                <a:ext uri="{FF2B5EF4-FFF2-40B4-BE49-F238E27FC236}">
                  <a16:creationId xmlns:a16="http://schemas.microsoft.com/office/drawing/2014/main" id="{69C1B308-44C5-41B5-6295-AB212D2DE9B2}"/>
                </a:ext>
              </a:extLst>
            </p:cNvPr>
            <p:cNvSpPr/>
            <p:nvPr/>
          </p:nvSpPr>
          <p:spPr>
            <a:xfrm>
              <a:off x="5792551" y="1288898"/>
              <a:ext cx="2008420" cy="339711"/>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lgn="ctr"/>
              <a:r>
                <a:rPr lang="en-US" sz="1400" dirty="0" err="1">
                  <a:solidFill>
                    <a:schemeClr val="tx1"/>
                  </a:solidFill>
                  <a:latin typeface="Arial" panose="020B0604020202020204" pitchFamily="34" charset="0"/>
                  <a:cs typeface="Arial" panose="020B0604020202020204" pitchFamily="34" charset="0"/>
                </a:rPr>
                <a:t>Time</a:t>
              </a:r>
              <a:r>
                <a:rPr lang="en-US" sz="1400" baseline="-25000" dirty="0" err="1">
                  <a:solidFill>
                    <a:schemeClr val="tx1"/>
                  </a:solidFill>
                  <a:latin typeface="Arial" panose="020B0604020202020204" pitchFamily="34" charset="0"/>
                  <a:cs typeface="Arial" panose="020B0604020202020204" pitchFamily="34" charset="0"/>
                </a:rPr>
                <a:t>c</a:t>
              </a:r>
              <a:r>
                <a:rPr lang="en-US" sz="1400" dirty="0">
                  <a:solidFill>
                    <a:schemeClr val="tx1"/>
                  </a:solidFill>
                  <a:latin typeface="Arial" panose="020B0604020202020204" pitchFamily="34" charset="0"/>
                  <a:cs typeface="Arial" panose="020B0604020202020204" pitchFamily="34" charset="0"/>
                </a:rPr>
                <a:t> &lt; </a:t>
              </a:r>
              <a:r>
                <a:rPr lang="en-US" sz="1400" dirty="0" err="1">
                  <a:solidFill>
                    <a:schemeClr val="tx1"/>
                  </a:solidFill>
                  <a:latin typeface="Arial" panose="020B0604020202020204" pitchFamily="34" charset="0"/>
                  <a:cs typeface="Arial" panose="020B0604020202020204" pitchFamily="34" charset="0"/>
                </a:rPr>
                <a:t>Time</a:t>
              </a:r>
              <a:r>
                <a:rPr lang="en-US" sz="1400" baseline="-25000" dirty="0" err="1">
                  <a:solidFill>
                    <a:schemeClr val="tx1"/>
                  </a:solidFill>
                  <a:latin typeface="Arial" panose="020B0604020202020204" pitchFamily="34" charset="0"/>
                  <a:cs typeface="Arial" panose="020B0604020202020204" pitchFamily="34" charset="0"/>
                </a:rPr>
                <a:t>e</a:t>
              </a:r>
              <a:endParaRPr lang="en-US" sz="1400" dirty="0">
                <a:solidFill>
                  <a:schemeClr val="tx1"/>
                </a:solidFill>
                <a:latin typeface="Arial" panose="020B0604020202020204" pitchFamily="34" charset="0"/>
                <a:cs typeface="Arial" panose="020B0604020202020204" pitchFamily="34" charset="0"/>
              </a:endParaRPr>
            </a:p>
          </p:txBody>
        </p:sp>
        <p:sp>
          <p:nvSpPr>
            <p:cNvPr id="20" name="Rounded Rectangle 19">
              <a:extLst>
                <a:ext uri="{FF2B5EF4-FFF2-40B4-BE49-F238E27FC236}">
                  <a16:creationId xmlns:a16="http://schemas.microsoft.com/office/drawing/2014/main" id="{6CD3A471-76F4-E3AD-89C5-35B9DA146F11}"/>
                </a:ext>
              </a:extLst>
            </p:cNvPr>
            <p:cNvSpPr/>
            <p:nvPr/>
          </p:nvSpPr>
          <p:spPr>
            <a:xfrm>
              <a:off x="5775904" y="1757907"/>
              <a:ext cx="2008420" cy="339711"/>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lgn="ctr"/>
              <a:r>
                <a:rPr lang="en-US" sz="1400" dirty="0">
                  <a:solidFill>
                    <a:schemeClr val="tx1"/>
                  </a:solidFill>
                  <a:latin typeface="Arial" panose="020B0604020202020204" pitchFamily="34" charset="0"/>
                  <a:cs typeface="Arial" panose="020B0604020202020204" pitchFamily="34" charset="0"/>
                </a:rPr>
                <a:t>Code Terms Changes</a:t>
              </a:r>
            </a:p>
          </p:txBody>
        </p:sp>
        <p:sp>
          <p:nvSpPr>
            <p:cNvPr id="21" name="Rounded Rectangle 20">
              <a:extLst>
                <a:ext uri="{FF2B5EF4-FFF2-40B4-BE49-F238E27FC236}">
                  <a16:creationId xmlns:a16="http://schemas.microsoft.com/office/drawing/2014/main" id="{F5A0F5D4-5F0A-59BC-A03C-0C7E68578998}"/>
                </a:ext>
              </a:extLst>
            </p:cNvPr>
            <p:cNvSpPr/>
            <p:nvPr/>
          </p:nvSpPr>
          <p:spPr>
            <a:xfrm>
              <a:off x="5775904" y="2221609"/>
              <a:ext cx="2008420" cy="339711"/>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lgn="ctr"/>
              <a:r>
                <a:rPr lang="en-US" sz="1400" dirty="0">
                  <a:solidFill>
                    <a:schemeClr val="tx1"/>
                  </a:solidFill>
                  <a:latin typeface="Arial" panose="020B0604020202020204" pitchFamily="34" charset="0"/>
                  <a:cs typeface="Arial" panose="020B0604020202020204" pitchFamily="34" charset="0"/>
                </a:rPr>
                <a:t>Different Users.</a:t>
              </a:r>
            </a:p>
            <a:p>
              <a:pPr algn="ctr">
                <a:lnSpc>
                  <a:spcPct val="114000"/>
                </a:lnSpc>
              </a:pPr>
              <a:endParaRPr lang="en-US" sz="1400" dirty="0">
                <a:solidFill>
                  <a:schemeClr val="tx1"/>
                </a:solidFill>
                <a:latin typeface="Arial" panose="020B0604020202020204" pitchFamily="34" charset="0"/>
                <a:cs typeface="Arial" panose="020B0604020202020204" pitchFamily="34" charset="0"/>
              </a:endParaRPr>
            </a:p>
          </p:txBody>
        </p:sp>
        <p:sp>
          <p:nvSpPr>
            <p:cNvPr id="22" name="TextBox 21">
              <a:extLst>
                <a:ext uri="{FF2B5EF4-FFF2-40B4-BE49-F238E27FC236}">
                  <a16:creationId xmlns:a16="http://schemas.microsoft.com/office/drawing/2014/main" id="{CAB19F95-8030-FEF0-7798-E402EDBBCC4B}"/>
                </a:ext>
              </a:extLst>
            </p:cNvPr>
            <p:cNvSpPr txBox="1"/>
            <p:nvPr/>
          </p:nvSpPr>
          <p:spPr>
            <a:xfrm>
              <a:off x="5926629" y="971181"/>
              <a:ext cx="1874342" cy="192938"/>
            </a:xfrm>
            <a:prstGeom prst="rect">
              <a:avLst/>
            </a:prstGeom>
            <a:noFill/>
          </p:spPr>
          <p:txBody>
            <a:bodyPr wrap="square" lIns="0" tIns="0" rIns="0" bIns="0" rtlCol="0">
              <a:spAutoFit/>
            </a:bodyPr>
            <a:lstStyle/>
            <a:p>
              <a:pPr>
                <a:lnSpc>
                  <a:spcPct val="114000"/>
                </a:lnSpc>
              </a:pPr>
              <a:r>
                <a:rPr lang="en-US" sz="1200" dirty="0">
                  <a:solidFill>
                    <a:schemeClr val="accent3">
                      <a:lumMod val="75000"/>
                    </a:schemeClr>
                  </a:solidFill>
                  <a:latin typeface="Arial" panose="020B0604020202020204" pitchFamily="34" charset="0"/>
                  <a:cs typeface="Arial" panose="020B0604020202020204" pitchFamily="34" charset="0"/>
                </a:rPr>
                <a:t>Tang’s three </a:t>
              </a:r>
              <a:r>
                <a:rPr lang="en-US" sz="1200" dirty="0">
                  <a:solidFill>
                    <a:schemeClr val="accent3">
                      <a:lumMod val="75000"/>
                    </a:schemeClr>
                  </a:solidFill>
                  <a:effectLst/>
                  <a:latin typeface="Arial" panose="020B0604020202020204" pitchFamily="34" charset="0"/>
                  <a:cs typeface="Arial" panose="020B0604020202020204" pitchFamily="34" charset="0"/>
                </a:rPr>
                <a:t>heuristic </a:t>
              </a:r>
              <a:r>
                <a:rPr lang="en-US" sz="1200" dirty="0">
                  <a:solidFill>
                    <a:schemeClr val="accent3">
                      <a:lumMod val="75000"/>
                    </a:schemeClr>
                  </a:solidFill>
                  <a:latin typeface="Arial" panose="020B0604020202020204" pitchFamily="34" charset="0"/>
                  <a:cs typeface="Arial" panose="020B0604020202020204" pitchFamily="34" charset="0"/>
                </a:rPr>
                <a:t>rules</a:t>
              </a:r>
            </a:p>
          </p:txBody>
        </p:sp>
      </p:grpSp>
      <p:cxnSp>
        <p:nvCxnSpPr>
          <p:cNvPr id="25" name="Straight Connector 24">
            <a:extLst>
              <a:ext uri="{FF2B5EF4-FFF2-40B4-BE49-F238E27FC236}">
                <a16:creationId xmlns:a16="http://schemas.microsoft.com/office/drawing/2014/main" id="{36AC060B-AD64-E2D8-C231-C0B6F69DBE58}"/>
              </a:ext>
            </a:extLst>
          </p:cNvPr>
          <p:cNvCxnSpPr>
            <a:cxnSpLocks/>
          </p:cNvCxnSpPr>
          <p:nvPr/>
        </p:nvCxnSpPr>
        <p:spPr>
          <a:xfrm>
            <a:off x="0" y="0"/>
            <a:ext cx="1577591"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2BD42EB-0B16-8D3C-0A5F-7E23ACD44736}"/>
              </a:ext>
            </a:extLst>
          </p:cNvPr>
          <p:cNvCxnSpPr>
            <a:cxnSpLocks/>
          </p:cNvCxnSpPr>
          <p:nvPr/>
        </p:nvCxnSpPr>
        <p:spPr>
          <a:xfrm>
            <a:off x="1513583" y="0"/>
            <a:ext cx="1577591"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2FC83F10-7E1E-0E53-85E5-E6CEAA65BB2B}"/>
              </a:ext>
            </a:extLst>
          </p:cNvPr>
          <p:cNvCxnSpPr>
            <a:cxnSpLocks/>
          </p:cNvCxnSpPr>
          <p:nvPr/>
        </p:nvCxnSpPr>
        <p:spPr>
          <a:xfrm>
            <a:off x="3091174" y="0"/>
            <a:ext cx="1577591"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9" name="Rounded Rectangle 38">
            <a:extLst>
              <a:ext uri="{FF2B5EF4-FFF2-40B4-BE49-F238E27FC236}">
                <a16:creationId xmlns:a16="http://schemas.microsoft.com/office/drawing/2014/main" id="{F5F87B17-9785-AED4-A229-2B52D15D4F3C}"/>
              </a:ext>
            </a:extLst>
          </p:cNvPr>
          <p:cNvSpPr/>
          <p:nvPr/>
        </p:nvSpPr>
        <p:spPr>
          <a:xfrm>
            <a:off x="980727" y="2866818"/>
            <a:ext cx="4102185" cy="409046"/>
          </a:xfrm>
          <a:prstGeom prst="round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r>
              <a:rPr lang="en-US" sz="1800" b="1" dirty="0">
                <a:latin typeface="Arial" panose="020B0604020202020204" pitchFamily="34" charset="0"/>
                <a:cs typeface="Arial" panose="020B0604020202020204" pitchFamily="34" charset="0"/>
              </a:rPr>
              <a:t>Too much noise in the dataset !!!</a:t>
            </a:r>
          </a:p>
          <a:p>
            <a:pPr algn="ctr">
              <a:lnSpc>
                <a:spcPct val="114000"/>
              </a:lnSpc>
            </a:pPr>
            <a:endParaRPr lang="en-US" b="1" dirty="0"/>
          </a:p>
        </p:txBody>
      </p:sp>
      <p:sp>
        <p:nvSpPr>
          <p:cNvPr id="41" name="Date Placeholder 3">
            <a:extLst>
              <a:ext uri="{FF2B5EF4-FFF2-40B4-BE49-F238E27FC236}">
                <a16:creationId xmlns:a16="http://schemas.microsoft.com/office/drawing/2014/main" id="{642C0283-B14F-ABE9-68F7-7C86018131C7}"/>
              </a:ext>
            </a:extLst>
          </p:cNvPr>
          <p:cNvSpPr txBox="1">
            <a:spLocks/>
          </p:cNvSpPr>
          <p:nvPr/>
        </p:nvSpPr>
        <p:spPr>
          <a:xfrm>
            <a:off x="25673" y="4922595"/>
            <a:ext cx="811609" cy="22090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gn="l" rtl="0" eaLnBrk="1" fontAlgn="base" hangingPunct="1">
              <a:lnSpc>
                <a:spcPct val="150000"/>
              </a:lnSpc>
              <a:spcBef>
                <a:spcPct val="0"/>
              </a:spcBef>
              <a:spcAft>
                <a:spcPct val="0"/>
              </a:spcAft>
              <a:defRPr lang="de-DE" sz="1400" kern="1200" baseline="0" noProof="0" dirty="0" smtClean="0">
                <a:solidFill>
                  <a:schemeClr val="tx1"/>
                </a:solidFill>
                <a:latin typeface="+mn-lt"/>
                <a:ea typeface="+mn-ea"/>
                <a:cs typeface="+mn-cs"/>
              </a:defRPr>
            </a:lvl1pPr>
            <a:lvl2pPr marL="176213" indent="-176213" algn="l" rtl="0" eaLnBrk="1" fontAlgn="base" hangingPunct="1">
              <a:lnSpc>
                <a:spcPct val="100000"/>
              </a:lnSpc>
              <a:spcBef>
                <a:spcPct val="0"/>
              </a:spcBef>
              <a:spcAft>
                <a:spcPct val="0"/>
              </a:spcAft>
              <a:buFont typeface="Arial" charset="0"/>
              <a:buChar char="•"/>
              <a:defRPr lang="de-DE" sz="1600" kern="1200" noProof="0" dirty="0" smtClean="0">
                <a:solidFill>
                  <a:schemeClr val="tx1"/>
                </a:solidFill>
                <a:latin typeface="+mn-lt"/>
                <a:ea typeface="+mn-ea"/>
                <a:cs typeface="+mn-cs"/>
              </a:defRPr>
            </a:lvl2pPr>
            <a:lvl3pPr marL="360363" indent="-184150"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fld id="{E6E0805E-65D9-544D-8805-556D80FFC742}" type="datetime1">
              <a:rPr lang="en-US" sz="1000" smtClean="0">
                <a:solidFill>
                  <a:schemeClr val="bg1">
                    <a:lumMod val="85000"/>
                  </a:schemeClr>
                </a:solidFill>
              </a:rPr>
              <a:pPr/>
              <a:t>12/7/25</a:t>
            </a:fld>
            <a:endParaRPr lang="en-US" sz="1000" dirty="0">
              <a:solidFill>
                <a:schemeClr val="bg1">
                  <a:lumMod val="85000"/>
                </a:schemeClr>
              </a:solidFill>
            </a:endParaRPr>
          </a:p>
        </p:txBody>
      </p:sp>
      <p:sp>
        <p:nvSpPr>
          <p:cNvPr id="3" name="TextBox 2">
            <a:extLst>
              <a:ext uri="{FF2B5EF4-FFF2-40B4-BE49-F238E27FC236}">
                <a16:creationId xmlns:a16="http://schemas.microsoft.com/office/drawing/2014/main" id="{5910399F-70DE-9F64-29FE-D4037850D945}"/>
              </a:ext>
            </a:extLst>
          </p:cNvPr>
          <p:cNvSpPr txBox="1"/>
          <p:nvPr/>
        </p:nvSpPr>
        <p:spPr>
          <a:xfrm>
            <a:off x="989296" y="2226743"/>
            <a:ext cx="4601496" cy="369332"/>
          </a:xfrm>
          <a:prstGeom prst="rect">
            <a:avLst/>
          </a:prstGeom>
          <a:noFill/>
        </p:spPr>
        <p:txBody>
          <a:bodyPr wrap="square">
            <a:spAutoFit/>
          </a:bodyPr>
          <a:lstStyle/>
          <a:p>
            <a:r>
              <a:rPr lang="en-US" sz="1800" dirty="0">
                <a:solidFill>
                  <a:srgbClr val="141413"/>
                </a:solidFill>
                <a:latin typeface="Arial" panose="020B0604020202020204" pitchFamily="34" charset="0"/>
                <a:cs typeface="Arial" panose="020B0604020202020204" pitchFamily="34" charset="0"/>
              </a:rPr>
              <a:t>V</a:t>
            </a:r>
            <a:r>
              <a:rPr lang="en-US" sz="1800" dirty="0">
                <a:solidFill>
                  <a:srgbClr val="141413"/>
                </a:solidFill>
                <a:effectLst/>
                <a:latin typeface="Arial" panose="020B0604020202020204" pitchFamily="34" charset="0"/>
                <a:cs typeface="Arial" panose="020B0604020202020204" pitchFamily="34" charset="0"/>
              </a:rPr>
              <a:t>alid comment-edit pairs is only </a:t>
            </a:r>
            <a:r>
              <a:rPr lang="en-US" sz="1800" b="1" dirty="0">
                <a:solidFill>
                  <a:srgbClr val="FF0000"/>
                </a:solidFill>
                <a:effectLst/>
                <a:latin typeface="Arial" panose="020B0604020202020204" pitchFamily="34" charset="0"/>
                <a:cs typeface="Arial" panose="020B0604020202020204" pitchFamily="34" charset="0"/>
              </a:rPr>
              <a:t>56%</a:t>
            </a:r>
          </a:p>
        </p:txBody>
      </p:sp>
      <p:sp>
        <p:nvSpPr>
          <p:cNvPr id="2" name="Footer Placeholder 4">
            <a:extLst>
              <a:ext uri="{FF2B5EF4-FFF2-40B4-BE49-F238E27FC236}">
                <a16:creationId xmlns:a16="http://schemas.microsoft.com/office/drawing/2014/main" id="{3C915A36-78DB-7CA3-D98D-5D20774D44C5}"/>
              </a:ext>
            </a:extLst>
          </p:cNvPr>
          <p:cNvSpPr txBox="1">
            <a:spLocks/>
          </p:cNvSpPr>
          <p:nvPr/>
        </p:nvSpPr>
        <p:spPr>
          <a:xfrm>
            <a:off x="2394860" y="4787044"/>
            <a:ext cx="4482901" cy="360210"/>
          </a:xfrm>
          <a:prstGeom prst="rect">
            <a:avLst/>
          </a:prstGeom>
        </p:spPr>
        <p:txBody>
          <a:bodyPr/>
          <a:ls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lgn="ctr"/>
            <a:br>
              <a:rPr lang="en-US" sz="1000" dirty="0">
                <a:solidFill>
                  <a:schemeClr val="bg1">
                    <a:lumMod val="85000"/>
                  </a:schemeClr>
                </a:solidFill>
              </a:rPr>
            </a:br>
            <a:r>
              <a:rPr lang="en-US" sz="1000" dirty="0">
                <a:solidFill>
                  <a:schemeClr val="bg1">
                    <a:lumMod val="85000"/>
                  </a:schemeClr>
                </a:solidFill>
              </a:rPr>
              <a:t>Algorithmic Decision Making: Metaheuristics and Decomposition in Practice</a:t>
            </a:r>
          </a:p>
        </p:txBody>
      </p:sp>
    </p:spTree>
    <p:extLst>
      <p:ext uri="{BB962C8B-B14F-4D97-AF65-F5344CB8AC3E}">
        <p14:creationId xmlns:p14="http://schemas.microsoft.com/office/powerpoint/2010/main" val="3920409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8" grpId="0"/>
      <p:bldP spid="15" grpId="0"/>
      <p:bldP spid="39" grpId="0" animBg="1"/>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FFB4DCB-2BE8-72B4-B2A7-79258464E150}"/>
              </a:ext>
            </a:extLst>
          </p:cNvPr>
          <p:cNvSpPr>
            <a:spLocks noGrp="1"/>
          </p:cNvSpPr>
          <p:nvPr>
            <p:ph idx="1"/>
          </p:nvPr>
        </p:nvSpPr>
        <p:spPr>
          <a:xfrm>
            <a:off x="371460" y="1691017"/>
            <a:ext cx="8508999" cy="3095625"/>
          </a:xfrm>
        </p:spPr>
        <p:txBody>
          <a:bodyPr/>
          <a:lstStyle/>
          <a:p>
            <a:r>
              <a:rPr lang="en-US" dirty="0">
                <a:solidFill>
                  <a:srgbClr val="141413"/>
                </a:solidFill>
                <a:effectLst/>
                <a:latin typeface="Helvetica" pitchFamily="2" charset="0"/>
              </a:rPr>
              <a:t>Valid Comment-edit Prediction(VCP):</a:t>
            </a:r>
          </a:p>
          <a:p>
            <a:endParaRPr lang="en-US" dirty="0"/>
          </a:p>
          <a:p>
            <a:endParaRPr lang="en-US" dirty="0"/>
          </a:p>
          <a:p>
            <a:endParaRPr lang="en-US" dirty="0"/>
          </a:p>
          <a:p>
            <a:endParaRPr lang="en-US" dirty="0"/>
          </a:p>
          <a:p>
            <a:r>
              <a:rPr lang="en-US" dirty="0"/>
              <a:t>Goal: To build  a High-Quality Dataset.</a:t>
            </a:r>
          </a:p>
          <a:p>
            <a:endParaRPr lang="en-US" dirty="0"/>
          </a:p>
        </p:txBody>
      </p:sp>
      <p:sp>
        <p:nvSpPr>
          <p:cNvPr id="4" name="Slide Number Placeholder 3">
            <a:extLst>
              <a:ext uri="{FF2B5EF4-FFF2-40B4-BE49-F238E27FC236}">
                <a16:creationId xmlns:a16="http://schemas.microsoft.com/office/drawing/2014/main" id="{17AE8228-60D6-BB27-094F-1FABACE1022B}"/>
              </a:ext>
            </a:extLst>
          </p:cNvPr>
          <p:cNvSpPr>
            <a:spLocks noGrp="1"/>
          </p:cNvSpPr>
          <p:nvPr>
            <p:ph type="sldNum" sz="quarter" idx="11"/>
          </p:nvPr>
        </p:nvSpPr>
        <p:spPr/>
        <p:txBody>
          <a:bodyPr/>
          <a:lstStyle/>
          <a:p>
            <a:fld id="{CE58CB1E-F828-4F11-99E0-327109AF9DA4}" type="slidenum">
              <a:rPr lang="de-DE" smtClean="0"/>
              <a:pPr/>
              <a:t>7</a:t>
            </a:fld>
            <a:endParaRPr lang="de-DE" dirty="0"/>
          </a:p>
        </p:txBody>
      </p:sp>
      <p:sp>
        <p:nvSpPr>
          <p:cNvPr id="13" name="Rectangle 12">
            <a:extLst>
              <a:ext uri="{FF2B5EF4-FFF2-40B4-BE49-F238E27FC236}">
                <a16:creationId xmlns:a16="http://schemas.microsoft.com/office/drawing/2014/main" id="{40BF4D8B-2EB8-2BD4-2838-7B0C08A59DBA}"/>
              </a:ext>
            </a:extLst>
          </p:cNvPr>
          <p:cNvSpPr/>
          <p:nvPr/>
        </p:nvSpPr>
        <p:spPr>
          <a:xfrm>
            <a:off x="0" y="252983"/>
            <a:ext cx="1577591" cy="380745"/>
          </a:xfrm>
          <a:prstGeom prst="rect">
            <a:avLst/>
          </a:prstGeom>
          <a:solidFill>
            <a:srgbClr val="0064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nSpc>
                <a:spcPct val="114000"/>
              </a:lnSpc>
            </a:pPr>
            <a:r>
              <a:rPr lang="en-US" dirty="0"/>
              <a:t>Approach</a:t>
            </a:r>
          </a:p>
        </p:txBody>
      </p:sp>
      <p:sp>
        <p:nvSpPr>
          <p:cNvPr id="15" name="Oval 14">
            <a:extLst>
              <a:ext uri="{FF2B5EF4-FFF2-40B4-BE49-F238E27FC236}">
                <a16:creationId xmlns:a16="http://schemas.microsoft.com/office/drawing/2014/main" id="{833C11A4-E265-AA95-6030-3F70BDE44A76}"/>
              </a:ext>
            </a:extLst>
          </p:cNvPr>
          <p:cNvSpPr/>
          <p:nvPr/>
        </p:nvSpPr>
        <p:spPr>
          <a:xfrm>
            <a:off x="1666163" y="503434"/>
            <a:ext cx="130294" cy="130294"/>
          </a:xfrm>
          <a:prstGeom prst="ellipse">
            <a:avLst/>
          </a:prstGeom>
          <a:solidFill>
            <a:srgbClr val="0063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16" name="Oval 15">
            <a:extLst>
              <a:ext uri="{FF2B5EF4-FFF2-40B4-BE49-F238E27FC236}">
                <a16:creationId xmlns:a16="http://schemas.microsoft.com/office/drawing/2014/main" id="{6BF4EF98-6098-70BE-07C4-DB35B3E03503}"/>
              </a:ext>
            </a:extLst>
          </p:cNvPr>
          <p:cNvSpPr/>
          <p:nvPr/>
        </p:nvSpPr>
        <p:spPr>
          <a:xfrm>
            <a:off x="1919124" y="503434"/>
            <a:ext cx="130294" cy="130294"/>
          </a:xfrm>
          <a:prstGeom prst="ellipse">
            <a:avLst/>
          </a:prstGeom>
          <a:noFill/>
          <a:ln w="12700">
            <a:solidFill>
              <a:srgbClr val="0063BD"/>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17" name="Oval 16">
            <a:extLst>
              <a:ext uri="{FF2B5EF4-FFF2-40B4-BE49-F238E27FC236}">
                <a16:creationId xmlns:a16="http://schemas.microsoft.com/office/drawing/2014/main" id="{6AA5CCF0-4D44-1DFB-78F0-BA10A3536400}"/>
              </a:ext>
            </a:extLst>
          </p:cNvPr>
          <p:cNvSpPr/>
          <p:nvPr/>
        </p:nvSpPr>
        <p:spPr>
          <a:xfrm>
            <a:off x="2172085" y="503434"/>
            <a:ext cx="130294" cy="130294"/>
          </a:xfrm>
          <a:prstGeom prst="ellipse">
            <a:avLst/>
          </a:prstGeom>
          <a:noFill/>
          <a:ln w="12700">
            <a:solidFill>
              <a:srgbClr val="0063BD"/>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18" name="Oval 17">
            <a:extLst>
              <a:ext uri="{FF2B5EF4-FFF2-40B4-BE49-F238E27FC236}">
                <a16:creationId xmlns:a16="http://schemas.microsoft.com/office/drawing/2014/main" id="{4489337C-BBBC-523B-7928-C76D37ACA987}"/>
              </a:ext>
            </a:extLst>
          </p:cNvPr>
          <p:cNvSpPr/>
          <p:nvPr/>
        </p:nvSpPr>
        <p:spPr>
          <a:xfrm>
            <a:off x="2425046" y="503434"/>
            <a:ext cx="130294" cy="130294"/>
          </a:xfrm>
          <a:prstGeom prst="ellipse">
            <a:avLst/>
          </a:prstGeom>
          <a:noFill/>
          <a:ln w="12700">
            <a:solidFill>
              <a:srgbClr val="0063BD"/>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cxnSp>
        <p:nvCxnSpPr>
          <p:cNvPr id="19" name="Straight Connector 18">
            <a:extLst>
              <a:ext uri="{FF2B5EF4-FFF2-40B4-BE49-F238E27FC236}">
                <a16:creationId xmlns:a16="http://schemas.microsoft.com/office/drawing/2014/main" id="{D75B2C21-5BA3-B473-FD85-A50E638E7280}"/>
              </a:ext>
            </a:extLst>
          </p:cNvPr>
          <p:cNvCxnSpPr>
            <a:cxnSpLocks/>
          </p:cNvCxnSpPr>
          <p:nvPr/>
        </p:nvCxnSpPr>
        <p:spPr>
          <a:xfrm>
            <a:off x="0" y="0"/>
            <a:ext cx="1577591"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6ACC8D4A-BA1D-F6A7-8766-C6670FA28864}"/>
              </a:ext>
            </a:extLst>
          </p:cNvPr>
          <p:cNvCxnSpPr>
            <a:cxnSpLocks/>
          </p:cNvCxnSpPr>
          <p:nvPr/>
        </p:nvCxnSpPr>
        <p:spPr>
          <a:xfrm>
            <a:off x="1513583" y="0"/>
            <a:ext cx="1577591"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C4629ECA-89E5-BFA3-16E6-9A5C7E42EAF4}"/>
              </a:ext>
            </a:extLst>
          </p:cNvPr>
          <p:cNvCxnSpPr>
            <a:cxnSpLocks/>
          </p:cNvCxnSpPr>
          <p:nvPr/>
        </p:nvCxnSpPr>
        <p:spPr>
          <a:xfrm>
            <a:off x="3091174" y="0"/>
            <a:ext cx="1577591"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1AF58577-F0A8-B29F-3D24-9AD14E8C6AC4}"/>
              </a:ext>
            </a:extLst>
          </p:cNvPr>
          <p:cNvCxnSpPr>
            <a:cxnSpLocks/>
          </p:cNvCxnSpPr>
          <p:nvPr/>
        </p:nvCxnSpPr>
        <p:spPr>
          <a:xfrm>
            <a:off x="4668765" y="0"/>
            <a:ext cx="1577591"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6" name="Title 2">
            <a:extLst>
              <a:ext uri="{FF2B5EF4-FFF2-40B4-BE49-F238E27FC236}">
                <a16:creationId xmlns:a16="http://schemas.microsoft.com/office/drawing/2014/main" id="{F6FB41F4-96AC-563D-286E-37C9EC2C666C}"/>
              </a:ext>
            </a:extLst>
          </p:cNvPr>
          <p:cNvSpPr>
            <a:spLocks noGrp="1"/>
          </p:cNvSpPr>
          <p:nvPr>
            <p:ph type="title"/>
          </p:nvPr>
        </p:nvSpPr>
        <p:spPr>
          <a:xfrm>
            <a:off x="319090" y="972000"/>
            <a:ext cx="8508999" cy="380745"/>
          </a:xfrm>
        </p:spPr>
        <p:txBody>
          <a:bodyPr/>
          <a:lstStyle/>
          <a:p>
            <a:r>
              <a:rPr lang="en-US" dirty="0"/>
              <a:t>SOUP VCP Task</a:t>
            </a:r>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32B16D55-6847-C9EF-FA81-69796BF5AE42}"/>
                  </a:ext>
                </a:extLst>
              </p:cNvPr>
              <p:cNvSpPr txBox="1"/>
              <p:nvPr/>
            </p:nvSpPr>
            <p:spPr>
              <a:xfrm>
                <a:off x="2555340" y="2005626"/>
                <a:ext cx="4214102" cy="626133"/>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𝑃𝑟𝑒𝑑𝑖𝑐𝑡</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𝑝𝑟</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𝑒</m:t>
                              </m:r>
                            </m:e>
                            <m:sub>
                              <m:r>
                                <a:rPr lang="en-US" sz="1600" b="0" i="1" smtClean="0">
                                  <a:latin typeface="Cambria Math" panose="02040503050406030204" pitchFamily="18" charset="0"/>
                                </a:rPr>
                                <m:t>𝑒</m:t>
                              </m:r>
                            </m:sub>
                          </m:sSub>
                          <m:r>
                            <a:rPr lang="en-US" sz="1600" b="0" i="1" smtClean="0">
                              <a:latin typeface="Cambria Math" panose="02040503050406030204" pitchFamily="18" charset="0"/>
                            </a:rPr>
                            <m:t>,</m:t>
                          </m:r>
                          <m:r>
                            <a:rPr lang="en-US" sz="1600" b="0" i="1" smtClean="0">
                              <a:latin typeface="Cambria Math" panose="02040503050406030204" pitchFamily="18" charset="0"/>
                            </a:rPr>
                            <m:t>𝑝𝑜𝑠</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𝑡</m:t>
                              </m:r>
                            </m:e>
                            <m:sub>
                              <m:r>
                                <a:rPr lang="en-US" sz="1600" b="0" i="1" smtClean="0">
                                  <a:latin typeface="Cambria Math" panose="02040503050406030204" pitchFamily="18" charset="0"/>
                                </a:rPr>
                                <m:t>𝑒</m:t>
                              </m:r>
                            </m:sub>
                          </m:sSub>
                          <m:r>
                            <a:rPr lang="en-US" sz="1600" b="0" i="1" smtClean="0">
                              <a:latin typeface="Cambria Math" panose="02040503050406030204" pitchFamily="18" charset="0"/>
                            </a:rPr>
                            <m:t>,</m:t>
                          </m:r>
                          <m:r>
                            <a:rPr lang="en-US" sz="1600" b="0" i="1" smtClean="0">
                              <a:latin typeface="Cambria Math" panose="02040503050406030204" pitchFamily="18" charset="0"/>
                            </a:rPr>
                            <m:t>𝑐</m:t>
                          </m:r>
                        </m:e>
                      </m:d>
                      <m:r>
                        <a:rPr lang="en-US" sz="1600" b="0" i="1" smtClean="0">
                          <a:latin typeface="Cambria Math" panose="02040503050406030204" pitchFamily="18" charset="0"/>
                        </a:rPr>
                        <m:t>=</m:t>
                      </m:r>
                      <m:d>
                        <m:dPr>
                          <m:begChr m:val="{"/>
                          <m:endChr m:val=""/>
                          <m:ctrlPr>
                            <a:rPr lang="en-US" sz="1600" b="0" i="1" smtClean="0">
                              <a:latin typeface="Cambria Math" panose="02040503050406030204" pitchFamily="18" charset="0"/>
                            </a:rPr>
                          </m:ctrlPr>
                        </m:dPr>
                        <m:e>
                          <m:eqArr>
                            <m:eqArrPr>
                              <m:ctrlPr>
                                <a:rPr lang="en-US" sz="1600" b="0" i="1" smtClean="0">
                                  <a:latin typeface="Cambria Math" panose="02040503050406030204" pitchFamily="18" charset="0"/>
                                </a:rPr>
                              </m:ctrlPr>
                            </m:eqArrPr>
                            <m:e>
                              <m:r>
                                <a:rPr lang="en-US" sz="1600" b="0" i="1" smtClean="0">
                                  <a:latin typeface="Cambria Math" panose="02040503050406030204" pitchFamily="18" charset="0"/>
                                </a:rPr>
                                <m:t>1      </m:t>
                              </m:r>
                              <m:r>
                                <a:rPr lang="en-US" sz="1600" b="0" i="1" smtClean="0">
                                  <a:latin typeface="Cambria Math" panose="02040503050406030204" pitchFamily="18" charset="0"/>
                                </a:rPr>
                                <m:t>𝑓𝑜𝑟</m:t>
                              </m:r>
                              <m:r>
                                <a:rPr lang="en-US" sz="1600" b="0" i="1" smtClean="0">
                                  <a:latin typeface="Cambria Math" panose="02040503050406030204" pitchFamily="18" charset="0"/>
                                </a:rPr>
                                <m:t> </m:t>
                              </m:r>
                              <m:r>
                                <a:rPr lang="en-US" sz="1600" b="0" i="1" smtClean="0">
                                  <a:latin typeface="Cambria Math" panose="02040503050406030204" pitchFamily="18" charset="0"/>
                                </a:rPr>
                                <m:t>𝑡𝑟𝑖𝑝𝑙𝑒𝑡</m:t>
                              </m:r>
                              <m:r>
                                <a:rPr lang="en-US" sz="1600" b="0" i="1" smtClean="0">
                                  <a:latin typeface="Cambria Math" panose="02040503050406030204" pitchFamily="18" charset="0"/>
                                </a:rPr>
                                <m:t> ∈</m:t>
                              </m:r>
                              <m:r>
                                <a:rPr lang="en-US" sz="1600" b="0" i="1" smtClean="0">
                                  <a:latin typeface="Cambria Math" panose="02040503050406030204" pitchFamily="18" charset="0"/>
                                  <a:ea typeface="Cambria Math" panose="02040503050406030204" pitchFamily="18" charset="0"/>
                                </a:rPr>
                                <m:t>𝑣</m:t>
                              </m:r>
                            </m:e>
                            <m:e>
                              <m:r>
                                <a:rPr lang="en-US" sz="1600" b="0" i="1" smtClean="0">
                                  <a:latin typeface="Cambria Math" panose="02040503050406030204" pitchFamily="18" charset="0"/>
                                </a:rPr>
                                <m:t>0       </m:t>
                              </m:r>
                              <m:r>
                                <a:rPr lang="en-US" sz="1600" b="0" i="1" smtClean="0">
                                  <a:latin typeface="Cambria Math" panose="02040503050406030204" pitchFamily="18" charset="0"/>
                                </a:rPr>
                                <m:t>𝑓𝑜𝑟</m:t>
                              </m:r>
                              <m:r>
                                <a:rPr lang="en-US" sz="1600" b="0" i="1" smtClean="0">
                                  <a:latin typeface="Cambria Math" panose="02040503050406030204" pitchFamily="18" charset="0"/>
                                </a:rPr>
                                <m:t> </m:t>
                              </m:r>
                              <m:r>
                                <a:rPr lang="en-US" sz="1600" b="0" i="1" smtClean="0">
                                  <a:latin typeface="Cambria Math" panose="02040503050406030204" pitchFamily="18" charset="0"/>
                                </a:rPr>
                                <m:t>𝑜𝑡h𝑒𝑟𝑤𝑖𝑠𝑒</m:t>
                              </m:r>
                              <m:r>
                                <a:rPr lang="en-US" sz="1600" b="0" i="1" smtClean="0">
                                  <a:latin typeface="Cambria Math" panose="02040503050406030204" pitchFamily="18" charset="0"/>
                                </a:rPr>
                                <m:t> </m:t>
                              </m:r>
                            </m:e>
                          </m:eqArr>
                        </m:e>
                      </m:d>
                    </m:oMath>
                  </m:oMathPara>
                </a14:m>
                <a:endParaRPr lang="en-US" sz="1600" dirty="0" err="1">
                  <a:latin typeface="+mn-lt"/>
                </a:endParaRPr>
              </a:p>
            </p:txBody>
          </p:sp>
        </mc:Choice>
        <mc:Fallback xmlns="">
          <p:sp>
            <p:nvSpPr>
              <p:cNvPr id="27" name="TextBox 26">
                <a:extLst>
                  <a:ext uri="{FF2B5EF4-FFF2-40B4-BE49-F238E27FC236}">
                    <a16:creationId xmlns:a16="http://schemas.microsoft.com/office/drawing/2014/main" id="{32B16D55-6847-C9EF-FA81-69796BF5AE42}"/>
                  </a:ext>
                </a:extLst>
              </p:cNvPr>
              <p:cNvSpPr txBox="1">
                <a:spLocks noRot="1" noChangeAspect="1" noMove="1" noResize="1" noEditPoints="1" noAdjustHandles="1" noChangeArrowheads="1" noChangeShapeType="1" noTextEdit="1"/>
              </p:cNvSpPr>
              <p:nvPr/>
            </p:nvSpPr>
            <p:spPr>
              <a:xfrm>
                <a:off x="2555340" y="2005626"/>
                <a:ext cx="4214102" cy="626133"/>
              </a:xfrm>
              <a:prstGeom prst="rect">
                <a:avLst/>
              </a:prstGeom>
              <a:blipFill>
                <a:blip r:embed="rId3"/>
                <a:stretch>
                  <a:fillRect l="-602" t="-180392" r="-1506" b="-272549"/>
                </a:stretch>
              </a:blipFill>
            </p:spPr>
            <p:txBody>
              <a:bodyPr/>
              <a:lstStyle/>
              <a:p>
                <a:r>
                  <a:rPr lang="en-US">
                    <a:noFill/>
                  </a:rPr>
                  <a:t> </a:t>
                </a:r>
              </a:p>
            </p:txBody>
          </p:sp>
        </mc:Fallback>
      </mc:AlternateContent>
      <p:grpSp>
        <p:nvGrpSpPr>
          <p:cNvPr id="31" name="Group 30">
            <a:extLst>
              <a:ext uri="{FF2B5EF4-FFF2-40B4-BE49-F238E27FC236}">
                <a16:creationId xmlns:a16="http://schemas.microsoft.com/office/drawing/2014/main" id="{B0FAE0EE-6514-4FAD-D45C-6D767438368A}"/>
              </a:ext>
            </a:extLst>
          </p:cNvPr>
          <p:cNvGrpSpPr/>
          <p:nvPr/>
        </p:nvGrpSpPr>
        <p:grpSpPr>
          <a:xfrm>
            <a:off x="139192" y="3682935"/>
            <a:ext cx="1909778" cy="790197"/>
            <a:chOff x="1997362" y="1646512"/>
            <a:chExt cx="2313421" cy="896563"/>
          </a:xfrm>
        </p:grpSpPr>
        <p:sp>
          <p:nvSpPr>
            <p:cNvPr id="32" name="Rounded Rectangle 31">
              <a:extLst>
                <a:ext uri="{FF2B5EF4-FFF2-40B4-BE49-F238E27FC236}">
                  <a16:creationId xmlns:a16="http://schemas.microsoft.com/office/drawing/2014/main" id="{6409F2CA-38A9-33C7-DB27-8B35C3B23A12}"/>
                </a:ext>
              </a:extLst>
            </p:cNvPr>
            <p:cNvSpPr/>
            <p:nvPr/>
          </p:nvSpPr>
          <p:spPr>
            <a:xfrm>
              <a:off x="2195564" y="1726591"/>
              <a:ext cx="1879042" cy="743578"/>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pic>
          <p:nvPicPr>
            <p:cNvPr id="33" name="Picture 2">
              <a:extLst>
                <a:ext uri="{FF2B5EF4-FFF2-40B4-BE49-F238E27FC236}">
                  <a16:creationId xmlns:a16="http://schemas.microsoft.com/office/drawing/2014/main" id="{D68FFD5A-14A0-5497-A044-3C00EC04B16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97362" y="1646512"/>
              <a:ext cx="896563" cy="896563"/>
            </a:xfrm>
            <a:prstGeom prst="rect">
              <a:avLst/>
            </a:prstGeom>
            <a:noFill/>
            <a:extLst>
              <a:ext uri="{909E8E84-426E-40DD-AFC4-6F175D3DCCD1}">
                <a14:hiddenFill xmlns:a14="http://schemas.microsoft.com/office/drawing/2010/main">
                  <a:solidFill>
                    <a:srgbClr val="FFFFFF"/>
                  </a:solidFill>
                </a14:hiddenFill>
              </a:ext>
            </a:extLst>
          </p:spPr>
        </p:pic>
        <p:sp>
          <p:nvSpPr>
            <p:cNvPr id="34" name="TextBox 33">
              <a:extLst>
                <a:ext uri="{FF2B5EF4-FFF2-40B4-BE49-F238E27FC236}">
                  <a16:creationId xmlns:a16="http://schemas.microsoft.com/office/drawing/2014/main" id="{22710FEA-EC51-2F76-B79B-2170F5201077}"/>
                </a:ext>
              </a:extLst>
            </p:cNvPr>
            <p:cNvSpPr txBox="1"/>
            <p:nvPr/>
          </p:nvSpPr>
          <p:spPr>
            <a:xfrm>
              <a:off x="2431740" y="1847494"/>
              <a:ext cx="1879043" cy="462242"/>
            </a:xfrm>
            <a:prstGeom prst="rect">
              <a:avLst/>
            </a:prstGeom>
            <a:noFill/>
          </p:spPr>
          <p:txBody>
            <a:bodyPr wrap="square">
              <a:spAutoFit/>
            </a:bodyPr>
            <a:lstStyle/>
            <a:p>
              <a:pPr algn="ctr">
                <a:lnSpc>
                  <a:spcPct val="114000"/>
                </a:lnSpc>
              </a:pPr>
              <a:r>
                <a:rPr lang="en-US" sz="1100" dirty="0"/>
                <a:t>Stack Overflow</a:t>
              </a:r>
            </a:p>
            <a:p>
              <a:pPr algn="ctr">
                <a:lnSpc>
                  <a:spcPct val="114000"/>
                </a:lnSpc>
              </a:pPr>
              <a:r>
                <a:rPr lang="en-US" sz="1100" dirty="0"/>
                <a:t>Post Edit History</a:t>
              </a:r>
            </a:p>
          </p:txBody>
        </p:sp>
      </p:grpSp>
      <p:sp>
        <p:nvSpPr>
          <p:cNvPr id="35" name="Right Arrow 34">
            <a:extLst>
              <a:ext uri="{FF2B5EF4-FFF2-40B4-BE49-F238E27FC236}">
                <a16:creationId xmlns:a16="http://schemas.microsoft.com/office/drawing/2014/main" id="{27C4C19E-34BA-C2E8-103F-48CB0C2C6F54}"/>
              </a:ext>
            </a:extLst>
          </p:cNvPr>
          <p:cNvSpPr/>
          <p:nvPr/>
        </p:nvSpPr>
        <p:spPr>
          <a:xfrm>
            <a:off x="1931908" y="3985821"/>
            <a:ext cx="450814" cy="216843"/>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grpSp>
        <p:nvGrpSpPr>
          <p:cNvPr id="36" name="Group 35">
            <a:extLst>
              <a:ext uri="{FF2B5EF4-FFF2-40B4-BE49-F238E27FC236}">
                <a16:creationId xmlns:a16="http://schemas.microsoft.com/office/drawing/2014/main" id="{627CB25B-A5C0-0A0F-3032-7C102C847636}"/>
              </a:ext>
            </a:extLst>
          </p:cNvPr>
          <p:cNvGrpSpPr/>
          <p:nvPr/>
        </p:nvGrpSpPr>
        <p:grpSpPr>
          <a:xfrm>
            <a:off x="2471901" y="3472169"/>
            <a:ext cx="1714782" cy="1185704"/>
            <a:chOff x="3091175" y="1243956"/>
            <a:chExt cx="1850997" cy="1291222"/>
          </a:xfrm>
        </p:grpSpPr>
        <p:grpSp>
          <p:nvGrpSpPr>
            <p:cNvPr id="37" name="Group 36">
              <a:extLst>
                <a:ext uri="{FF2B5EF4-FFF2-40B4-BE49-F238E27FC236}">
                  <a16:creationId xmlns:a16="http://schemas.microsoft.com/office/drawing/2014/main" id="{840B1DF7-4FB3-6AF2-82B8-3CF37F0B6B03}"/>
                </a:ext>
              </a:extLst>
            </p:cNvPr>
            <p:cNvGrpSpPr/>
            <p:nvPr/>
          </p:nvGrpSpPr>
          <p:grpSpPr>
            <a:xfrm>
              <a:off x="3091175" y="1243956"/>
              <a:ext cx="1850997" cy="1291222"/>
              <a:chOff x="5541776" y="931841"/>
              <a:chExt cx="1911619" cy="1217201"/>
            </a:xfrm>
          </p:grpSpPr>
          <p:sp>
            <p:nvSpPr>
              <p:cNvPr id="39" name="Rounded Rectangle 38">
                <a:extLst>
                  <a:ext uri="{FF2B5EF4-FFF2-40B4-BE49-F238E27FC236}">
                    <a16:creationId xmlns:a16="http://schemas.microsoft.com/office/drawing/2014/main" id="{30947C7E-BE14-62AA-66EE-C308F78EDD9B}"/>
                  </a:ext>
                </a:extLst>
              </p:cNvPr>
              <p:cNvSpPr/>
              <p:nvPr/>
            </p:nvSpPr>
            <p:spPr>
              <a:xfrm>
                <a:off x="5541776" y="931841"/>
                <a:ext cx="1911619" cy="1217201"/>
              </a:xfrm>
              <a:prstGeom prst="roundRect">
                <a:avLst/>
              </a:prstGeom>
              <a:solidFill>
                <a:schemeClr val="accent3">
                  <a:lumMod val="60000"/>
                  <a:lumOff val="40000"/>
                </a:schemeClr>
              </a:solidFill>
              <a:ln w="38100"/>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40" name="Rounded Rectangle 39">
                <a:extLst>
                  <a:ext uri="{FF2B5EF4-FFF2-40B4-BE49-F238E27FC236}">
                    <a16:creationId xmlns:a16="http://schemas.microsoft.com/office/drawing/2014/main" id="{D348F3A0-46C1-D939-B44A-0B02FA5F2924}"/>
                  </a:ext>
                </a:extLst>
              </p:cNvPr>
              <p:cNvSpPr/>
              <p:nvPr/>
            </p:nvSpPr>
            <p:spPr>
              <a:xfrm>
                <a:off x="5702880" y="1169417"/>
                <a:ext cx="654964" cy="37998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lgn="ctr"/>
                <a:r>
                  <a:rPr lang="en-US" sz="1000" dirty="0">
                    <a:solidFill>
                      <a:schemeClr val="tx1"/>
                    </a:solidFill>
                    <a:latin typeface="Arial" panose="020B0604020202020204" pitchFamily="34" charset="0"/>
                    <a:cs typeface="Arial" panose="020B0604020202020204" pitchFamily="34" charset="0"/>
                  </a:rPr>
                  <a:t>Java</a:t>
                </a:r>
              </a:p>
            </p:txBody>
          </p:sp>
          <p:sp>
            <p:nvSpPr>
              <p:cNvPr id="41" name="Rounded Rectangle 40">
                <a:extLst>
                  <a:ext uri="{FF2B5EF4-FFF2-40B4-BE49-F238E27FC236}">
                    <a16:creationId xmlns:a16="http://schemas.microsoft.com/office/drawing/2014/main" id="{5EF34CAC-765A-DCC9-F5C8-1FFF3C727923}"/>
                  </a:ext>
                </a:extLst>
              </p:cNvPr>
              <p:cNvSpPr/>
              <p:nvPr/>
            </p:nvSpPr>
            <p:spPr>
              <a:xfrm>
                <a:off x="6455287" y="1171913"/>
                <a:ext cx="779285" cy="37753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lgn="ctr"/>
                <a:r>
                  <a:rPr lang="en-US" sz="1000" dirty="0">
                    <a:solidFill>
                      <a:schemeClr val="tx1"/>
                    </a:solidFill>
                    <a:latin typeface="Arial" panose="020B0604020202020204" pitchFamily="34" charset="0"/>
                    <a:cs typeface="Arial" panose="020B0604020202020204" pitchFamily="34" charset="0"/>
                  </a:rPr>
                  <a:t>With</a:t>
                </a:r>
              </a:p>
              <a:p>
                <a:pPr lvl="0" algn="ctr"/>
                <a:r>
                  <a:rPr lang="en-US" sz="1000" dirty="0">
                    <a:solidFill>
                      <a:schemeClr val="tx1"/>
                    </a:solidFill>
                    <a:latin typeface="Arial" panose="020B0604020202020204" pitchFamily="34" charset="0"/>
                    <a:cs typeface="Arial" panose="020B0604020202020204" pitchFamily="34" charset="0"/>
                  </a:rPr>
                  <a:t> Code</a:t>
                </a:r>
              </a:p>
            </p:txBody>
          </p:sp>
          <p:sp>
            <p:nvSpPr>
              <p:cNvPr id="42" name="Rounded Rectangle 41">
                <a:extLst>
                  <a:ext uri="{FF2B5EF4-FFF2-40B4-BE49-F238E27FC236}">
                    <a16:creationId xmlns:a16="http://schemas.microsoft.com/office/drawing/2014/main" id="{3FC95A1C-C54B-5E8F-CD36-1B494DC649BE}"/>
                  </a:ext>
                </a:extLst>
              </p:cNvPr>
              <p:cNvSpPr/>
              <p:nvPr/>
            </p:nvSpPr>
            <p:spPr>
              <a:xfrm>
                <a:off x="5702880" y="1637430"/>
                <a:ext cx="670947" cy="379982"/>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lgn="ctr"/>
                <a:r>
                  <a:rPr lang="en-US" sz="1000" dirty="0">
                    <a:solidFill>
                      <a:schemeClr val="tx1"/>
                    </a:solidFill>
                    <a:latin typeface="Arial" panose="020B0604020202020204" pitchFamily="34" charset="0"/>
                    <a:cs typeface="Arial" panose="020B0604020202020204" pitchFamily="34" charset="0"/>
                  </a:rPr>
                  <a:t>Single</a:t>
                </a:r>
              </a:p>
              <a:p>
                <a:pPr lvl="0" algn="ctr"/>
                <a:r>
                  <a:rPr lang="en-US" sz="1000" dirty="0">
                    <a:solidFill>
                      <a:schemeClr val="tx1"/>
                    </a:solidFill>
                    <a:latin typeface="Arial" panose="020B0604020202020204" pitchFamily="34" charset="0"/>
                    <a:cs typeface="Arial" panose="020B0604020202020204" pitchFamily="34" charset="0"/>
                  </a:rPr>
                  <a:t>Edit</a:t>
                </a:r>
              </a:p>
            </p:txBody>
          </p:sp>
          <p:sp>
            <p:nvSpPr>
              <p:cNvPr id="43" name="TextBox 42">
                <a:extLst>
                  <a:ext uri="{FF2B5EF4-FFF2-40B4-BE49-F238E27FC236}">
                    <a16:creationId xmlns:a16="http://schemas.microsoft.com/office/drawing/2014/main" id="{7D4BEF86-AAF1-B78C-9BD8-6FEC083CB5C2}"/>
                  </a:ext>
                </a:extLst>
              </p:cNvPr>
              <p:cNvSpPr txBox="1"/>
              <p:nvPr/>
            </p:nvSpPr>
            <p:spPr>
              <a:xfrm>
                <a:off x="5579052" y="982981"/>
                <a:ext cx="1874342" cy="181878"/>
              </a:xfrm>
              <a:prstGeom prst="rect">
                <a:avLst/>
              </a:prstGeom>
              <a:noFill/>
            </p:spPr>
            <p:txBody>
              <a:bodyPr wrap="square" lIns="0" tIns="0" rIns="0" bIns="0" rtlCol="0">
                <a:spAutoFit/>
              </a:bodyPr>
              <a:lstStyle/>
              <a:p>
                <a:pPr algn="ctr">
                  <a:lnSpc>
                    <a:spcPct val="114000"/>
                  </a:lnSpc>
                </a:pPr>
                <a:r>
                  <a:rPr lang="en-US" sz="1100" dirty="0">
                    <a:solidFill>
                      <a:schemeClr val="accent3">
                        <a:lumMod val="75000"/>
                      </a:schemeClr>
                    </a:solidFill>
                    <a:effectLst/>
                    <a:latin typeface="Arial" panose="020B0604020202020204" pitchFamily="34" charset="0"/>
                    <a:cs typeface="Arial" panose="020B0604020202020204" pitchFamily="34" charset="0"/>
                  </a:rPr>
                  <a:t>heuristic </a:t>
                </a:r>
                <a:r>
                  <a:rPr lang="en-US" sz="1100" dirty="0">
                    <a:solidFill>
                      <a:schemeClr val="accent3">
                        <a:lumMod val="75000"/>
                      </a:schemeClr>
                    </a:solidFill>
                    <a:latin typeface="Arial" panose="020B0604020202020204" pitchFamily="34" charset="0"/>
                    <a:cs typeface="Arial" panose="020B0604020202020204" pitchFamily="34" charset="0"/>
                  </a:rPr>
                  <a:t>rules</a:t>
                </a:r>
              </a:p>
            </p:txBody>
          </p:sp>
        </p:grpSp>
        <p:sp>
          <p:nvSpPr>
            <p:cNvPr id="38" name="Rounded Rectangle 37">
              <a:extLst>
                <a:ext uri="{FF2B5EF4-FFF2-40B4-BE49-F238E27FC236}">
                  <a16:creationId xmlns:a16="http://schemas.microsoft.com/office/drawing/2014/main" id="{D0FC606A-E5C7-B194-F26C-634FC1C77B51}"/>
                </a:ext>
              </a:extLst>
            </p:cNvPr>
            <p:cNvSpPr/>
            <p:nvPr/>
          </p:nvSpPr>
          <p:spPr>
            <a:xfrm>
              <a:off x="3991836" y="1992455"/>
              <a:ext cx="754572" cy="403089"/>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lgn="ctr"/>
              <a:r>
                <a:rPr lang="en-US" sz="1000" dirty="0">
                  <a:solidFill>
                    <a:schemeClr val="tx1"/>
                  </a:solidFill>
                  <a:latin typeface="Arial" panose="020B0604020202020204" pitchFamily="34" charset="0"/>
                  <a:cs typeface="Arial" panose="020B0604020202020204" pitchFamily="34" charset="0"/>
                </a:rPr>
                <a:t>Closest</a:t>
              </a:r>
            </a:p>
            <a:p>
              <a:pPr lvl="0" algn="ctr"/>
              <a:r>
                <a:rPr lang="en-US" sz="1000" dirty="0">
                  <a:solidFill>
                    <a:schemeClr val="tx1"/>
                  </a:solidFill>
                  <a:latin typeface="Arial" panose="020B0604020202020204" pitchFamily="34" charset="0"/>
                  <a:cs typeface="Arial" panose="020B0604020202020204" pitchFamily="34" charset="0"/>
                </a:rPr>
                <a:t>Edit</a:t>
              </a:r>
            </a:p>
          </p:txBody>
        </p:sp>
      </p:grpSp>
      <p:sp>
        <p:nvSpPr>
          <p:cNvPr id="44" name="TextBox 43">
            <a:extLst>
              <a:ext uri="{FF2B5EF4-FFF2-40B4-BE49-F238E27FC236}">
                <a16:creationId xmlns:a16="http://schemas.microsoft.com/office/drawing/2014/main" id="{34B9EFCC-D1CB-1AB1-31C9-9A14620DC6B9}"/>
              </a:ext>
            </a:extLst>
          </p:cNvPr>
          <p:cNvSpPr txBox="1"/>
          <p:nvPr/>
        </p:nvSpPr>
        <p:spPr>
          <a:xfrm>
            <a:off x="463860" y="4597735"/>
            <a:ext cx="1162178" cy="257250"/>
          </a:xfrm>
          <a:prstGeom prst="rect">
            <a:avLst/>
          </a:prstGeom>
          <a:noFill/>
        </p:spPr>
        <p:txBody>
          <a:bodyPr wrap="none" lIns="0" tIns="0" rIns="0" bIns="0" rtlCol="0">
            <a:spAutoFit/>
          </a:bodyPr>
          <a:lstStyle/>
          <a:p>
            <a:pPr>
              <a:lnSpc>
                <a:spcPct val="114000"/>
              </a:lnSpc>
            </a:pPr>
            <a:r>
              <a:rPr lang="en-US" sz="1600" dirty="0">
                <a:latin typeface="+mn-lt"/>
              </a:rPr>
              <a:t>Sep,23,2019</a:t>
            </a:r>
          </a:p>
        </p:txBody>
      </p:sp>
      <p:sp>
        <p:nvSpPr>
          <p:cNvPr id="45" name="Right Arrow 44">
            <a:extLst>
              <a:ext uri="{FF2B5EF4-FFF2-40B4-BE49-F238E27FC236}">
                <a16:creationId xmlns:a16="http://schemas.microsoft.com/office/drawing/2014/main" id="{832CFB06-4D0D-CDAB-3589-2E4E7933095D}"/>
              </a:ext>
            </a:extLst>
          </p:cNvPr>
          <p:cNvSpPr/>
          <p:nvPr/>
        </p:nvSpPr>
        <p:spPr>
          <a:xfrm>
            <a:off x="4265417" y="3972773"/>
            <a:ext cx="450814" cy="216843"/>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grpSp>
        <p:nvGrpSpPr>
          <p:cNvPr id="46" name="Group 45">
            <a:extLst>
              <a:ext uri="{FF2B5EF4-FFF2-40B4-BE49-F238E27FC236}">
                <a16:creationId xmlns:a16="http://schemas.microsoft.com/office/drawing/2014/main" id="{6763E98E-27E3-4036-08CD-57B4314219A7}"/>
              </a:ext>
            </a:extLst>
          </p:cNvPr>
          <p:cNvGrpSpPr/>
          <p:nvPr/>
        </p:nvGrpSpPr>
        <p:grpSpPr>
          <a:xfrm>
            <a:off x="4764397" y="3564220"/>
            <a:ext cx="1691948" cy="912323"/>
            <a:chOff x="5330223" y="1581053"/>
            <a:chExt cx="1691948" cy="912323"/>
          </a:xfrm>
        </p:grpSpPr>
        <p:sp>
          <p:nvSpPr>
            <p:cNvPr id="47" name="Rounded Rectangle 46">
              <a:extLst>
                <a:ext uri="{FF2B5EF4-FFF2-40B4-BE49-F238E27FC236}">
                  <a16:creationId xmlns:a16="http://schemas.microsoft.com/office/drawing/2014/main" id="{44A51CA4-F6E3-D55A-B200-3EE7A9463ACF}"/>
                </a:ext>
              </a:extLst>
            </p:cNvPr>
            <p:cNvSpPr/>
            <p:nvPr/>
          </p:nvSpPr>
          <p:spPr>
            <a:xfrm>
              <a:off x="5330223" y="1581053"/>
              <a:ext cx="1691948" cy="912323"/>
            </a:xfrm>
            <a:prstGeom prst="round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48" name="TextBox 47">
              <a:extLst>
                <a:ext uri="{FF2B5EF4-FFF2-40B4-BE49-F238E27FC236}">
                  <a16:creationId xmlns:a16="http://schemas.microsoft.com/office/drawing/2014/main" id="{A36F2834-3BBC-6548-E001-9E706F55E22F}"/>
                </a:ext>
              </a:extLst>
            </p:cNvPr>
            <p:cNvSpPr txBox="1"/>
            <p:nvPr/>
          </p:nvSpPr>
          <p:spPr>
            <a:xfrm>
              <a:off x="5414199" y="1672338"/>
              <a:ext cx="1529265" cy="176908"/>
            </a:xfrm>
            <a:prstGeom prst="rect">
              <a:avLst/>
            </a:prstGeom>
            <a:noFill/>
          </p:spPr>
          <p:txBody>
            <a:bodyPr wrap="none" lIns="0" tIns="0" rIns="0" bIns="0" rtlCol="0">
              <a:spAutoFit/>
            </a:bodyPr>
            <a:lstStyle/>
            <a:p>
              <a:pPr algn="ctr">
                <a:lnSpc>
                  <a:spcPct val="114000"/>
                </a:lnSpc>
              </a:pPr>
              <a:r>
                <a:rPr lang="en-US" sz="1100" dirty="0">
                  <a:latin typeface="+mn-lt"/>
                </a:rPr>
                <a:t>Full-scale Dataset(300k)</a:t>
              </a:r>
            </a:p>
          </p:txBody>
        </p:sp>
        <p:pic>
          <p:nvPicPr>
            <p:cNvPr id="49" name="Graphic 48" descr="Database outline">
              <a:extLst>
                <a:ext uri="{FF2B5EF4-FFF2-40B4-BE49-F238E27FC236}">
                  <a16:creationId xmlns:a16="http://schemas.microsoft.com/office/drawing/2014/main" id="{93D8CA63-5A9E-08AE-E388-92598A0106D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473993" y="1882899"/>
              <a:ext cx="429819" cy="429819"/>
            </a:xfrm>
            <a:prstGeom prst="rect">
              <a:avLst/>
            </a:prstGeom>
          </p:spPr>
        </p:pic>
        <p:pic>
          <p:nvPicPr>
            <p:cNvPr id="50" name="Graphic 49" descr="Document outline">
              <a:extLst>
                <a:ext uri="{FF2B5EF4-FFF2-40B4-BE49-F238E27FC236}">
                  <a16:creationId xmlns:a16="http://schemas.microsoft.com/office/drawing/2014/main" id="{8ABF74D1-D010-163F-B715-63BAD424B9F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876559" y="1892708"/>
              <a:ext cx="410199" cy="410199"/>
            </a:xfrm>
            <a:prstGeom prst="rect">
              <a:avLst/>
            </a:prstGeom>
          </p:spPr>
        </p:pic>
        <p:pic>
          <p:nvPicPr>
            <p:cNvPr id="51" name="Graphic 50" descr="Table outline">
              <a:extLst>
                <a:ext uri="{FF2B5EF4-FFF2-40B4-BE49-F238E27FC236}">
                  <a16:creationId xmlns:a16="http://schemas.microsoft.com/office/drawing/2014/main" id="{5B7DB912-B9BD-96A2-7409-2763BD44EDB4}"/>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274881" y="1811272"/>
              <a:ext cx="575738" cy="575738"/>
            </a:xfrm>
            <a:prstGeom prst="rect">
              <a:avLst/>
            </a:prstGeom>
          </p:spPr>
        </p:pic>
      </p:grpSp>
      <p:sp>
        <p:nvSpPr>
          <p:cNvPr id="52" name="TextBox 51">
            <a:extLst>
              <a:ext uri="{FF2B5EF4-FFF2-40B4-BE49-F238E27FC236}">
                <a16:creationId xmlns:a16="http://schemas.microsoft.com/office/drawing/2014/main" id="{162AD53A-A8A6-45C3-5DAE-92C459883901}"/>
              </a:ext>
            </a:extLst>
          </p:cNvPr>
          <p:cNvSpPr txBox="1"/>
          <p:nvPr/>
        </p:nvSpPr>
        <p:spPr>
          <a:xfrm>
            <a:off x="6377638" y="4543849"/>
            <a:ext cx="724557" cy="192938"/>
          </a:xfrm>
          <a:prstGeom prst="rect">
            <a:avLst/>
          </a:prstGeom>
          <a:noFill/>
        </p:spPr>
        <p:txBody>
          <a:bodyPr wrap="none" lIns="0" tIns="0" rIns="0" bIns="0" rtlCol="0">
            <a:spAutoFit/>
          </a:bodyPr>
          <a:lstStyle/>
          <a:p>
            <a:pPr>
              <a:lnSpc>
                <a:spcPct val="114000"/>
              </a:lnSpc>
            </a:pPr>
            <a:r>
              <a:rPr lang="en-US" sz="1200" dirty="0">
                <a:latin typeface="+mn-lt"/>
              </a:rPr>
              <a:t>Sample 5k</a:t>
            </a:r>
          </a:p>
        </p:txBody>
      </p:sp>
      <p:grpSp>
        <p:nvGrpSpPr>
          <p:cNvPr id="53" name="Group 52">
            <a:extLst>
              <a:ext uri="{FF2B5EF4-FFF2-40B4-BE49-F238E27FC236}">
                <a16:creationId xmlns:a16="http://schemas.microsoft.com/office/drawing/2014/main" id="{455A99BF-535D-E0B3-DCCF-73411A38F49E}"/>
              </a:ext>
            </a:extLst>
          </p:cNvPr>
          <p:cNvGrpSpPr/>
          <p:nvPr/>
        </p:nvGrpSpPr>
        <p:grpSpPr>
          <a:xfrm>
            <a:off x="7044963" y="3640264"/>
            <a:ext cx="1493572" cy="777041"/>
            <a:chOff x="5501494" y="3187700"/>
            <a:chExt cx="1493572" cy="777041"/>
          </a:xfrm>
        </p:grpSpPr>
        <p:sp>
          <p:nvSpPr>
            <p:cNvPr id="54" name="Rounded Rectangle 53">
              <a:extLst>
                <a:ext uri="{FF2B5EF4-FFF2-40B4-BE49-F238E27FC236}">
                  <a16:creationId xmlns:a16="http://schemas.microsoft.com/office/drawing/2014/main" id="{B730AD1A-D612-3BD1-DEE6-6C9867AF65C6}"/>
                </a:ext>
              </a:extLst>
            </p:cNvPr>
            <p:cNvSpPr/>
            <p:nvPr/>
          </p:nvSpPr>
          <p:spPr>
            <a:xfrm>
              <a:off x="5533950" y="3187700"/>
              <a:ext cx="1372240" cy="777041"/>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pic>
          <p:nvPicPr>
            <p:cNvPr id="55" name="Graphic 54" descr="Programmer male with solid fill">
              <a:extLst>
                <a:ext uri="{FF2B5EF4-FFF2-40B4-BE49-F238E27FC236}">
                  <a16:creationId xmlns:a16="http://schemas.microsoft.com/office/drawing/2014/main" id="{8DB695D2-6378-2F10-8724-35B5322B2195}"/>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745597" y="3501829"/>
              <a:ext cx="391280" cy="391280"/>
            </a:xfrm>
            <a:prstGeom prst="rect">
              <a:avLst/>
            </a:prstGeom>
          </p:spPr>
        </p:pic>
        <p:pic>
          <p:nvPicPr>
            <p:cNvPr id="56" name="Graphic 55" descr="Programmer male outline">
              <a:extLst>
                <a:ext uri="{FF2B5EF4-FFF2-40B4-BE49-F238E27FC236}">
                  <a16:creationId xmlns:a16="http://schemas.microsoft.com/office/drawing/2014/main" id="{E81A7BD3-E1F2-40EB-5663-419752310F3B}"/>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246356" y="3507783"/>
              <a:ext cx="385325" cy="385325"/>
            </a:xfrm>
            <a:prstGeom prst="rect">
              <a:avLst/>
            </a:prstGeom>
          </p:spPr>
        </p:pic>
        <p:sp>
          <p:nvSpPr>
            <p:cNvPr id="57" name="TextBox 56">
              <a:extLst>
                <a:ext uri="{FF2B5EF4-FFF2-40B4-BE49-F238E27FC236}">
                  <a16:creationId xmlns:a16="http://schemas.microsoft.com/office/drawing/2014/main" id="{A014C80E-4323-08DB-BF8E-9754C4F3938D}"/>
                </a:ext>
              </a:extLst>
            </p:cNvPr>
            <p:cNvSpPr txBox="1"/>
            <p:nvPr/>
          </p:nvSpPr>
          <p:spPr>
            <a:xfrm>
              <a:off x="5501494" y="3279887"/>
              <a:ext cx="1493572" cy="176908"/>
            </a:xfrm>
            <a:prstGeom prst="rect">
              <a:avLst/>
            </a:prstGeom>
            <a:noFill/>
          </p:spPr>
          <p:txBody>
            <a:bodyPr wrap="square" lIns="0" tIns="0" rIns="0" bIns="0" rtlCol="0">
              <a:spAutoFit/>
            </a:bodyPr>
            <a:lstStyle/>
            <a:p>
              <a:pPr algn="ctr">
                <a:lnSpc>
                  <a:spcPct val="114000"/>
                </a:lnSpc>
              </a:pPr>
              <a:r>
                <a:rPr lang="en-US" sz="1100" dirty="0">
                  <a:latin typeface="+mn-lt"/>
                </a:rPr>
                <a:t>Human Annotation</a:t>
              </a:r>
            </a:p>
          </p:txBody>
        </p:sp>
      </p:grpSp>
      <p:sp>
        <p:nvSpPr>
          <p:cNvPr id="58" name="Right Arrow 57">
            <a:extLst>
              <a:ext uri="{FF2B5EF4-FFF2-40B4-BE49-F238E27FC236}">
                <a16:creationId xmlns:a16="http://schemas.microsoft.com/office/drawing/2014/main" id="{5CA95B47-83B7-90E4-24BF-E29FD20A7209}"/>
              </a:ext>
            </a:extLst>
          </p:cNvPr>
          <p:cNvSpPr/>
          <p:nvPr/>
        </p:nvSpPr>
        <p:spPr>
          <a:xfrm>
            <a:off x="6525247" y="3942839"/>
            <a:ext cx="450814" cy="216843"/>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cxnSp>
        <p:nvCxnSpPr>
          <p:cNvPr id="59" name="Straight Arrow Connector 58">
            <a:extLst>
              <a:ext uri="{FF2B5EF4-FFF2-40B4-BE49-F238E27FC236}">
                <a16:creationId xmlns:a16="http://schemas.microsoft.com/office/drawing/2014/main" id="{C49C7263-B095-16B8-BA8B-6B9103927A83}"/>
              </a:ext>
            </a:extLst>
          </p:cNvPr>
          <p:cNvCxnSpPr>
            <a:cxnSpLocks/>
          </p:cNvCxnSpPr>
          <p:nvPr/>
        </p:nvCxnSpPr>
        <p:spPr>
          <a:xfrm>
            <a:off x="6715140" y="4094242"/>
            <a:ext cx="0" cy="4164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7" name="Date Placeholder 3">
            <a:extLst>
              <a:ext uri="{FF2B5EF4-FFF2-40B4-BE49-F238E27FC236}">
                <a16:creationId xmlns:a16="http://schemas.microsoft.com/office/drawing/2014/main" id="{78DC8FBD-DFF7-0484-9120-B22FE373EDA5}"/>
              </a:ext>
            </a:extLst>
          </p:cNvPr>
          <p:cNvSpPr txBox="1">
            <a:spLocks/>
          </p:cNvSpPr>
          <p:nvPr/>
        </p:nvSpPr>
        <p:spPr>
          <a:xfrm>
            <a:off x="25673" y="4922595"/>
            <a:ext cx="811609" cy="22090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gn="l" rtl="0" eaLnBrk="1" fontAlgn="base" hangingPunct="1">
              <a:lnSpc>
                <a:spcPct val="150000"/>
              </a:lnSpc>
              <a:spcBef>
                <a:spcPct val="0"/>
              </a:spcBef>
              <a:spcAft>
                <a:spcPct val="0"/>
              </a:spcAft>
              <a:defRPr lang="de-DE" sz="1400" kern="1200" baseline="0" noProof="0" dirty="0" smtClean="0">
                <a:solidFill>
                  <a:schemeClr val="tx1"/>
                </a:solidFill>
                <a:latin typeface="+mn-lt"/>
                <a:ea typeface="+mn-ea"/>
                <a:cs typeface="+mn-cs"/>
              </a:defRPr>
            </a:lvl1pPr>
            <a:lvl2pPr marL="176213" indent="-176213" algn="l" rtl="0" eaLnBrk="1" fontAlgn="base" hangingPunct="1">
              <a:lnSpc>
                <a:spcPct val="100000"/>
              </a:lnSpc>
              <a:spcBef>
                <a:spcPct val="0"/>
              </a:spcBef>
              <a:spcAft>
                <a:spcPct val="0"/>
              </a:spcAft>
              <a:buFont typeface="Arial" charset="0"/>
              <a:buChar char="•"/>
              <a:defRPr lang="de-DE" sz="1600" kern="1200" noProof="0" dirty="0" smtClean="0">
                <a:solidFill>
                  <a:schemeClr val="tx1"/>
                </a:solidFill>
                <a:latin typeface="+mn-lt"/>
                <a:ea typeface="+mn-ea"/>
                <a:cs typeface="+mn-cs"/>
              </a:defRPr>
            </a:lvl2pPr>
            <a:lvl3pPr marL="360363" indent="-184150"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fld id="{E6E0805E-65D9-544D-8805-556D80FFC742}" type="datetime1">
              <a:rPr lang="en-US" sz="1000" smtClean="0">
                <a:solidFill>
                  <a:schemeClr val="bg1">
                    <a:lumMod val="85000"/>
                  </a:schemeClr>
                </a:solidFill>
              </a:rPr>
              <a:pPr/>
              <a:t>12/7/25</a:t>
            </a:fld>
            <a:endParaRPr lang="en-US" sz="1000" dirty="0">
              <a:solidFill>
                <a:schemeClr val="bg1">
                  <a:lumMod val="85000"/>
                </a:schemeClr>
              </a:solidFill>
            </a:endParaRPr>
          </a:p>
        </p:txBody>
      </p:sp>
      <p:sp>
        <p:nvSpPr>
          <p:cNvPr id="3" name="Footer Placeholder 4">
            <a:extLst>
              <a:ext uri="{FF2B5EF4-FFF2-40B4-BE49-F238E27FC236}">
                <a16:creationId xmlns:a16="http://schemas.microsoft.com/office/drawing/2014/main" id="{6AE1CF96-B10C-026E-23DB-84056D92E478}"/>
              </a:ext>
            </a:extLst>
          </p:cNvPr>
          <p:cNvSpPr txBox="1">
            <a:spLocks/>
          </p:cNvSpPr>
          <p:nvPr/>
        </p:nvSpPr>
        <p:spPr>
          <a:xfrm>
            <a:off x="2394860" y="4787044"/>
            <a:ext cx="4482901" cy="360210"/>
          </a:xfrm>
          <a:prstGeom prst="rect">
            <a:avLst/>
          </a:prstGeom>
        </p:spPr>
        <p:txBody>
          <a:bodyPr/>
          <a:ls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lgn="ctr"/>
            <a:br>
              <a:rPr lang="en-US" sz="1000" dirty="0">
                <a:solidFill>
                  <a:schemeClr val="bg1">
                    <a:lumMod val="85000"/>
                  </a:schemeClr>
                </a:solidFill>
              </a:rPr>
            </a:br>
            <a:r>
              <a:rPr lang="en-US" sz="1000" dirty="0">
                <a:solidFill>
                  <a:schemeClr val="bg1">
                    <a:lumMod val="85000"/>
                  </a:schemeClr>
                </a:solidFill>
              </a:rPr>
              <a:t>Algorithmic Decision Making: Metaheuristics and Decomposition in Practice</a:t>
            </a:r>
          </a:p>
        </p:txBody>
      </p:sp>
    </p:spTree>
    <p:extLst>
      <p:ext uri="{BB962C8B-B14F-4D97-AF65-F5344CB8AC3E}">
        <p14:creationId xmlns:p14="http://schemas.microsoft.com/office/powerpoint/2010/main" val="3787610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1" nodeType="clickEffect">
                                  <p:stCondLst>
                                    <p:cond delay="0"/>
                                  </p:stCondLst>
                                  <p:childTnLst>
                                    <p:set>
                                      <p:cBhvr>
                                        <p:cTn id="32" dur="1" fill="hold">
                                          <p:stCondLst>
                                            <p:cond delay="0"/>
                                          </p:stCondLst>
                                        </p:cTn>
                                        <p:tgtEl>
                                          <p:spTgt spid="5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6"/>
                                        </p:tgtEl>
                                        <p:attrNameLst>
                                          <p:attrName>style.visibility</p:attrName>
                                        </p:attrNameLst>
                                      </p:cBhvr>
                                      <p:to>
                                        <p:strVal val="visible"/>
                                      </p:to>
                                    </p:set>
                                  </p:childTnLst>
                                </p:cTn>
                              </p:par>
                              <p:par>
                                <p:cTn id="37" presetID="1" presetClass="entr" presetSubtype="0" fill="hold" grpId="1" nodeType="withEffect">
                                  <p:stCondLst>
                                    <p:cond delay="0"/>
                                  </p:stCondLst>
                                  <p:childTnLst>
                                    <p:set>
                                      <p:cBhvr>
                                        <p:cTn id="38" dur="1" fill="hold">
                                          <p:stCondLst>
                                            <p:cond delay="0"/>
                                          </p:stCondLst>
                                        </p:cTn>
                                        <p:tgtEl>
                                          <p:spTgt spid="5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35" grpId="0" animBg="1"/>
      <p:bldP spid="44" grpId="0"/>
      <p:bldP spid="45" grpId="0" animBg="1"/>
      <p:bldP spid="52" grpId="1"/>
      <p:bldP spid="58" grpId="1"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BEDD8EA-09B3-3F30-F9FF-7624362C0E3C}"/>
              </a:ext>
            </a:extLst>
          </p:cNvPr>
          <p:cNvSpPr>
            <a:spLocks noGrp="1"/>
          </p:cNvSpPr>
          <p:nvPr>
            <p:ph type="title"/>
          </p:nvPr>
        </p:nvSpPr>
        <p:spPr>
          <a:xfrm>
            <a:off x="319090" y="972000"/>
            <a:ext cx="8508999" cy="380745"/>
          </a:xfrm>
        </p:spPr>
        <p:txBody>
          <a:bodyPr/>
          <a:lstStyle/>
          <a:p>
            <a:r>
              <a:rPr lang="en-US" dirty="0"/>
              <a:t>VCP Fine-tuning</a:t>
            </a:r>
          </a:p>
        </p:txBody>
      </p:sp>
      <p:sp>
        <p:nvSpPr>
          <p:cNvPr id="4" name="Slide Number Placeholder 3">
            <a:extLst>
              <a:ext uri="{FF2B5EF4-FFF2-40B4-BE49-F238E27FC236}">
                <a16:creationId xmlns:a16="http://schemas.microsoft.com/office/drawing/2014/main" id="{B531041F-3EDD-688C-8DEE-21E639DEDA0F}"/>
              </a:ext>
            </a:extLst>
          </p:cNvPr>
          <p:cNvSpPr>
            <a:spLocks noGrp="1"/>
          </p:cNvSpPr>
          <p:nvPr>
            <p:ph type="sldNum" sz="quarter" idx="11"/>
          </p:nvPr>
        </p:nvSpPr>
        <p:spPr/>
        <p:txBody>
          <a:bodyPr/>
          <a:lstStyle/>
          <a:p>
            <a:fld id="{CE58CB1E-F828-4F11-99E0-327109AF9DA4}" type="slidenum">
              <a:rPr lang="de-DE" smtClean="0"/>
              <a:pPr/>
              <a:t>8</a:t>
            </a:fld>
            <a:endParaRPr lang="de-DE" dirty="0"/>
          </a:p>
        </p:txBody>
      </p:sp>
      <p:sp>
        <p:nvSpPr>
          <p:cNvPr id="10" name="Rectangle 9">
            <a:extLst>
              <a:ext uri="{FF2B5EF4-FFF2-40B4-BE49-F238E27FC236}">
                <a16:creationId xmlns:a16="http://schemas.microsoft.com/office/drawing/2014/main" id="{ACF1303B-D2DA-60B7-FC88-01ECD01870FE}"/>
              </a:ext>
            </a:extLst>
          </p:cNvPr>
          <p:cNvSpPr/>
          <p:nvPr/>
        </p:nvSpPr>
        <p:spPr>
          <a:xfrm>
            <a:off x="0" y="252983"/>
            <a:ext cx="1577591" cy="380745"/>
          </a:xfrm>
          <a:prstGeom prst="rect">
            <a:avLst/>
          </a:prstGeom>
          <a:solidFill>
            <a:srgbClr val="0064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nSpc>
                <a:spcPct val="114000"/>
              </a:lnSpc>
            </a:pPr>
            <a:r>
              <a:rPr lang="en-US" dirty="0"/>
              <a:t>Approach</a:t>
            </a:r>
          </a:p>
        </p:txBody>
      </p:sp>
      <p:sp>
        <p:nvSpPr>
          <p:cNvPr id="13" name="Oval 12">
            <a:extLst>
              <a:ext uri="{FF2B5EF4-FFF2-40B4-BE49-F238E27FC236}">
                <a16:creationId xmlns:a16="http://schemas.microsoft.com/office/drawing/2014/main" id="{F1A95856-BD9A-73B6-9F25-F2DE5E4C109C}"/>
              </a:ext>
            </a:extLst>
          </p:cNvPr>
          <p:cNvSpPr/>
          <p:nvPr/>
        </p:nvSpPr>
        <p:spPr>
          <a:xfrm>
            <a:off x="1666163" y="503434"/>
            <a:ext cx="130294" cy="130294"/>
          </a:xfrm>
          <a:prstGeom prst="ellipse">
            <a:avLst/>
          </a:prstGeom>
          <a:solidFill>
            <a:srgbClr val="0063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15" name="Oval 14">
            <a:extLst>
              <a:ext uri="{FF2B5EF4-FFF2-40B4-BE49-F238E27FC236}">
                <a16:creationId xmlns:a16="http://schemas.microsoft.com/office/drawing/2014/main" id="{BD560A50-58B5-8AF7-8287-669DE71AEA34}"/>
              </a:ext>
            </a:extLst>
          </p:cNvPr>
          <p:cNvSpPr/>
          <p:nvPr/>
        </p:nvSpPr>
        <p:spPr>
          <a:xfrm>
            <a:off x="2172085" y="503434"/>
            <a:ext cx="130294" cy="130294"/>
          </a:xfrm>
          <a:prstGeom prst="ellipse">
            <a:avLst/>
          </a:prstGeom>
          <a:noFill/>
          <a:ln w="12700">
            <a:solidFill>
              <a:srgbClr val="0063BD"/>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16" name="Oval 15">
            <a:extLst>
              <a:ext uri="{FF2B5EF4-FFF2-40B4-BE49-F238E27FC236}">
                <a16:creationId xmlns:a16="http://schemas.microsoft.com/office/drawing/2014/main" id="{F705F2D7-B351-EABC-3D2C-93308A26E23A}"/>
              </a:ext>
            </a:extLst>
          </p:cNvPr>
          <p:cNvSpPr/>
          <p:nvPr/>
        </p:nvSpPr>
        <p:spPr>
          <a:xfrm>
            <a:off x="2425046" y="503434"/>
            <a:ext cx="130294" cy="130294"/>
          </a:xfrm>
          <a:prstGeom prst="ellipse">
            <a:avLst/>
          </a:prstGeom>
          <a:noFill/>
          <a:ln w="12700">
            <a:solidFill>
              <a:srgbClr val="0063BD"/>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17" name="Oval 16">
            <a:extLst>
              <a:ext uri="{FF2B5EF4-FFF2-40B4-BE49-F238E27FC236}">
                <a16:creationId xmlns:a16="http://schemas.microsoft.com/office/drawing/2014/main" id="{061078F1-AF81-4ECB-6341-588D4EB5C01B}"/>
              </a:ext>
            </a:extLst>
          </p:cNvPr>
          <p:cNvSpPr/>
          <p:nvPr/>
        </p:nvSpPr>
        <p:spPr>
          <a:xfrm>
            <a:off x="1919124" y="503434"/>
            <a:ext cx="130294" cy="130294"/>
          </a:xfrm>
          <a:prstGeom prst="ellipse">
            <a:avLst/>
          </a:prstGeom>
          <a:solidFill>
            <a:srgbClr val="0063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cxnSp>
        <p:nvCxnSpPr>
          <p:cNvPr id="18" name="Straight Connector 17">
            <a:extLst>
              <a:ext uri="{FF2B5EF4-FFF2-40B4-BE49-F238E27FC236}">
                <a16:creationId xmlns:a16="http://schemas.microsoft.com/office/drawing/2014/main" id="{8440656D-4F74-182F-3F45-D978A7DFABC0}"/>
              </a:ext>
            </a:extLst>
          </p:cNvPr>
          <p:cNvCxnSpPr>
            <a:cxnSpLocks/>
          </p:cNvCxnSpPr>
          <p:nvPr/>
        </p:nvCxnSpPr>
        <p:spPr>
          <a:xfrm>
            <a:off x="0" y="0"/>
            <a:ext cx="1577591"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62EF69E4-5E26-4A4A-6A13-EECDB82EE65A}"/>
              </a:ext>
            </a:extLst>
          </p:cNvPr>
          <p:cNvCxnSpPr>
            <a:cxnSpLocks/>
          </p:cNvCxnSpPr>
          <p:nvPr/>
        </p:nvCxnSpPr>
        <p:spPr>
          <a:xfrm>
            <a:off x="1513583" y="0"/>
            <a:ext cx="1577591"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0CDDD777-F982-1AEA-0BE4-560D5AEA5A91}"/>
              </a:ext>
            </a:extLst>
          </p:cNvPr>
          <p:cNvCxnSpPr>
            <a:cxnSpLocks/>
          </p:cNvCxnSpPr>
          <p:nvPr/>
        </p:nvCxnSpPr>
        <p:spPr>
          <a:xfrm>
            <a:off x="3091174" y="0"/>
            <a:ext cx="1577591"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9709C0A-3BAB-ECEB-7490-A1005077EB79}"/>
              </a:ext>
            </a:extLst>
          </p:cNvPr>
          <p:cNvCxnSpPr>
            <a:cxnSpLocks/>
          </p:cNvCxnSpPr>
          <p:nvPr/>
        </p:nvCxnSpPr>
        <p:spPr>
          <a:xfrm>
            <a:off x="4668765" y="0"/>
            <a:ext cx="1577591" cy="0"/>
          </a:xfrm>
          <a:prstGeom prst="line">
            <a:avLst/>
          </a:prstGeom>
          <a:ln w="25400"/>
        </p:spPr>
        <p:style>
          <a:lnRef idx="1">
            <a:schemeClr val="accent1"/>
          </a:lnRef>
          <a:fillRef idx="0">
            <a:schemeClr val="accent1"/>
          </a:fillRef>
          <a:effectRef idx="0">
            <a:schemeClr val="accent1"/>
          </a:effectRef>
          <a:fontRef idx="minor">
            <a:schemeClr val="tx1"/>
          </a:fontRef>
        </p:style>
      </p:cxnSp>
      <p:graphicFrame>
        <p:nvGraphicFramePr>
          <p:cNvPr id="75" name="Table 74">
            <a:extLst>
              <a:ext uri="{FF2B5EF4-FFF2-40B4-BE49-F238E27FC236}">
                <a16:creationId xmlns:a16="http://schemas.microsoft.com/office/drawing/2014/main" id="{BD4329F6-029D-7AF1-81BF-C8760ABF61D4}"/>
              </a:ext>
            </a:extLst>
          </p:cNvPr>
          <p:cNvGraphicFramePr>
            <a:graphicFrameLocks noGrp="1"/>
          </p:cNvGraphicFramePr>
          <p:nvPr>
            <p:extLst>
              <p:ext uri="{D42A27DB-BD31-4B8C-83A1-F6EECF244321}">
                <p14:modId xmlns:p14="http://schemas.microsoft.com/office/powerpoint/2010/main" val="1064613811"/>
              </p:ext>
            </p:extLst>
          </p:nvPr>
        </p:nvGraphicFramePr>
        <p:xfrm>
          <a:off x="521471" y="1605727"/>
          <a:ext cx="3347469" cy="872674"/>
        </p:xfrm>
        <a:graphic>
          <a:graphicData uri="http://schemas.openxmlformats.org/drawingml/2006/table">
            <a:tbl>
              <a:tblPr firstRow="1" firstCol="1" bandRow="1">
                <a:tableStyleId>{9D7B26C5-4107-4FEC-AEDC-1716B250A1EF}</a:tableStyleId>
              </a:tblPr>
              <a:tblGrid>
                <a:gridCol w="890453">
                  <a:extLst>
                    <a:ext uri="{9D8B030D-6E8A-4147-A177-3AD203B41FA5}">
                      <a16:colId xmlns:a16="http://schemas.microsoft.com/office/drawing/2014/main" val="1586629716"/>
                    </a:ext>
                  </a:extLst>
                </a:gridCol>
                <a:gridCol w="704094">
                  <a:extLst>
                    <a:ext uri="{9D8B030D-6E8A-4147-A177-3AD203B41FA5}">
                      <a16:colId xmlns:a16="http://schemas.microsoft.com/office/drawing/2014/main" val="3066029726"/>
                    </a:ext>
                  </a:extLst>
                </a:gridCol>
                <a:gridCol w="887730">
                  <a:extLst>
                    <a:ext uri="{9D8B030D-6E8A-4147-A177-3AD203B41FA5}">
                      <a16:colId xmlns:a16="http://schemas.microsoft.com/office/drawing/2014/main" val="756684971"/>
                    </a:ext>
                  </a:extLst>
                </a:gridCol>
                <a:gridCol w="865192">
                  <a:extLst>
                    <a:ext uri="{9D8B030D-6E8A-4147-A177-3AD203B41FA5}">
                      <a16:colId xmlns:a16="http://schemas.microsoft.com/office/drawing/2014/main" val="3602171042"/>
                    </a:ext>
                  </a:extLst>
                </a:gridCol>
              </a:tblGrid>
              <a:tr h="313188">
                <a:tc>
                  <a:txBody>
                    <a:bodyPr/>
                    <a:lstStyle/>
                    <a:p>
                      <a:r>
                        <a:rPr lang="en-US" sz="1100" dirty="0">
                          <a:latin typeface="Arial" panose="020B0604020202020204" pitchFamily="34" charset="0"/>
                          <a:cs typeface="Arial" panose="020B0604020202020204" pitchFamily="34" charset="0"/>
                        </a:rPr>
                        <a:t>Label</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r>
                        <a:rPr lang="en-US" sz="1100" dirty="0">
                          <a:latin typeface="Arial" panose="020B0604020202020204" pitchFamily="34" charset="0"/>
                          <a:cs typeface="Arial" panose="020B0604020202020204" pitchFamily="34" charset="0"/>
                        </a:rPr>
                        <a:t>Train</a:t>
                      </a:r>
                    </a:p>
                  </a:txBody>
                  <a:tcPr>
                    <a:lnT w="12700" cap="flat" cmpd="sng" algn="ctr">
                      <a:solidFill>
                        <a:schemeClr val="tx1"/>
                      </a:solidFill>
                      <a:prstDash val="solid"/>
                      <a:round/>
                      <a:headEnd type="none" w="med" len="med"/>
                      <a:tailEnd type="none" w="med" len="med"/>
                    </a:lnT>
                    <a:solidFill>
                      <a:schemeClr val="accent5">
                        <a:lumMod val="60000"/>
                        <a:lumOff val="40000"/>
                      </a:schemeClr>
                    </a:solidFill>
                  </a:tcPr>
                </a:tc>
                <a:tc>
                  <a:txBody>
                    <a:bodyPr/>
                    <a:lstStyle/>
                    <a:p>
                      <a:r>
                        <a:rPr lang="en-US" sz="1100" dirty="0">
                          <a:latin typeface="Arial" panose="020B0604020202020204" pitchFamily="34" charset="0"/>
                          <a:cs typeface="Arial" panose="020B0604020202020204" pitchFamily="34" charset="0"/>
                        </a:rPr>
                        <a:t>Validation</a:t>
                      </a:r>
                    </a:p>
                  </a:txBody>
                  <a:tcPr>
                    <a:lnT w="12700" cap="flat" cmpd="sng" algn="ctr">
                      <a:solidFill>
                        <a:schemeClr val="tx1"/>
                      </a:solidFill>
                      <a:prstDash val="solid"/>
                      <a:round/>
                      <a:headEnd type="none" w="med" len="med"/>
                      <a:tailEnd type="none" w="med" len="med"/>
                    </a:lnT>
                  </a:tcPr>
                </a:tc>
                <a:tc>
                  <a:txBody>
                    <a:bodyPr/>
                    <a:lstStyle/>
                    <a:p>
                      <a:r>
                        <a:rPr lang="en-US" sz="1100" dirty="0">
                          <a:latin typeface="Arial" panose="020B0604020202020204" pitchFamily="34" charset="0"/>
                          <a:cs typeface="Arial" panose="020B0604020202020204" pitchFamily="34" charset="0"/>
                        </a:rPr>
                        <a:t>Test</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4205102794"/>
                  </a:ext>
                </a:extLst>
              </a:tr>
              <a:tr h="279743">
                <a:tc>
                  <a:txBody>
                    <a:bodyPr/>
                    <a:lstStyle/>
                    <a:p>
                      <a:r>
                        <a:rPr lang="en-US" sz="1100" dirty="0">
                          <a:latin typeface="Arial" panose="020B0604020202020204" pitchFamily="34" charset="0"/>
                          <a:cs typeface="Arial" panose="020B0604020202020204" pitchFamily="34" charset="0"/>
                        </a:rPr>
                        <a:t>Valid</a:t>
                      </a:r>
                    </a:p>
                  </a:txBody>
                  <a:tcPr>
                    <a:lnL w="12700" cap="flat" cmpd="sng" algn="ctr">
                      <a:solidFill>
                        <a:schemeClr val="tx1"/>
                      </a:solidFill>
                      <a:prstDash val="solid"/>
                      <a:round/>
                      <a:headEnd type="none" w="med" len="med"/>
                      <a:tailEnd type="none" w="med" len="med"/>
                    </a:lnL>
                  </a:tcPr>
                </a:tc>
                <a:tc>
                  <a:txBody>
                    <a:bodyPr/>
                    <a:lstStyle/>
                    <a:p>
                      <a:r>
                        <a:rPr lang="en-US" sz="1100" dirty="0">
                          <a:latin typeface="Arial" panose="020B0604020202020204" pitchFamily="34" charset="0"/>
                          <a:cs typeface="Arial" panose="020B0604020202020204" pitchFamily="34" charset="0"/>
                        </a:rPr>
                        <a:t>1094</a:t>
                      </a:r>
                    </a:p>
                  </a:txBody>
                  <a:tcPr>
                    <a:solidFill>
                      <a:schemeClr val="accent5">
                        <a:lumMod val="60000"/>
                        <a:lumOff val="40000"/>
                      </a:schemeClr>
                    </a:solidFill>
                  </a:tcPr>
                </a:tc>
                <a:tc>
                  <a:txBody>
                    <a:bodyPr/>
                    <a:lstStyle/>
                    <a:p>
                      <a:r>
                        <a:rPr lang="en-US" sz="1100" dirty="0">
                          <a:latin typeface="Arial" panose="020B0604020202020204" pitchFamily="34" charset="0"/>
                          <a:cs typeface="Arial" panose="020B0604020202020204" pitchFamily="34" charset="0"/>
                        </a:rPr>
                        <a:t>135</a:t>
                      </a:r>
                    </a:p>
                  </a:txBody>
                  <a:tcPr/>
                </a:tc>
                <a:tc>
                  <a:txBody>
                    <a:bodyPr/>
                    <a:lstStyle/>
                    <a:p>
                      <a:r>
                        <a:rPr lang="en-US" sz="1100" dirty="0">
                          <a:latin typeface="Arial" panose="020B0604020202020204" pitchFamily="34" charset="0"/>
                          <a:cs typeface="Arial" panose="020B0604020202020204" pitchFamily="34" charset="0"/>
                        </a:rPr>
                        <a:t>127</a:t>
                      </a: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361921448"/>
                  </a:ext>
                </a:extLst>
              </a:tr>
              <a:tr h="279743">
                <a:tc>
                  <a:txBody>
                    <a:bodyPr/>
                    <a:lstStyle/>
                    <a:p>
                      <a:r>
                        <a:rPr lang="en-US" sz="1100" dirty="0">
                          <a:latin typeface="Arial" panose="020B0604020202020204" pitchFamily="34" charset="0"/>
                          <a:cs typeface="Arial" panose="020B0604020202020204" pitchFamily="34" charset="0"/>
                        </a:rPr>
                        <a:t>Invalid</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r>
                        <a:rPr lang="en-US" sz="1100" dirty="0">
                          <a:latin typeface="Arial" panose="020B0604020202020204" pitchFamily="34" charset="0"/>
                          <a:cs typeface="Arial" panose="020B0604020202020204" pitchFamily="34" charset="0"/>
                        </a:rPr>
                        <a:t>2906</a:t>
                      </a:r>
                    </a:p>
                  </a:txBody>
                  <a:tcPr>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r>
                        <a:rPr lang="en-US" sz="1100" dirty="0">
                          <a:latin typeface="Arial" panose="020B0604020202020204" pitchFamily="34" charset="0"/>
                          <a:cs typeface="Arial" panose="020B0604020202020204" pitchFamily="34" charset="0"/>
                        </a:rPr>
                        <a:t>365</a:t>
                      </a:r>
                    </a:p>
                  </a:txBody>
                  <a:tcPr>
                    <a:lnB w="12700" cap="flat" cmpd="sng" algn="ctr">
                      <a:solidFill>
                        <a:schemeClr val="tx1"/>
                      </a:solidFill>
                      <a:prstDash val="solid"/>
                      <a:round/>
                      <a:headEnd type="none" w="med" len="med"/>
                      <a:tailEnd type="none" w="med" len="med"/>
                    </a:lnB>
                  </a:tcPr>
                </a:tc>
                <a:tc>
                  <a:txBody>
                    <a:bodyPr/>
                    <a:lstStyle/>
                    <a:p>
                      <a:r>
                        <a:rPr lang="en-US" sz="1100" dirty="0">
                          <a:latin typeface="Arial" panose="020B0604020202020204" pitchFamily="34" charset="0"/>
                          <a:cs typeface="Arial" panose="020B0604020202020204" pitchFamily="34" charset="0"/>
                        </a:rPr>
                        <a:t>373</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09499438"/>
                  </a:ext>
                </a:extLst>
              </a:tr>
            </a:tbl>
          </a:graphicData>
        </a:graphic>
      </p:graphicFrame>
      <p:sp>
        <p:nvSpPr>
          <p:cNvPr id="97" name="Right Arrow 96">
            <a:extLst>
              <a:ext uri="{FF2B5EF4-FFF2-40B4-BE49-F238E27FC236}">
                <a16:creationId xmlns:a16="http://schemas.microsoft.com/office/drawing/2014/main" id="{07F7876D-F067-50A9-EEF5-847AA99F58AA}"/>
              </a:ext>
            </a:extLst>
          </p:cNvPr>
          <p:cNvSpPr/>
          <p:nvPr/>
        </p:nvSpPr>
        <p:spPr>
          <a:xfrm>
            <a:off x="1151388" y="3012726"/>
            <a:ext cx="1177200" cy="156296"/>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grpSp>
        <p:nvGrpSpPr>
          <p:cNvPr id="100" name="Group 99">
            <a:extLst>
              <a:ext uri="{FF2B5EF4-FFF2-40B4-BE49-F238E27FC236}">
                <a16:creationId xmlns:a16="http://schemas.microsoft.com/office/drawing/2014/main" id="{4A7A0126-03E7-1A79-6AA4-A69793A89D35}"/>
              </a:ext>
            </a:extLst>
          </p:cNvPr>
          <p:cNvGrpSpPr/>
          <p:nvPr/>
        </p:nvGrpSpPr>
        <p:grpSpPr>
          <a:xfrm>
            <a:off x="458470" y="2678627"/>
            <a:ext cx="698500" cy="1041016"/>
            <a:chOff x="5008528" y="1721106"/>
            <a:chExt cx="698500" cy="1041016"/>
          </a:xfrm>
        </p:grpSpPr>
        <p:pic>
          <p:nvPicPr>
            <p:cNvPr id="98" name="Picture 97">
              <a:extLst>
                <a:ext uri="{FF2B5EF4-FFF2-40B4-BE49-F238E27FC236}">
                  <a16:creationId xmlns:a16="http://schemas.microsoft.com/office/drawing/2014/main" id="{524D72D5-3C7C-D03C-E069-C445501E76F8}"/>
                </a:ext>
              </a:extLst>
            </p:cNvPr>
            <p:cNvPicPr>
              <a:picLocks noChangeAspect="1"/>
            </p:cNvPicPr>
            <p:nvPr/>
          </p:nvPicPr>
          <p:blipFill>
            <a:blip r:embed="rId3"/>
            <a:stretch>
              <a:fillRect/>
            </a:stretch>
          </p:blipFill>
          <p:spPr>
            <a:xfrm>
              <a:off x="5072028" y="1721106"/>
              <a:ext cx="635000" cy="647700"/>
            </a:xfrm>
            <a:prstGeom prst="rect">
              <a:avLst/>
            </a:prstGeom>
          </p:spPr>
        </p:pic>
        <p:sp>
          <p:nvSpPr>
            <p:cNvPr id="99" name="TextBox 98">
              <a:extLst>
                <a:ext uri="{FF2B5EF4-FFF2-40B4-BE49-F238E27FC236}">
                  <a16:creationId xmlns:a16="http://schemas.microsoft.com/office/drawing/2014/main" id="{77D8DAA0-C6F2-03D7-C35D-323ADB4514F2}"/>
                </a:ext>
              </a:extLst>
            </p:cNvPr>
            <p:cNvSpPr txBox="1"/>
            <p:nvPr/>
          </p:nvSpPr>
          <p:spPr>
            <a:xfrm>
              <a:off x="5008528" y="2381377"/>
              <a:ext cx="635000" cy="380745"/>
            </a:xfrm>
            <a:prstGeom prst="rect">
              <a:avLst/>
            </a:prstGeom>
            <a:noFill/>
          </p:spPr>
          <p:txBody>
            <a:bodyPr wrap="square" lIns="0" tIns="0" rIns="0" bIns="0" rtlCol="0">
              <a:spAutoFit/>
            </a:bodyPr>
            <a:lstStyle/>
            <a:p>
              <a:pPr algn="ctr">
                <a:lnSpc>
                  <a:spcPct val="114000"/>
                </a:lnSpc>
              </a:pPr>
              <a:r>
                <a:rPr lang="en-US" sz="1100" dirty="0">
                  <a:latin typeface="+mn-lt"/>
                </a:rPr>
                <a:t>Original</a:t>
              </a:r>
            </a:p>
            <a:p>
              <a:pPr algn="ctr">
                <a:lnSpc>
                  <a:spcPct val="114000"/>
                </a:lnSpc>
              </a:pPr>
              <a:r>
                <a:rPr lang="en-US" sz="1100" dirty="0">
                  <a:latin typeface="+mn-lt"/>
                </a:rPr>
                <a:t>LLM</a:t>
              </a:r>
            </a:p>
          </p:txBody>
        </p:sp>
      </p:grpSp>
      <p:grpSp>
        <p:nvGrpSpPr>
          <p:cNvPr id="106" name="Group 105">
            <a:extLst>
              <a:ext uri="{FF2B5EF4-FFF2-40B4-BE49-F238E27FC236}">
                <a16:creationId xmlns:a16="http://schemas.microsoft.com/office/drawing/2014/main" id="{AE7A339D-BABC-5F5C-3AAF-32C0304D73BF}"/>
              </a:ext>
            </a:extLst>
          </p:cNvPr>
          <p:cNvGrpSpPr/>
          <p:nvPr/>
        </p:nvGrpSpPr>
        <p:grpSpPr>
          <a:xfrm>
            <a:off x="2388224" y="2695569"/>
            <a:ext cx="824875" cy="1034912"/>
            <a:chOff x="4997169" y="1721106"/>
            <a:chExt cx="824875" cy="1034912"/>
          </a:xfrm>
        </p:grpSpPr>
        <p:pic>
          <p:nvPicPr>
            <p:cNvPr id="107" name="Picture 106">
              <a:extLst>
                <a:ext uri="{FF2B5EF4-FFF2-40B4-BE49-F238E27FC236}">
                  <a16:creationId xmlns:a16="http://schemas.microsoft.com/office/drawing/2014/main" id="{9CB1679C-CE76-C2E5-A92D-699CC8DEDA78}"/>
                </a:ext>
              </a:extLst>
            </p:cNvPr>
            <p:cNvPicPr>
              <a:picLocks noChangeAspect="1"/>
            </p:cNvPicPr>
            <p:nvPr/>
          </p:nvPicPr>
          <p:blipFill>
            <a:blip r:embed="rId3"/>
            <a:stretch>
              <a:fillRect/>
            </a:stretch>
          </p:blipFill>
          <p:spPr>
            <a:xfrm>
              <a:off x="5072028" y="1721106"/>
              <a:ext cx="635000" cy="647700"/>
            </a:xfrm>
            <a:prstGeom prst="rect">
              <a:avLst/>
            </a:prstGeom>
          </p:spPr>
        </p:pic>
        <p:sp>
          <p:nvSpPr>
            <p:cNvPr id="108" name="TextBox 107">
              <a:extLst>
                <a:ext uri="{FF2B5EF4-FFF2-40B4-BE49-F238E27FC236}">
                  <a16:creationId xmlns:a16="http://schemas.microsoft.com/office/drawing/2014/main" id="{D6D2B8F9-829E-6857-F299-98D6686CCF9C}"/>
                </a:ext>
              </a:extLst>
            </p:cNvPr>
            <p:cNvSpPr txBox="1"/>
            <p:nvPr/>
          </p:nvSpPr>
          <p:spPr>
            <a:xfrm>
              <a:off x="4997169" y="2375272"/>
              <a:ext cx="824875" cy="380746"/>
            </a:xfrm>
            <a:prstGeom prst="rect">
              <a:avLst/>
            </a:prstGeom>
            <a:noFill/>
          </p:spPr>
          <p:txBody>
            <a:bodyPr wrap="square" lIns="0" tIns="0" rIns="0" bIns="0" rtlCol="0">
              <a:spAutoFit/>
            </a:bodyPr>
            <a:lstStyle/>
            <a:p>
              <a:pPr algn="ctr">
                <a:lnSpc>
                  <a:spcPct val="114000"/>
                </a:lnSpc>
              </a:pPr>
              <a:r>
                <a:rPr lang="en-US" sz="1100" dirty="0">
                  <a:latin typeface="+mn-lt"/>
                </a:rPr>
                <a:t>Fine-tuned</a:t>
              </a:r>
            </a:p>
            <a:p>
              <a:pPr algn="ctr">
                <a:lnSpc>
                  <a:spcPct val="114000"/>
                </a:lnSpc>
              </a:pPr>
              <a:r>
                <a:rPr lang="en-US" sz="1100" dirty="0">
                  <a:latin typeface="+mn-lt"/>
                </a:rPr>
                <a:t>LLM(</a:t>
              </a:r>
              <a:r>
                <a:rPr lang="en-US" sz="1100" dirty="0" err="1">
                  <a:latin typeface="+mn-lt"/>
                </a:rPr>
                <a:t>SOUP</a:t>
              </a:r>
              <a:r>
                <a:rPr lang="en-US" sz="1100" baseline="-25000" dirty="0" err="1">
                  <a:latin typeface="+mn-lt"/>
                </a:rPr>
                <a:t>p</a:t>
              </a:r>
              <a:r>
                <a:rPr lang="en-US" sz="1100" dirty="0">
                  <a:latin typeface="+mn-lt"/>
                </a:rPr>
                <a:t>)</a:t>
              </a:r>
            </a:p>
          </p:txBody>
        </p:sp>
      </p:grpSp>
      <p:sp>
        <p:nvSpPr>
          <p:cNvPr id="111" name="Right Arrow 110">
            <a:extLst>
              <a:ext uri="{FF2B5EF4-FFF2-40B4-BE49-F238E27FC236}">
                <a16:creationId xmlns:a16="http://schemas.microsoft.com/office/drawing/2014/main" id="{02B8FA6F-90FA-A3D3-B746-EDF895D38D68}"/>
              </a:ext>
            </a:extLst>
          </p:cNvPr>
          <p:cNvSpPr/>
          <p:nvPr/>
        </p:nvSpPr>
        <p:spPr>
          <a:xfrm rot="5400000">
            <a:off x="1563092" y="2707847"/>
            <a:ext cx="503975" cy="111476"/>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112" name="TextBox 111">
            <a:extLst>
              <a:ext uri="{FF2B5EF4-FFF2-40B4-BE49-F238E27FC236}">
                <a16:creationId xmlns:a16="http://schemas.microsoft.com/office/drawing/2014/main" id="{87194433-D092-2A83-F239-19534215C888}"/>
              </a:ext>
            </a:extLst>
          </p:cNvPr>
          <p:cNvSpPr txBox="1"/>
          <p:nvPr/>
        </p:nvSpPr>
        <p:spPr>
          <a:xfrm>
            <a:off x="1203437" y="3202218"/>
            <a:ext cx="1041952" cy="176908"/>
          </a:xfrm>
          <a:prstGeom prst="rect">
            <a:avLst/>
          </a:prstGeom>
          <a:noFill/>
        </p:spPr>
        <p:txBody>
          <a:bodyPr wrap="none" lIns="0" tIns="0" rIns="0" bIns="0" rtlCol="0">
            <a:spAutoFit/>
          </a:bodyPr>
          <a:lstStyle/>
          <a:p>
            <a:pPr>
              <a:lnSpc>
                <a:spcPct val="114000"/>
              </a:lnSpc>
            </a:pPr>
            <a:r>
              <a:rPr lang="en-US" sz="1100" dirty="0">
                <a:latin typeface="+mn-lt"/>
              </a:rPr>
              <a:t>Prompt Learning</a:t>
            </a:r>
          </a:p>
        </p:txBody>
      </p:sp>
      <p:sp>
        <p:nvSpPr>
          <p:cNvPr id="185" name="TextBox 184">
            <a:extLst>
              <a:ext uri="{FF2B5EF4-FFF2-40B4-BE49-F238E27FC236}">
                <a16:creationId xmlns:a16="http://schemas.microsoft.com/office/drawing/2014/main" id="{8D090F6B-471B-716D-4642-637BE7E4DAFE}"/>
              </a:ext>
            </a:extLst>
          </p:cNvPr>
          <p:cNvSpPr txBox="1"/>
          <p:nvPr/>
        </p:nvSpPr>
        <p:spPr>
          <a:xfrm>
            <a:off x="316992" y="3802125"/>
            <a:ext cx="2769139" cy="1200329"/>
          </a:xfrm>
          <a:prstGeom prst="rect">
            <a:avLst/>
          </a:prstGeom>
          <a:noFill/>
        </p:spPr>
        <p:txBody>
          <a:bodyPr wrap="square">
            <a:spAutoFit/>
          </a:bodyPr>
          <a:lstStyle/>
          <a:p>
            <a:pPr marL="342900" indent="-342900">
              <a:buFont typeface="+mj-lt"/>
              <a:buAutoNum type="arabicPeriod"/>
            </a:pPr>
            <a:r>
              <a:rPr lang="en-US" dirty="0">
                <a:solidFill>
                  <a:srgbClr val="141413"/>
                </a:solidFill>
                <a:effectLst/>
                <a:latin typeface="Helvetica" pitchFamily="2" charset="0"/>
              </a:rPr>
              <a:t>Judgment criteria</a:t>
            </a:r>
          </a:p>
          <a:p>
            <a:pPr marL="342900" indent="-342900">
              <a:buFont typeface="+mj-lt"/>
              <a:buAutoNum type="arabicPeriod"/>
            </a:pPr>
            <a:r>
              <a:rPr lang="en-US" dirty="0">
                <a:solidFill>
                  <a:srgbClr val="141413"/>
                </a:solidFill>
                <a:effectLst/>
                <a:latin typeface="Helvetica" pitchFamily="2" charset="0"/>
              </a:rPr>
              <a:t>structural output</a:t>
            </a:r>
          </a:p>
          <a:p>
            <a:pPr marL="342900" indent="-342900">
              <a:buFont typeface="+mj-lt"/>
              <a:buAutoNum type="arabicPeriod"/>
            </a:pPr>
            <a:r>
              <a:rPr lang="en-US" dirty="0">
                <a:solidFill>
                  <a:srgbClr val="141413"/>
                </a:solidFill>
                <a:effectLst/>
                <a:latin typeface="Helvetica" pitchFamily="2" charset="0"/>
              </a:rPr>
              <a:t>Delimiters &lt; &gt;</a:t>
            </a:r>
          </a:p>
          <a:p>
            <a:pPr marL="342900" indent="-342900">
              <a:buFont typeface="+mj-lt"/>
              <a:buAutoNum type="arabicPeriod"/>
            </a:pPr>
            <a:r>
              <a:rPr lang="en-US" dirty="0">
                <a:solidFill>
                  <a:srgbClr val="141413"/>
                </a:solidFill>
                <a:effectLst/>
                <a:latin typeface="Helvetica" pitchFamily="2" charset="0"/>
              </a:rPr>
              <a:t>Error Case learning</a:t>
            </a:r>
          </a:p>
        </p:txBody>
      </p:sp>
      <p:grpSp>
        <p:nvGrpSpPr>
          <p:cNvPr id="5" name="Group 4">
            <a:extLst>
              <a:ext uri="{FF2B5EF4-FFF2-40B4-BE49-F238E27FC236}">
                <a16:creationId xmlns:a16="http://schemas.microsoft.com/office/drawing/2014/main" id="{C6E67E51-F5E5-9556-FC50-77DBA10FDB8D}"/>
              </a:ext>
            </a:extLst>
          </p:cNvPr>
          <p:cNvGrpSpPr/>
          <p:nvPr/>
        </p:nvGrpSpPr>
        <p:grpSpPr>
          <a:xfrm>
            <a:off x="4404196" y="1164565"/>
            <a:ext cx="4826324" cy="3489498"/>
            <a:chOff x="4404196" y="1164565"/>
            <a:chExt cx="4826324" cy="3489498"/>
          </a:xfrm>
        </p:grpSpPr>
        <p:sp>
          <p:nvSpPr>
            <p:cNvPr id="200" name="Rounded Rectangle 199">
              <a:extLst>
                <a:ext uri="{FF2B5EF4-FFF2-40B4-BE49-F238E27FC236}">
                  <a16:creationId xmlns:a16="http://schemas.microsoft.com/office/drawing/2014/main" id="{7B043C49-D322-1CA6-BEF3-C032951C8A9D}"/>
                </a:ext>
              </a:extLst>
            </p:cNvPr>
            <p:cNvSpPr/>
            <p:nvPr/>
          </p:nvSpPr>
          <p:spPr>
            <a:xfrm>
              <a:off x="4404196" y="1164565"/>
              <a:ext cx="4533859" cy="3489498"/>
            </a:xfrm>
            <a:prstGeom prst="round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r>
                <a:rPr lang="en-US" dirty="0"/>
                <a:t>Prompt Engineering</a:t>
              </a:r>
            </a:p>
          </p:txBody>
        </p:sp>
        <p:pic>
          <p:nvPicPr>
            <p:cNvPr id="198" name="Picture 197">
              <a:extLst>
                <a:ext uri="{FF2B5EF4-FFF2-40B4-BE49-F238E27FC236}">
                  <a16:creationId xmlns:a16="http://schemas.microsoft.com/office/drawing/2014/main" id="{89EE5E2C-50F9-AA9C-B8FA-F5FAD12FD0CF}"/>
                </a:ext>
              </a:extLst>
            </p:cNvPr>
            <p:cNvPicPr>
              <a:picLocks noChangeAspect="1"/>
            </p:cNvPicPr>
            <p:nvPr/>
          </p:nvPicPr>
          <p:blipFill>
            <a:blip r:embed="rId3"/>
            <a:stretch>
              <a:fillRect/>
            </a:stretch>
          </p:blipFill>
          <p:spPr>
            <a:xfrm>
              <a:off x="5236463" y="1253718"/>
              <a:ext cx="442193" cy="451037"/>
            </a:xfrm>
            <a:prstGeom prst="rect">
              <a:avLst/>
            </a:prstGeom>
          </p:spPr>
        </p:pic>
        <p:sp>
          <p:nvSpPr>
            <p:cNvPr id="199" name="TextBox 198">
              <a:extLst>
                <a:ext uri="{FF2B5EF4-FFF2-40B4-BE49-F238E27FC236}">
                  <a16:creationId xmlns:a16="http://schemas.microsoft.com/office/drawing/2014/main" id="{3B244CD4-5ECD-E656-9023-C6B197415DCD}"/>
                </a:ext>
              </a:extLst>
            </p:cNvPr>
            <p:cNvSpPr txBox="1"/>
            <p:nvPr/>
          </p:nvSpPr>
          <p:spPr>
            <a:xfrm>
              <a:off x="4668765" y="1602503"/>
              <a:ext cx="863591" cy="176908"/>
            </a:xfrm>
            <a:prstGeom prst="rect">
              <a:avLst/>
            </a:prstGeom>
            <a:noFill/>
          </p:spPr>
          <p:txBody>
            <a:bodyPr wrap="square" lIns="0" tIns="0" rIns="0" bIns="0" rtlCol="0">
              <a:spAutoFit/>
            </a:bodyPr>
            <a:lstStyle/>
            <a:p>
              <a:pPr>
                <a:lnSpc>
                  <a:spcPct val="114000"/>
                </a:lnSpc>
              </a:pPr>
              <a:r>
                <a:rPr lang="en-US" sz="1100" dirty="0">
                  <a:latin typeface="+mn-lt"/>
                </a:rPr>
                <a:t>Template</a:t>
              </a:r>
            </a:p>
          </p:txBody>
        </p:sp>
        <p:sp>
          <p:nvSpPr>
            <p:cNvPr id="201" name="Rectangle 200">
              <a:extLst>
                <a:ext uri="{FF2B5EF4-FFF2-40B4-BE49-F238E27FC236}">
                  <a16:creationId xmlns:a16="http://schemas.microsoft.com/office/drawing/2014/main" id="{CF9A0D18-4F01-356B-5E9F-B247F5DF7B02}"/>
                </a:ext>
              </a:extLst>
            </p:cNvPr>
            <p:cNvSpPr/>
            <p:nvPr/>
          </p:nvSpPr>
          <p:spPr>
            <a:xfrm>
              <a:off x="4642480" y="1818113"/>
              <a:ext cx="4057289" cy="2328458"/>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203" name="TextBox 202">
              <a:extLst>
                <a:ext uri="{FF2B5EF4-FFF2-40B4-BE49-F238E27FC236}">
                  <a16:creationId xmlns:a16="http://schemas.microsoft.com/office/drawing/2014/main" id="{28077482-E686-8A5A-CE94-103BD30AE3FA}"/>
                </a:ext>
              </a:extLst>
            </p:cNvPr>
            <p:cNvSpPr txBox="1"/>
            <p:nvPr/>
          </p:nvSpPr>
          <p:spPr>
            <a:xfrm>
              <a:off x="4711007" y="1796447"/>
              <a:ext cx="3953265" cy="2400657"/>
            </a:xfrm>
            <a:prstGeom prst="rect">
              <a:avLst/>
            </a:prstGeom>
            <a:noFill/>
          </p:spPr>
          <p:txBody>
            <a:bodyPr wrap="square">
              <a:spAutoFit/>
            </a:bodyPr>
            <a:lstStyle/>
            <a:p>
              <a:r>
                <a:rPr lang="en-US" sz="1000" b="1" dirty="0">
                  <a:solidFill>
                    <a:srgbClr val="92D050"/>
                  </a:solidFill>
                  <a:effectLst/>
                  <a:latin typeface="Helvetica" pitchFamily="2" charset="0"/>
                </a:rPr>
                <a:t>Input</a:t>
              </a:r>
              <a:r>
                <a:rPr lang="en-US" sz="1000" dirty="0">
                  <a:solidFill>
                    <a:srgbClr val="141413"/>
                  </a:solidFill>
                  <a:effectLst/>
                  <a:latin typeface="Helvetica" pitchFamily="2" charset="0"/>
                </a:rPr>
                <a:t>:  </a:t>
              </a:r>
            </a:p>
            <a:p>
              <a:r>
                <a:rPr lang="en-US" sz="1000" dirty="0">
                  <a:solidFill>
                    <a:srgbClr val="141413"/>
                  </a:solidFill>
                  <a:effectLst/>
                  <a:latin typeface="Helvetica" pitchFamily="2" charset="0"/>
                </a:rPr>
                <a:t>&lt;s&gt; Please check if the code before, comment, and code after simultaneously meet the following four conditions.</a:t>
              </a:r>
            </a:p>
            <a:p>
              <a:r>
                <a:rPr lang="en-US" sz="1000" dirty="0">
                  <a:solidFill>
                    <a:srgbClr val="141413"/>
                  </a:solidFill>
                  <a:effectLst/>
                  <a:latin typeface="Helvetica" pitchFamily="2" charset="0"/>
                </a:rPr>
                <a:t>Condition 1: The comment points out a general or specific flaw</a:t>
              </a:r>
            </a:p>
            <a:p>
              <a:r>
                <a:rPr lang="en-US" sz="1000" dirty="0">
                  <a:solidFill>
                    <a:srgbClr val="141413"/>
                  </a:solidFill>
                  <a:effectLst/>
                  <a:latin typeface="Helvetica" pitchFamily="2" charset="0"/>
                </a:rPr>
                <a:t>in code before, or provides a general or specific suggestion for code before, or raises a general or specific question about code before.</a:t>
              </a:r>
            </a:p>
            <a:p>
              <a:r>
                <a:rPr lang="en-US" sz="1000" dirty="0">
                  <a:solidFill>
                    <a:srgbClr val="141413"/>
                  </a:solidFill>
                  <a:effectLst/>
                  <a:latin typeface="Helvetica" pitchFamily="2" charset="0"/>
                </a:rPr>
                <a:t>Condition 2: code after has optimized all the flaws pointed out in the comment, implemented all the suggestions given in the</a:t>
              </a:r>
            </a:p>
            <a:p>
              <a:r>
                <a:rPr lang="en-US" sz="1000" dirty="0">
                  <a:solidFill>
                    <a:srgbClr val="141413"/>
                  </a:solidFill>
                  <a:effectLst/>
                  <a:latin typeface="Helvetica" pitchFamily="2" charset="0"/>
                </a:rPr>
                <a:t>comment, And resolved all the questions raised in the comment.</a:t>
              </a:r>
            </a:p>
            <a:p>
              <a:r>
                <a:rPr lang="en-US" sz="1000" dirty="0">
                  <a:solidFill>
                    <a:srgbClr val="141413"/>
                  </a:solidFill>
                  <a:effectLst/>
                  <a:latin typeface="Helvetica" pitchFamily="2" charset="0"/>
                </a:rPr>
                <a:t>Condition 3: code after has not made any changes beyond those</a:t>
              </a:r>
            </a:p>
            <a:p>
              <a:r>
                <a:rPr lang="en-US" sz="1000" dirty="0">
                  <a:solidFill>
                    <a:srgbClr val="141413"/>
                  </a:solidFill>
                  <a:effectLst/>
                  <a:latin typeface="Helvetica" pitchFamily="2" charset="0"/>
                </a:rPr>
                <a:t>mentioned in the comment.</a:t>
              </a:r>
            </a:p>
            <a:p>
              <a:r>
                <a:rPr lang="en-US" sz="1000" dirty="0">
                  <a:solidFill>
                    <a:srgbClr val="141413"/>
                  </a:solidFill>
                  <a:effectLst/>
                  <a:latin typeface="Helvetica" pitchFamily="2" charset="0"/>
                </a:rPr>
                <a:t>Condition 4: code after has not introduced any new errors. Please answer with yes or no whether they meet the aforementioned four conditions simultaneously.</a:t>
              </a:r>
            </a:p>
          </p:txBody>
        </p:sp>
        <p:sp>
          <p:nvSpPr>
            <p:cNvPr id="205" name="TextBox 204">
              <a:extLst>
                <a:ext uri="{FF2B5EF4-FFF2-40B4-BE49-F238E27FC236}">
                  <a16:creationId xmlns:a16="http://schemas.microsoft.com/office/drawing/2014/main" id="{6A49954B-D73A-253C-2C96-7CB0E75A3140}"/>
                </a:ext>
              </a:extLst>
            </p:cNvPr>
            <p:cNvSpPr txBox="1"/>
            <p:nvPr/>
          </p:nvSpPr>
          <p:spPr>
            <a:xfrm>
              <a:off x="4627524" y="4224382"/>
              <a:ext cx="4602996" cy="246221"/>
            </a:xfrm>
            <a:prstGeom prst="rect">
              <a:avLst/>
            </a:prstGeom>
            <a:noFill/>
          </p:spPr>
          <p:txBody>
            <a:bodyPr wrap="square">
              <a:spAutoFit/>
            </a:bodyPr>
            <a:lstStyle/>
            <a:p>
              <a:r>
                <a:rPr lang="en-US" sz="1000" b="1" dirty="0">
                  <a:solidFill>
                    <a:srgbClr val="92D050"/>
                  </a:solidFill>
                  <a:effectLst/>
                  <a:latin typeface="Helvetica" pitchFamily="2" charset="0"/>
                </a:rPr>
                <a:t>Output</a:t>
              </a:r>
              <a:r>
                <a:rPr lang="en-US" sz="1000" dirty="0">
                  <a:solidFill>
                    <a:srgbClr val="141413"/>
                  </a:solidFill>
                  <a:effectLst/>
                  <a:latin typeface="Helvetica" pitchFamily="2" charset="0"/>
                </a:rPr>
                <a:t> ###Response: </a:t>
              </a:r>
              <a:r>
                <a:rPr lang="en-US" sz="1000" dirty="0">
                  <a:solidFill>
                    <a:srgbClr val="FF0000"/>
                  </a:solidFill>
                  <a:effectLst/>
                  <a:latin typeface="Helvetica" pitchFamily="2" charset="0"/>
                </a:rPr>
                <a:t>&lt;label&gt;</a:t>
              </a:r>
              <a:r>
                <a:rPr lang="en-US" sz="1000" dirty="0">
                  <a:solidFill>
                    <a:srgbClr val="141413"/>
                  </a:solidFill>
                  <a:effectLst/>
                  <a:latin typeface="Helvetica" pitchFamily="2" charset="0"/>
                </a:rPr>
                <a:t>&lt;/s&gt;</a:t>
              </a:r>
            </a:p>
          </p:txBody>
        </p:sp>
      </p:grpSp>
      <p:sp>
        <p:nvSpPr>
          <p:cNvPr id="206" name="Oval 205">
            <a:extLst>
              <a:ext uri="{FF2B5EF4-FFF2-40B4-BE49-F238E27FC236}">
                <a16:creationId xmlns:a16="http://schemas.microsoft.com/office/drawing/2014/main" id="{780BF4A9-2B18-D3DA-C26F-66398FB47BE8}"/>
              </a:ext>
            </a:extLst>
          </p:cNvPr>
          <p:cNvSpPr/>
          <p:nvPr/>
        </p:nvSpPr>
        <p:spPr>
          <a:xfrm>
            <a:off x="5873858" y="4186824"/>
            <a:ext cx="608611" cy="40415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cxnSp>
        <p:nvCxnSpPr>
          <p:cNvPr id="208" name="Straight Arrow Connector 207">
            <a:extLst>
              <a:ext uri="{FF2B5EF4-FFF2-40B4-BE49-F238E27FC236}">
                <a16:creationId xmlns:a16="http://schemas.microsoft.com/office/drawing/2014/main" id="{E8873028-3575-4923-4100-AE37E6C0B954}"/>
              </a:ext>
            </a:extLst>
          </p:cNvPr>
          <p:cNvCxnSpPr>
            <a:cxnSpLocks/>
          </p:cNvCxnSpPr>
          <p:nvPr/>
        </p:nvCxnSpPr>
        <p:spPr>
          <a:xfrm flipH="1">
            <a:off x="4554602" y="4433346"/>
            <a:ext cx="1335463" cy="3231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9" name="TextBox 208">
            <a:extLst>
              <a:ext uri="{FF2B5EF4-FFF2-40B4-BE49-F238E27FC236}">
                <a16:creationId xmlns:a16="http://schemas.microsoft.com/office/drawing/2014/main" id="{0B2F509F-ED04-169D-FC6D-1BDAB4BB5C27}"/>
              </a:ext>
            </a:extLst>
          </p:cNvPr>
          <p:cNvSpPr txBox="1"/>
          <p:nvPr/>
        </p:nvSpPr>
        <p:spPr>
          <a:xfrm>
            <a:off x="3283267" y="4589378"/>
            <a:ext cx="1193404" cy="257250"/>
          </a:xfrm>
          <a:prstGeom prst="rect">
            <a:avLst/>
          </a:prstGeom>
          <a:noFill/>
        </p:spPr>
        <p:txBody>
          <a:bodyPr wrap="none" lIns="0" tIns="0" rIns="0" bIns="0" rtlCol="0">
            <a:spAutoFit/>
          </a:bodyPr>
          <a:lstStyle/>
          <a:p>
            <a:pPr>
              <a:lnSpc>
                <a:spcPct val="114000"/>
              </a:lnSpc>
            </a:pPr>
            <a:r>
              <a:rPr lang="en-US" sz="1600" dirty="0">
                <a:latin typeface="+mn-lt"/>
              </a:rPr>
              <a:t>Valid or not ?</a:t>
            </a:r>
          </a:p>
        </p:txBody>
      </p:sp>
      <p:sp>
        <p:nvSpPr>
          <p:cNvPr id="211" name="Date Placeholder 3">
            <a:extLst>
              <a:ext uri="{FF2B5EF4-FFF2-40B4-BE49-F238E27FC236}">
                <a16:creationId xmlns:a16="http://schemas.microsoft.com/office/drawing/2014/main" id="{F66E4B2E-FE26-597B-A7DE-FEEA51F3B18F}"/>
              </a:ext>
            </a:extLst>
          </p:cNvPr>
          <p:cNvSpPr txBox="1">
            <a:spLocks/>
          </p:cNvSpPr>
          <p:nvPr/>
        </p:nvSpPr>
        <p:spPr>
          <a:xfrm>
            <a:off x="25673" y="4922595"/>
            <a:ext cx="811609" cy="22090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gn="l" rtl="0" eaLnBrk="1" fontAlgn="base" hangingPunct="1">
              <a:lnSpc>
                <a:spcPct val="150000"/>
              </a:lnSpc>
              <a:spcBef>
                <a:spcPct val="0"/>
              </a:spcBef>
              <a:spcAft>
                <a:spcPct val="0"/>
              </a:spcAft>
              <a:defRPr lang="de-DE" sz="1400" kern="1200" baseline="0" noProof="0" dirty="0" smtClean="0">
                <a:solidFill>
                  <a:schemeClr val="tx1"/>
                </a:solidFill>
                <a:latin typeface="+mn-lt"/>
                <a:ea typeface="+mn-ea"/>
                <a:cs typeface="+mn-cs"/>
              </a:defRPr>
            </a:lvl1pPr>
            <a:lvl2pPr marL="176213" indent="-176213" algn="l" rtl="0" eaLnBrk="1" fontAlgn="base" hangingPunct="1">
              <a:lnSpc>
                <a:spcPct val="100000"/>
              </a:lnSpc>
              <a:spcBef>
                <a:spcPct val="0"/>
              </a:spcBef>
              <a:spcAft>
                <a:spcPct val="0"/>
              </a:spcAft>
              <a:buFont typeface="Arial" charset="0"/>
              <a:buChar char="•"/>
              <a:defRPr lang="de-DE" sz="1600" kern="1200" noProof="0" dirty="0" smtClean="0">
                <a:solidFill>
                  <a:schemeClr val="tx1"/>
                </a:solidFill>
                <a:latin typeface="+mn-lt"/>
                <a:ea typeface="+mn-ea"/>
                <a:cs typeface="+mn-cs"/>
              </a:defRPr>
            </a:lvl2pPr>
            <a:lvl3pPr marL="360363" indent="-184150"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fld id="{E6E0805E-65D9-544D-8805-556D80FFC742}" type="datetime1">
              <a:rPr lang="en-US" sz="1000" smtClean="0">
                <a:solidFill>
                  <a:schemeClr val="bg1">
                    <a:lumMod val="85000"/>
                  </a:schemeClr>
                </a:solidFill>
              </a:rPr>
              <a:pPr/>
              <a:t>12/7/25</a:t>
            </a:fld>
            <a:endParaRPr lang="en-US" sz="1000" dirty="0">
              <a:solidFill>
                <a:schemeClr val="bg1">
                  <a:lumMod val="85000"/>
                </a:schemeClr>
              </a:solidFill>
            </a:endParaRPr>
          </a:p>
        </p:txBody>
      </p:sp>
      <p:sp>
        <p:nvSpPr>
          <p:cNvPr id="2" name="Footer Placeholder 4">
            <a:extLst>
              <a:ext uri="{FF2B5EF4-FFF2-40B4-BE49-F238E27FC236}">
                <a16:creationId xmlns:a16="http://schemas.microsoft.com/office/drawing/2014/main" id="{CE998EA2-09C5-DF83-FBA4-2C7FCBA027B4}"/>
              </a:ext>
            </a:extLst>
          </p:cNvPr>
          <p:cNvSpPr txBox="1">
            <a:spLocks/>
          </p:cNvSpPr>
          <p:nvPr/>
        </p:nvSpPr>
        <p:spPr>
          <a:xfrm>
            <a:off x="2394860" y="4787044"/>
            <a:ext cx="4482901" cy="360210"/>
          </a:xfrm>
          <a:prstGeom prst="rect">
            <a:avLst/>
          </a:prstGeom>
        </p:spPr>
        <p:txBody>
          <a:bodyPr/>
          <a:ls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lgn="ctr"/>
            <a:br>
              <a:rPr lang="en-US" sz="1000" dirty="0">
                <a:solidFill>
                  <a:schemeClr val="bg1">
                    <a:lumMod val="85000"/>
                  </a:schemeClr>
                </a:solidFill>
              </a:rPr>
            </a:br>
            <a:r>
              <a:rPr lang="en-US" sz="1000" dirty="0">
                <a:solidFill>
                  <a:schemeClr val="bg1">
                    <a:lumMod val="85000"/>
                  </a:schemeClr>
                </a:solidFill>
              </a:rPr>
              <a:t>Algorithmic Decision Making: Metaheuristics and Decomposition in Practice</a:t>
            </a:r>
          </a:p>
        </p:txBody>
      </p:sp>
    </p:spTree>
    <p:extLst>
      <p:ext uri="{BB962C8B-B14F-4D97-AF65-F5344CB8AC3E}">
        <p14:creationId xmlns:p14="http://schemas.microsoft.com/office/powerpoint/2010/main" val="2985098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0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0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P spid="111" grpId="0" animBg="1"/>
      <p:bldP spid="112" grpId="0"/>
      <p:bldP spid="185" grpId="0"/>
      <p:bldP spid="206" grpId="0" animBg="1"/>
      <p:bldP spid="20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4A020-B9D6-95BE-0906-93302001EA3B}"/>
            </a:ext>
          </a:extLst>
        </p:cNvPr>
        <p:cNvGrpSpPr/>
        <p:nvPr/>
      </p:nvGrpSpPr>
      <p:grpSpPr>
        <a:xfrm>
          <a:off x="0" y="0"/>
          <a:ext cx="0" cy="0"/>
          <a:chOff x="0" y="0"/>
          <a:chExt cx="0" cy="0"/>
        </a:xfrm>
      </p:grpSpPr>
      <p:sp>
        <p:nvSpPr>
          <p:cNvPr id="32" name="Content Placeholder 1">
            <a:extLst>
              <a:ext uri="{FF2B5EF4-FFF2-40B4-BE49-F238E27FC236}">
                <a16:creationId xmlns:a16="http://schemas.microsoft.com/office/drawing/2014/main" id="{65255C97-014C-B2F1-8D28-C1ED9F057380}"/>
              </a:ext>
            </a:extLst>
          </p:cNvPr>
          <p:cNvSpPr txBox="1">
            <a:spLocks/>
          </p:cNvSpPr>
          <p:nvPr/>
        </p:nvSpPr>
        <p:spPr>
          <a:xfrm>
            <a:off x="371460" y="1691017"/>
            <a:ext cx="8508999" cy="309562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gn="l" rtl="0" eaLnBrk="0" fontAlgn="base" hangingPunct="0">
              <a:lnSpc>
                <a:spcPct val="114000"/>
              </a:lnSpc>
              <a:spcBef>
                <a:spcPct val="0"/>
              </a:spcBef>
              <a:spcAft>
                <a:spcPct val="0"/>
              </a:spcAft>
              <a:defRPr lang="de-DE" sz="1400" kern="1200" noProof="0" dirty="0" smtClean="0">
                <a:solidFill>
                  <a:schemeClr val="tx1"/>
                </a:solidFill>
                <a:latin typeface="+mn-lt"/>
                <a:ea typeface="+mn-ea"/>
                <a:cs typeface="+mn-cs"/>
              </a:defRPr>
            </a:lvl1pPr>
            <a:lvl2pPr marL="176213" indent="-176213" algn="l" rtl="0" eaLnBrk="0" fontAlgn="base" hangingPunct="0">
              <a:lnSpc>
                <a:spcPct val="114000"/>
              </a:lnSpc>
              <a:spcBef>
                <a:spcPct val="0"/>
              </a:spcBef>
              <a:spcAft>
                <a:spcPct val="0"/>
              </a:spcAft>
              <a:buFont typeface="Arial" charset="0"/>
              <a:buChar char="•"/>
              <a:defRPr lang="de-DE" sz="1400" kern="1200" noProof="0" dirty="0" smtClean="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solidFill>
                  <a:srgbClr val="141413"/>
                </a:solidFill>
                <a:latin typeface="Helvetica" pitchFamily="2" charset="0"/>
              </a:rPr>
              <a:t>Automatic Post Updating (APU):</a:t>
            </a:r>
          </a:p>
          <a:p>
            <a:endParaRPr lang="en-US" dirty="0"/>
          </a:p>
          <a:p>
            <a:endParaRPr lang="en-US" dirty="0"/>
          </a:p>
          <a:p>
            <a:endParaRPr lang="en-US" dirty="0"/>
          </a:p>
          <a:p>
            <a:endParaRPr lang="en-US" dirty="0"/>
          </a:p>
          <a:p>
            <a:r>
              <a:rPr lang="en-US" dirty="0"/>
              <a:t>Goal: To give updated post with corresponding comment</a:t>
            </a:r>
          </a:p>
        </p:txBody>
      </p:sp>
      <p:sp>
        <p:nvSpPr>
          <p:cNvPr id="3" name="Title 2">
            <a:extLst>
              <a:ext uri="{FF2B5EF4-FFF2-40B4-BE49-F238E27FC236}">
                <a16:creationId xmlns:a16="http://schemas.microsoft.com/office/drawing/2014/main" id="{917C4C76-787E-2B31-BAE8-CD2E1B329B20}"/>
              </a:ext>
            </a:extLst>
          </p:cNvPr>
          <p:cNvSpPr>
            <a:spLocks noGrp="1"/>
          </p:cNvSpPr>
          <p:nvPr>
            <p:ph type="title"/>
          </p:nvPr>
        </p:nvSpPr>
        <p:spPr>
          <a:xfrm>
            <a:off x="319090" y="972000"/>
            <a:ext cx="8508999" cy="380745"/>
          </a:xfrm>
        </p:spPr>
        <p:txBody>
          <a:bodyPr/>
          <a:lstStyle/>
          <a:p>
            <a:r>
              <a:rPr lang="en-US" dirty="0"/>
              <a:t>SOUP APU Task</a:t>
            </a:r>
          </a:p>
        </p:txBody>
      </p:sp>
      <p:sp>
        <p:nvSpPr>
          <p:cNvPr id="16" name="Rectangle 15">
            <a:extLst>
              <a:ext uri="{FF2B5EF4-FFF2-40B4-BE49-F238E27FC236}">
                <a16:creationId xmlns:a16="http://schemas.microsoft.com/office/drawing/2014/main" id="{76C44CEC-7499-F11E-7E4A-93F69D7AC1B2}"/>
              </a:ext>
            </a:extLst>
          </p:cNvPr>
          <p:cNvSpPr/>
          <p:nvPr/>
        </p:nvSpPr>
        <p:spPr>
          <a:xfrm>
            <a:off x="0" y="252983"/>
            <a:ext cx="1577591" cy="380745"/>
          </a:xfrm>
          <a:prstGeom prst="rect">
            <a:avLst/>
          </a:prstGeom>
          <a:solidFill>
            <a:srgbClr val="0064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nSpc>
                <a:spcPct val="114000"/>
              </a:lnSpc>
            </a:pPr>
            <a:r>
              <a:rPr lang="en-US" dirty="0"/>
              <a:t>Approach</a:t>
            </a:r>
          </a:p>
        </p:txBody>
      </p:sp>
      <p:cxnSp>
        <p:nvCxnSpPr>
          <p:cNvPr id="26" name="Straight Connector 25">
            <a:extLst>
              <a:ext uri="{FF2B5EF4-FFF2-40B4-BE49-F238E27FC236}">
                <a16:creationId xmlns:a16="http://schemas.microsoft.com/office/drawing/2014/main" id="{8F2629DF-9F43-6CC1-3266-A7CFCE214FAA}"/>
              </a:ext>
            </a:extLst>
          </p:cNvPr>
          <p:cNvCxnSpPr>
            <a:cxnSpLocks/>
          </p:cNvCxnSpPr>
          <p:nvPr/>
        </p:nvCxnSpPr>
        <p:spPr>
          <a:xfrm>
            <a:off x="0" y="0"/>
            <a:ext cx="1577591"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A2758CBA-4D3C-8434-2FC7-3A4A45B1D7E3}"/>
              </a:ext>
            </a:extLst>
          </p:cNvPr>
          <p:cNvCxnSpPr>
            <a:cxnSpLocks/>
          </p:cNvCxnSpPr>
          <p:nvPr/>
        </p:nvCxnSpPr>
        <p:spPr>
          <a:xfrm>
            <a:off x="1513583" y="0"/>
            <a:ext cx="1577591"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FB3F6C48-C37D-BD7A-C370-443145C7C5BD}"/>
              </a:ext>
            </a:extLst>
          </p:cNvPr>
          <p:cNvCxnSpPr>
            <a:cxnSpLocks/>
          </p:cNvCxnSpPr>
          <p:nvPr/>
        </p:nvCxnSpPr>
        <p:spPr>
          <a:xfrm>
            <a:off x="3091174" y="0"/>
            <a:ext cx="1577591"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8D0CD014-6B3F-E780-4939-922A826A36B5}"/>
              </a:ext>
            </a:extLst>
          </p:cNvPr>
          <p:cNvCxnSpPr>
            <a:cxnSpLocks/>
          </p:cNvCxnSpPr>
          <p:nvPr/>
        </p:nvCxnSpPr>
        <p:spPr>
          <a:xfrm>
            <a:off x="4668765" y="0"/>
            <a:ext cx="1577591" cy="0"/>
          </a:xfrm>
          <a:prstGeom prst="line">
            <a:avLst/>
          </a:prstGeom>
          <a:ln w="254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C4E2B783-ADF4-B0D9-B297-23F1FC8B49A0}"/>
                  </a:ext>
                </a:extLst>
              </p:cNvPr>
              <p:cNvSpPr txBox="1"/>
              <p:nvPr/>
            </p:nvSpPr>
            <p:spPr>
              <a:xfrm>
                <a:off x="3491994" y="2224414"/>
                <a:ext cx="2267929" cy="280718"/>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𝑈𝑝𝑑𝑎𝑡𝑒</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𝑝𝑟</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𝑒</m:t>
                              </m:r>
                            </m:e>
                            <m:sub>
                              <m:r>
                                <a:rPr lang="en-US" sz="1600" b="0" i="1" smtClean="0">
                                  <a:latin typeface="Cambria Math" panose="02040503050406030204" pitchFamily="18" charset="0"/>
                                </a:rPr>
                                <m:t>𝑒</m:t>
                              </m:r>
                            </m:sub>
                          </m:sSub>
                          <m:r>
                            <a:rPr lang="en-US" sz="1600" b="0" i="1" smtClean="0">
                              <a:latin typeface="Cambria Math" panose="02040503050406030204" pitchFamily="18" charset="0"/>
                            </a:rPr>
                            <m:t>,</m:t>
                          </m:r>
                          <m:r>
                            <a:rPr lang="en-US" sz="1600" b="0" i="1" smtClean="0">
                              <a:latin typeface="Cambria Math" panose="02040503050406030204" pitchFamily="18" charset="0"/>
                            </a:rPr>
                            <m:t>𝑐</m:t>
                          </m:r>
                        </m:e>
                      </m:d>
                      <m:r>
                        <a:rPr lang="en-US" sz="1600" b="0" i="1" smtClean="0">
                          <a:latin typeface="Cambria Math" panose="02040503050406030204" pitchFamily="18" charset="0"/>
                        </a:rPr>
                        <m:t>=</m:t>
                      </m:r>
                      <m:r>
                        <a:rPr lang="en-US" sz="1600" b="0" i="1" smtClean="0">
                          <a:latin typeface="Cambria Math" panose="02040503050406030204" pitchFamily="18" charset="0"/>
                        </a:rPr>
                        <m:t>𝑝𝑜𝑠</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𝑒</m:t>
                          </m:r>
                        </m:e>
                        <m:sub>
                          <m:r>
                            <a:rPr lang="en-US" sz="1600" b="0" i="1" smtClean="0">
                              <a:latin typeface="Cambria Math" panose="02040503050406030204" pitchFamily="18" charset="0"/>
                            </a:rPr>
                            <m:t>𝑒</m:t>
                          </m:r>
                        </m:sub>
                      </m:sSub>
                    </m:oMath>
                  </m:oMathPara>
                </a14:m>
                <a:endParaRPr lang="en-US" sz="1600" dirty="0" err="1">
                  <a:latin typeface="+mn-lt"/>
                </a:endParaRPr>
              </a:p>
            </p:txBody>
          </p:sp>
        </mc:Choice>
        <mc:Fallback xmlns="">
          <p:sp>
            <p:nvSpPr>
              <p:cNvPr id="6" name="TextBox 5">
                <a:extLst>
                  <a:ext uri="{FF2B5EF4-FFF2-40B4-BE49-F238E27FC236}">
                    <a16:creationId xmlns:a16="http://schemas.microsoft.com/office/drawing/2014/main" id="{C4E2B783-ADF4-B0D9-B297-23F1FC8B49A0}"/>
                  </a:ext>
                </a:extLst>
              </p:cNvPr>
              <p:cNvSpPr txBox="1">
                <a:spLocks noRot="1" noChangeAspect="1" noMove="1" noResize="1" noEditPoints="1" noAdjustHandles="1" noChangeArrowheads="1" noChangeShapeType="1" noTextEdit="1"/>
              </p:cNvSpPr>
              <p:nvPr/>
            </p:nvSpPr>
            <p:spPr>
              <a:xfrm>
                <a:off x="3491994" y="2224414"/>
                <a:ext cx="2267929" cy="280718"/>
              </a:xfrm>
              <a:prstGeom prst="rect">
                <a:avLst/>
              </a:prstGeom>
              <a:blipFill>
                <a:blip r:embed="rId3"/>
                <a:stretch>
                  <a:fillRect l="-2793" b="-17391"/>
                </a:stretch>
              </a:blipFill>
            </p:spPr>
            <p:txBody>
              <a:bodyPr/>
              <a:lstStyle/>
              <a:p>
                <a:r>
                  <a:rPr lang="en-US">
                    <a:noFill/>
                  </a:rPr>
                  <a:t> </a:t>
                </a:r>
              </a:p>
            </p:txBody>
          </p:sp>
        </mc:Fallback>
      </mc:AlternateContent>
      <p:sp>
        <p:nvSpPr>
          <p:cNvPr id="33" name="Slide Number Placeholder 3">
            <a:extLst>
              <a:ext uri="{FF2B5EF4-FFF2-40B4-BE49-F238E27FC236}">
                <a16:creationId xmlns:a16="http://schemas.microsoft.com/office/drawing/2014/main" id="{D825C426-D863-75FA-E274-EBCA08871211}"/>
              </a:ext>
            </a:extLst>
          </p:cNvPr>
          <p:cNvSpPr>
            <a:spLocks noGrp="1"/>
          </p:cNvSpPr>
          <p:nvPr>
            <p:ph type="sldNum" sz="quarter" idx="11"/>
          </p:nvPr>
        </p:nvSpPr>
        <p:spPr>
          <a:xfrm>
            <a:off x="6774934" y="4854985"/>
            <a:ext cx="2052074" cy="273844"/>
          </a:xfrm>
        </p:spPr>
        <p:txBody>
          <a:bodyPr/>
          <a:lstStyle/>
          <a:p>
            <a:fld id="{CE58CB1E-F828-4F11-99E0-327109AF9DA4}" type="slidenum">
              <a:rPr lang="de-DE" smtClean="0"/>
              <a:pPr/>
              <a:t>9</a:t>
            </a:fld>
            <a:endParaRPr lang="de-DE" dirty="0"/>
          </a:p>
        </p:txBody>
      </p:sp>
      <p:grpSp>
        <p:nvGrpSpPr>
          <p:cNvPr id="38" name="Group 37">
            <a:extLst>
              <a:ext uri="{FF2B5EF4-FFF2-40B4-BE49-F238E27FC236}">
                <a16:creationId xmlns:a16="http://schemas.microsoft.com/office/drawing/2014/main" id="{7D44D2E0-5FE5-9CCA-C8A3-5C8AF630ABDE}"/>
              </a:ext>
            </a:extLst>
          </p:cNvPr>
          <p:cNvGrpSpPr/>
          <p:nvPr/>
        </p:nvGrpSpPr>
        <p:grpSpPr>
          <a:xfrm>
            <a:off x="2342955" y="3642273"/>
            <a:ext cx="824875" cy="831074"/>
            <a:chOff x="4919679" y="1721106"/>
            <a:chExt cx="824875" cy="831074"/>
          </a:xfrm>
        </p:grpSpPr>
        <p:pic>
          <p:nvPicPr>
            <p:cNvPr id="40" name="Picture 39">
              <a:extLst>
                <a:ext uri="{FF2B5EF4-FFF2-40B4-BE49-F238E27FC236}">
                  <a16:creationId xmlns:a16="http://schemas.microsoft.com/office/drawing/2014/main" id="{A179C9A7-4A77-04F8-3325-0974E9DBEBF1}"/>
                </a:ext>
              </a:extLst>
            </p:cNvPr>
            <p:cNvPicPr>
              <a:picLocks noChangeAspect="1"/>
            </p:cNvPicPr>
            <p:nvPr/>
          </p:nvPicPr>
          <p:blipFill>
            <a:blip r:embed="rId4"/>
            <a:stretch>
              <a:fillRect/>
            </a:stretch>
          </p:blipFill>
          <p:spPr>
            <a:xfrm>
              <a:off x="5072028" y="1721106"/>
              <a:ext cx="635000" cy="647700"/>
            </a:xfrm>
            <a:prstGeom prst="rect">
              <a:avLst/>
            </a:prstGeom>
          </p:spPr>
        </p:pic>
        <p:sp>
          <p:nvSpPr>
            <p:cNvPr id="41" name="TextBox 40">
              <a:extLst>
                <a:ext uri="{FF2B5EF4-FFF2-40B4-BE49-F238E27FC236}">
                  <a16:creationId xmlns:a16="http://schemas.microsoft.com/office/drawing/2014/main" id="{3135CBAE-E2B7-3D7F-26B7-4CAEA4793B61}"/>
                </a:ext>
              </a:extLst>
            </p:cNvPr>
            <p:cNvSpPr txBox="1"/>
            <p:nvPr/>
          </p:nvSpPr>
          <p:spPr>
            <a:xfrm>
              <a:off x="4919679" y="2375272"/>
              <a:ext cx="824875" cy="176908"/>
            </a:xfrm>
            <a:prstGeom prst="rect">
              <a:avLst/>
            </a:prstGeom>
            <a:noFill/>
          </p:spPr>
          <p:txBody>
            <a:bodyPr wrap="square" lIns="0" tIns="0" rIns="0" bIns="0" rtlCol="0">
              <a:spAutoFit/>
            </a:bodyPr>
            <a:lstStyle/>
            <a:p>
              <a:pPr algn="ctr">
                <a:lnSpc>
                  <a:spcPct val="114000"/>
                </a:lnSpc>
              </a:pPr>
              <a:r>
                <a:rPr lang="en-US" sz="1100" dirty="0" err="1">
                  <a:latin typeface="+mn-lt"/>
                </a:rPr>
                <a:t>SOUP</a:t>
              </a:r>
              <a:r>
                <a:rPr lang="en-US" sz="1100" baseline="-25000" dirty="0" err="1">
                  <a:latin typeface="+mn-lt"/>
                </a:rPr>
                <a:t>p</a:t>
              </a:r>
              <a:endParaRPr lang="en-US" sz="1100" dirty="0">
                <a:latin typeface="+mn-lt"/>
              </a:endParaRPr>
            </a:p>
          </p:txBody>
        </p:sp>
      </p:grpSp>
      <p:grpSp>
        <p:nvGrpSpPr>
          <p:cNvPr id="42" name="Group 41">
            <a:extLst>
              <a:ext uri="{FF2B5EF4-FFF2-40B4-BE49-F238E27FC236}">
                <a16:creationId xmlns:a16="http://schemas.microsoft.com/office/drawing/2014/main" id="{FC36C456-91D0-942A-3045-4D617E93AB1E}"/>
              </a:ext>
            </a:extLst>
          </p:cNvPr>
          <p:cNvGrpSpPr/>
          <p:nvPr/>
        </p:nvGrpSpPr>
        <p:grpSpPr>
          <a:xfrm>
            <a:off x="263541" y="3579442"/>
            <a:ext cx="1691948" cy="912323"/>
            <a:chOff x="5330223" y="1581053"/>
            <a:chExt cx="1691948" cy="912323"/>
          </a:xfrm>
        </p:grpSpPr>
        <p:sp>
          <p:nvSpPr>
            <p:cNvPr id="43" name="Rounded Rectangle 42">
              <a:extLst>
                <a:ext uri="{FF2B5EF4-FFF2-40B4-BE49-F238E27FC236}">
                  <a16:creationId xmlns:a16="http://schemas.microsoft.com/office/drawing/2014/main" id="{512D0932-82AC-3830-C624-86AB9BBCD147}"/>
                </a:ext>
              </a:extLst>
            </p:cNvPr>
            <p:cNvSpPr/>
            <p:nvPr/>
          </p:nvSpPr>
          <p:spPr>
            <a:xfrm>
              <a:off x="5330223" y="1581053"/>
              <a:ext cx="1691948" cy="912323"/>
            </a:xfrm>
            <a:prstGeom prst="round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44" name="TextBox 43">
              <a:extLst>
                <a:ext uri="{FF2B5EF4-FFF2-40B4-BE49-F238E27FC236}">
                  <a16:creationId xmlns:a16="http://schemas.microsoft.com/office/drawing/2014/main" id="{F51BB5B0-7784-226D-594B-BAB286D16793}"/>
                </a:ext>
              </a:extLst>
            </p:cNvPr>
            <p:cNvSpPr txBox="1"/>
            <p:nvPr/>
          </p:nvSpPr>
          <p:spPr>
            <a:xfrm>
              <a:off x="5441648" y="1640833"/>
              <a:ext cx="1529265" cy="176908"/>
            </a:xfrm>
            <a:prstGeom prst="rect">
              <a:avLst/>
            </a:prstGeom>
            <a:noFill/>
          </p:spPr>
          <p:txBody>
            <a:bodyPr wrap="none" lIns="0" tIns="0" rIns="0" bIns="0" rtlCol="0">
              <a:spAutoFit/>
            </a:bodyPr>
            <a:lstStyle/>
            <a:p>
              <a:pPr algn="ctr">
                <a:lnSpc>
                  <a:spcPct val="114000"/>
                </a:lnSpc>
              </a:pPr>
              <a:r>
                <a:rPr lang="en-US" sz="1100" dirty="0">
                  <a:latin typeface="+mn-lt"/>
                </a:rPr>
                <a:t>Full-scale Dataset(300k)</a:t>
              </a:r>
            </a:p>
          </p:txBody>
        </p:sp>
        <p:pic>
          <p:nvPicPr>
            <p:cNvPr id="45" name="Graphic 44" descr="Database outline">
              <a:extLst>
                <a:ext uri="{FF2B5EF4-FFF2-40B4-BE49-F238E27FC236}">
                  <a16:creationId xmlns:a16="http://schemas.microsoft.com/office/drawing/2014/main" id="{C517F60A-F345-D19B-D68D-1891F85F6C9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473993" y="1882899"/>
              <a:ext cx="429819" cy="429819"/>
            </a:xfrm>
            <a:prstGeom prst="rect">
              <a:avLst/>
            </a:prstGeom>
          </p:spPr>
        </p:pic>
        <p:pic>
          <p:nvPicPr>
            <p:cNvPr id="46" name="Graphic 45" descr="Document outline">
              <a:extLst>
                <a:ext uri="{FF2B5EF4-FFF2-40B4-BE49-F238E27FC236}">
                  <a16:creationId xmlns:a16="http://schemas.microsoft.com/office/drawing/2014/main" id="{95D343D8-3BF3-E67D-FD8E-BE8EE9486D3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876559" y="1892708"/>
              <a:ext cx="410199" cy="410199"/>
            </a:xfrm>
            <a:prstGeom prst="rect">
              <a:avLst/>
            </a:prstGeom>
          </p:spPr>
        </p:pic>
        <p:pic>
          <p:nvPicPr>
            <p:cNvPr id="47" name="Graphic 46" descr="Table outline">
              <a:extLst>
                <a:ext uri="{FF2B5EF4-FFF2-40B4-BE49-F238E27FC236}">
                  <a16:creationId xmlns:a16="http://schemas.microsoft.com/office/drawing/2014/main" id="{911C8B9B-4144-A1A0-B325-1E35A8B62C0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274881" y="1811272"/>
              <a:ext cx="575738" cy="575738"/>
            </a:xfrm>
            <a:prstGeom prst="rect">
              <a:avLst/>
            </a:prstGeom>
          </p:spPr>
        </p:pic>
      </p:grpSp>
      <p:sp>
        <p:nvSpPr>
          <p:cNvPr id="48" name="Right Arrow 47">
            <a:extLst>
              <a:ext uri="{FF2B5EF4-FFF2-40B4-BE49-F238E27FC236}">
                <a16:creationId xmlns:a16="http://schemas.microsoft.com/office/drawing/2014/main" id="{FCD50F67-32D0-D5C4-5A0A-5CE6D408D7E0}"/>
              </a:ext>
            </a:extLst>
          </p:cNvPr>
          <p:cNvSpPr/>
          <p:nvPr/>
        </p:nvSpPr>
        <p:spPr>
          <a:xfrm>
            <a:off x="2004449" y="3896171"/>
            <a:ext cx="450814" cy="211769"/>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grpSp>
        <p:nvGrpSpPr>
          <p:cNvPr id="49" name="Group 48">
            <a:extLst>
              <a:ext uri="{FF2B5EF4-FFF2-40B4-BE49-F238E27FC236}">
                <a16:creationId xmlns:a16="http://schemas.microsoft.com/office/drawing/2014/main" id="{3CB3CD1D-DD2B-83E2-B6EC-45B1342B2A61}"/>
              </a:ext>
            </a:extLst>
          </p:cNvPr>
          <p:cNvGrpSpPr/>
          <p:nvPr/>
        </p:nvGrpSpPr>
        <p:grpSpPr>
          <a:xfrm>
            <a:off x="3579541" y="3581898"/>
            <a:ext cx="1691948" cy="912323"/>
            <a:chOff x="5330223" y="1581053"/>
            <a:chExt cx="1691948" cy="912323"/>
          </a:xfrm>
        </p:grpSpPr>
        <p:sp>
          <p:nvSpPr>
            <p:cNvPr id="50" name="Rounded Rectangle 49">
              <a:extLst>
                <a:ext uri="{FF2B5EF4-FFF2-40B4-BE49-F238E27FC236}">
                  <a16:creationId xmlns:a16="http://schemas.microsoft.com/office/drawing/2014/main" id="{2B10E5DF-47F3-688F-19F3-BC4CE284899D}"/>
                </a:ext>
              </a:extLst>
            </p:cNvPr>
            <p:cNvSpPr/>
            <p:nvPr/>
          </p:nvSpPr>
          <p:spPr>
            <a:xfrm>
              <a:off x="5330223" y="1581053"/>
              <a:ext cx="1691948" cy="912323"/>
            </a:xfrm>
            <a:prstGeom prst="roundRect">
              <a:avLst/>
            </a:prstGeom>
            <a:solidFill>
              <a:srgbClr val="00F1A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51" name="TextBox 50">
              <a:extLst>
                <a:ext uri="{FF2B5EF4-FFF2-40B4-BE49-F238E27FC236}">
                  <a16:creationId xmlns:a16="http://schemas.microsoft.com/office/drawing/2014/main" id="{4C6E734F-7F01-2001-1824-35B4A1D7C04E}"/>
                </a:ext>
              </a:extLst>
            </p:cNvPr>
            <p:cNvSpPr txBox="1"/>
            <p:nvPr/>
          </p:nvSpPr>
          <p:spPr>
            <a:xfrm>
              <a:off x="5650642" y="1672338"/>
              <a:ext cx="1056379" cy="176908"/>
            </a:xfrm>
            <a:prstGeom prst="rect">
              <a:avLst/>
            </a:prstGeom>
            <a:noFill/>
          </p:spPr>
          <p:txBody>
            <a:bodyPr wrap="none" lIns="0" tIns="0" rIns="0" bIns="0" rtlCol="0">
              <a:spAutoFit/>
            </a:bodyPr>
            <a:lstStyle/>
            <a:p>
              <a:pPr algn="ctr">
                <a:lnSpc>
                  <a:spcPct val="114000"/>
                </a:lnSpc>
              </a:pPr>
              <a:r>
                <a:rPr lang="en-US" sz="1100" dirty="0">
                  <a:latin typeface="+mn-lt"/>
                </a:rPr>
                <a:t>HQ Dataset(78k)</a:t>
              </a:r>
            </a:p>
          </p:txBody>
        </p:sp>
        <p:pic>
          <p:nvPicPr>
            <p:cNvPr id="52" name="Graphic 51" descr="Database outline">
              <a:extLst>
                <a:ext uri="{FF2B5EF4-FFF2-40B4-BE49-F238E27FC236}">
                  <a16:creationId xmlns:a16="http://schemas.microsoft.com/office/drawing/2014/main" id="{6E34FEDD-2960-F34F-326F-3D29B9BF956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473993" y="1882899"/>
              <a:ext cx="429819" cy="429819"/>
            </a:xfrm>
            <a:prstGeom prst="rect">
              <a:avLst/>
            </a:prstGeom>
          </p:spPr>
        </p:pic>
        <p:pic>
          <p:nvPicPr>
            <p:cNvPr id="53" name="Graphic 52" descr="Document outline">
              <a:extLst>
                <a:ext uri="{FF2B5EF4-FFF2-40B4-BE49-F238E27FC236}">
                  <a16:creationId xmlns:a16="http://schemas.microsoft.com/office/drawing/2014/main" id="{9A2EB18A-A3CE-3981-12FF-AFB490459C1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876559" y="1892708"/>
              <a:ext cx="410199" cy="410199"/>
            </a:xfrm>
            <a:prstGeom prst="rect">
              <a:avLst/>
            </a:prstGeom>
          </p:spPr>
        </p:pic>
        <p:pic>
          <p:nvPicPr>
            <p:cNvPr id="54" name="Graphic 53" descr="Table outline">
              <a:extLst>
                <a:ext uri="{FF2B5EF4-FFF2-40B4-BE49-F238E27FC236}">
                  <a16:creationId xmlns:a16="http://schemas.microsoft.com/office/drawing/2014/main" id="{ED9D52A7-A271-BE0E-7783-17BE7500D1A6}"/>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274881" y="1811272"/>
              <a:ext cx="575738" cy="575738"/>
            </a:xfrm>
            <a:prstGeom prst="rect">
              <a:avLst/>
            </a:prstGeom>
          </p:spPr>
        </p:pic>
      </p:grpSp>
      <p:sp>
        <p:nvSpPr>
          <p:cNvPr id="55" name="Right Arrow 54">
            <a:extLst>
              <a:ext uri="{FF2B5EF4-FFF2-40B4-BE49-F238E27FC236}">
                <a16:creationId xmlns:a16="http://schemas.microsoft.com/office/drawing/2014/main" id="{B17C2434-44DC-66C8-5CBA-96940F63546A}"/>
              </a:ext>
            </a:extLst>
          </p:cNvPr>
          <p:cNvSpPr/>
          <p:nvPr/>
        </p:nvSpPr>
        <p:spPr>
          <a:xfrm>
            <a:off x="3088998" y="3891097"/>
            <a:ext cx="450814" cy="216843"/>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60" name="Right Arrow 59">
            <a:extLst>
              <a:ext uri="{FF2B5EF4-FFF2-40B4-BE49-F238E27FC236}">
                <a16:creationId xmlns:a16="http://schemas.microsoft.com/office/drawing/2014/main" id="{CD434A05-01D3-5B71-3822-ACCDEE4E0A36}"/>
              </a:ext>
            </a:extLst>
          </p:cNvPr>
          <p:cNvSpPr/>
          <p:nvPr/>
        </p:nvSpPr>
        <p:spPr>
          <a:xfrm>
            <a:off x="5355111" y="3915430"/>
            <a:ext cx="1177200" cy="156296"/>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61" name="TextBox 60">
            <a:extLst>
              <a:ext uri="{FF2B5EF4-FFF2-40B4-BE49-F238E27FC236}">
                <a16:creationId xmlns:a16="http://schemas.microsoft.com/office/drawing/2014/main" id="{AC1D673E-078A-B897-5834-F2D8C109DA54}"/>
              </a:ext>
            </a:extLst>
          </p:cNvPr>
          <p:cNvSpPr txBox="1"/>
          <p:nvPr/>
        </p:nvSpPr>
        <p:spPr>
          <a:xfrm>
            <a:off x="5407160" y="4104922"/>
            <a:ext cx="1041952" cy="176908"/>
          </a:xfrm>
          <a:prstGeom prst="rect">
            <a:avLst/>
          </a:prstGeom>
          <a:noFill/>
        </p:spPr>
        <p:txBody>
          <a:bodyPr wrap="none" lIns="0" tIns="0" rIns="0" bIns="0" rtlCol="0">
            <a:spAutoFit/>
          </a:bodyPr>
          <a:lstStyle/>
          <a:p>
            <a:pPr>
              <a:lnSpc>
                <a:spcPct val="114000"/>
              </a:lnSpc>
            </a:pPr>
            <a:r>
              <a:rPr lang="en-US" sz="1100" dirty="0">
                <a:latin typeface="+mn-lt"/>
              </a:rPr>
              <a:t>Prompt Learning</a:t>
            </a:r>
          </a:p>
        </p:txBody>
      </p:sp>
      <p:grpSp>
        <p:nvGrpSpPr>
          <p:cNvPr id="62" name="Group 61">
            <a:extLst>
              <a:ext uri="{FF2B5EF4-FFF2-40B4-BE49-F238E27FC236}">
                <a16:creationId xmlns:a16="http://schemas.microsoft.com/office/drawing/2014/main" id="{75B372C6-1C7D-D08A-42D7-C28BCB1A6C59}"/>
              </a:ext>
            </a:extLst>
          </p:cNvPr>
          <p:cNvGrpSpPr/>
          <p:nvPr/>
        </p:nvGrpSpPr>
        <p:grpSpPr>
          <a:xfrm>
            <a:off x="6405702" y="3592171"/>
            <a:ext cx="824875" cy="831074"/>
            <a:chOff x="4919679" y="1721106"/>
            <a:chExt cx="824875" cy="831074"/>
          </a:xfrm>
        </p:grpSpPr>
        <p:pic>
          <p:nvPicPr>
            <p:cNvPr id="63" name="Picture 62">
              <a:extLst>
                <a:ext uri="{FF2B5EF4-FFF2-40B4-BE49-F238E27FC236}">
                  <a16:creationId xmlns:a16="http://schemas.microsoft.com/office/drawing/2014/main" id="{99FBCCCD-DE6E-9A2F-1E08-8E50CAD68042}"/>
                </a:ext>
              </a:extLst>
            </p:cNvPr>
            <p:cNvPicPr>
              <a:picLocks noChangeAspect="1"/>
            </p:cNvPicPr>
            <p:nvPr/>
          </p:nvPicPr>
          <p:blipFill>
            <a:blip r:embed="rId4"/>
            <a:stretch>
              <a:fillRect/>
            </a:stretch>
          </p:blipFill>
          <p:spPr>
            <a:xfrm>
              <a:off x="5072028" y="1721106"/>
              <a:ext cx="635000" cy="647700"/>
            </a:xfrm>
            <a:prstGeom prst="rect">
              <a:avLst/>
            </a:prstGeom>
          </p:spPr>
        </p:pic>
        <p:sp>
          <p:nvSpPr>
            <p:cNvPr id="64" name="TextBox 63">
              <a:extLst>
                <a:ext uri="{FF2B5EF4-FFF2-40B4-BE49-F238E27FC236}">
                  <a16:creationId xmlns:a16="http://schemas.microsoft.com/office/drawing/2014/main" id="{51D70605-AC4D-7A0D-EA92-3FCFE3D3180E}"/>
                </a:ext>
              </a:extLst>
            </p:cNvPr>
            <p:cNvSpPr txBox="1"/>
            <p:nvPr/>
          </p:nvSpPr>
          <p:spPr>
            <a:xfrm>
              <a:off x="4919679" y="2375272"/>
              <a:ext cx="824875" cy="176908"/>
            </a:xfrm>
            <a:prstGeom prst="rect">
              <a:avLst/>
            </a:prstGeom>
            <a:noFill/>
          </p:spPr>
          <p:txBody>
            <a:bodyPr wrap="square" lIns="0" tIns="0" rIns="0" bIns="0" rtlCol="0">
              <a:spAutoFit/>
            </a:bodyPr>
            <a:lstStyle/>
            <a:p>
              <a:pPr algn="ctr">
                <a:lnSpc>
                  <a:spcPct val="114000"/>
                </a:lnSpc>
              </a:pPr>
              <a:r>
                <a:rPr lang="en-US" sz="1100" dirty="0" err="1">
                  <a:latin typeface="+mn-lt"/>
                </a:rPr>
                <a:t>SOUP</a:t>
              </a:r>
              <a:r>
                <a:rPr lang="en-US" sz="1100" baseline="-25000" dirty="0" err="1">
                  <a:latin typeface="+mn-lt"/>
                </a:rPr>
                <a:t>u</a:t>
              </a:r>
              <a:endParaRPr lang="en-US" sz="1100" dirty="0">
                <a:latin typeface="+mn-lt"/>
              </a:endParaRPr>
            </a:p>
          </p:txBody>
        </p:sp>
      </p:grpSp>
      <p:grpSp>
        <p:nvGrpSpPr>
          <p:cNvPr id="65" name="Group 64">
            <a:extLst>
              <a:ext uri="{FF2B5EF4-FFF2-40B4-BE49-F238E27FC236}">
                <a16:creationId xmlns:a16="http://schemas.microsoft.com/office/drawing/2014/main" id="{CA1BAB81-1953-1DB3-399C-D349E2603CD5}"/>
              </a:ext>
            </a:extLst>
          </p:cNvPr>
          <p:cNvGrpSpPr/>
          <p:nvPr/>
        </p:nvGrpSpPr>
        <p:grpSpPr>
          <a:xfrm>
            <a:off x="5616945" y="2729344"/>
            <a:ext cx="824875" cy="831074"/>
            <a:chOff x="4919679" y="1721106"/>
            <a:chExt cx="824875" cy="831074"/>
          </a:xfrm>
        </p:grpSpPr>
        <p:pic>
          <p:nvPicPr>
            <p:cNvPr id="66" name="Picture 65">
              <a:extLst>
                <a:ext uri="{FF2B5EF4-FFF2-40B4-BE49-F238E27FC236}">
                  <a16:creationId xmlns:a16="http://schemas.microsoft.com/office/drawing/2014/main" id="{347D5F46-3780-4C50-23ED-F512B64AC203}"/>
                </a:ext>
              </a:extLst>
            </p:cNvPr>
            <p:cNvPicPr>
              <a:picLocks noChangeAspect="1"/>
            </p:cNvPicPr>
            <p:nvPr/>
          </p:nvPicPr>
          <p:blipFill>
            <a:blip r:embed="rId4"/>
            <a:stretch>
              <a:fillRect/>
            </a:stretch>
          </p:blipFill>
          <p:spPr>
            <a:xfrm>
              <a:off x="5072028" y="1721106"/>
              <a:ext cx="635000" cy="647700"/>
            </a:xfrm>
            <a:prstGeom prst="rect">
              <a:avLst/>
            </a:prstGeom>
          </p:spPr>
        </p:pic>
        <p:sp>
          <p:nvSpPr>
            <p:cNvPr id="67" name="TextBox 66">
              <a:extLst>
                <a:ext uri="{FF2B5EF4-FFF2-40B4-BE49-F238E27FC236}">
                  <a16:creationId xmlns:a16="http://schemas.microsoft.com/office/drawing/2014/main" id="{0B47A259-6B8A-60F9-368B-DAF57B9E3F56}"/>
                </a:ext>
              </a:extLst>
            </p:cNvPr>
            <p:cNvSpPr txBox="1"/>
            <p:nvPr/>
          </p:nvSpPr>
          <p:spPr>
            <a:xfrm>
              <a:off x="4919679" y="2375272"/>
              <a:ext cx="824875" cy="176908"/>
            </a:xfrm>
            <a:prstGeom prst="rect">
              <a:avLst/>
            </a:prstGeom>
            <a:noFill/>
          </p:spPr>
          <p:txBody>
            <a:bodyPr wrap="square" lIns="0" tIns="0" rIns="0" bIns="0" rtlCol="0">
              <a:spAutoFit/>
            </a:bodyPr>
            <a:lstStyle/>
            <a:p>
              <a:pPr algn="ctr">
                <a:lnSpc>
                  <a:spcPct val="114000"/>
                </a:lnSpc>
              </a:pPr>
              <a:r>
                <a:rPr lang="en-US" sz="1100" dirty="0" err="1">
                  <a:latin typeface="+mn-lt"/>
                </a:rPr>
                <a:t>CodeLlama</a:t>
              </a:r>
              <a:endParaRPr lang="en-US" sz="1100" dirty="0">
                <a:latin typeface="+mn-lt"/>
              </a:endParaRPr>
            </a:p>
          </p:txBody>
        </p:sp>
      </p:grpSp>
      <p:sp>
        <p:nvSpPr>
          <p:cNvPr id="68" name="Right Arrow 67">
            <a:extLst>
              <a:ext uri="{FF2B5EF4-FFF2-40B4-BE49-F238E27FC236}">
                <a16:creationId xmlns:a16="http://schemas.microsoft.com/office/drawing/2014/main" id="{498C19D1-D3A7-4FF1-F815-37083245B3B3}"/>
              </a:ext>
            </a:extLst>
          </p:cNvPr>
          <p:cNvSpPr/>
          <p:nvPr/>
        </p:nvSpPr>
        <p:spPr>
          <a:xfrm rot="5400000">
            <a:off x="5868475" y="3646132"/>
            <a:ext cx="321816" cy="216781"/>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74" name="Oval 73">
            <a:extLst>
              <a:ext uri="{FF2B5EF4-FFF2-40B4-BE49-F238E27FC236}">
                <a16:creationId xmlns:a16="http://schemas.microsoft.com/office/drawing/2014/main" id="{6D193E34-BBF4-11E4-934C-F6FD0B1AEB09}"/>
              </a:ext>
            </a:extLst>
          </p:cNvPr>
          <p:cNvSpPr/>
          <p:nvPr/>
        </p:nvSpPr>
        <p:spPr>
          <a:xfrm>
            <a:off x="1666163" y="503434"/>
            <a:ext cx="130294" cy="130294"/>
          </a:xfrm>
          <a:prstGeom prst="ellipse">
            <a:avLst/>
          </a:prstGeom>
          <a:solidFill>
            <a:srgbClr val="0063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75" name="Oval 74">
            <a:extLst>
              <a:ext uri="{FF2B5EF4-FFF2-40B4-BE49-F238E27FC236}">
                <a16:creationId xmlns:a16="http://schemas.microsoft.com/office/drawing/2014/main" id="{DFAD5E98-6D25-B0FC-2817-9592590B919C}"/>
              </a:ext>
            </a:extLst>
          </p:cNvPr>
          <p:cNvSpPr/>
          <p:nvPr/>
        </p:nvSpPr>
        <p:spPr>
          <a:xfrm>
            <a:off x="2425046" y="503434"/>
            <a:ext cx="130294" cy="130294"/>
          </a:xfrm>
          <a:prstGeom prst="ellipse">
            <a:avLst/>
          </a:prstGeom>
          <a:noFill/>
          <a:ln w="12700">
            <a:solidFill>
              <a:srgbClr val="0063BD"/>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76" name="Oval 75">
            <a:extLst>
              <a:ext uri="{FF2B5EF4-FFF2-40B4-BE49-F238E27FC236}">
                <a16:creationId xmlns:a16="http://schemas.microsoft.com/office/drawing/2014/main" id="{67568664-852D-632D-E3CE-58E57E4F73FB}"/>
              </a:ext>
            </a:extLst>
          </p:cNvPr>
          <p:cNvSpPr/>
          <p:nvPr/>
        </p:nvSpPr>
        <p:spPr>
          <a:xfrm>
            <a:off x="1919124" y="503434"/>
            <a:ext cx="130294" cy="130294"/>
          </a:xfrm>
          <a:prstGeom prst="ellipse">
            <a:avLst/>
          </a:prstGeom>
          <a:solidFill>
            <a:srgbClr val="0063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77" name="Oval 76">
            <a:extLst>
              <a:ext uri="{FF2B5EF4-FFF2-40B4-BE49-F238E27FC236}">
                <a16:creationId xmlns:a16="http://schemas.microsoft.com/office/drawing/2014/main" id="{B361E787-D670-733F-DB91-17EBB1281E49}"/>
              </a:ext>
            </a:extLst>
          </p:cNvPr>
          <p:cNvSpPr/>
          <p:nvPr/>
        </p:nvSpPr>
        <p:spPr>
          <a:xfrm>
            <a:off x="2172085" y="502162"/>
            <a:ext cx="130294" cy="130294"/>
          </a:xfrm>
          <a:prstGeom prst="ellipse">
            <a:avLst/>
          </a:prstGeom>
          <a:solidFill>
            <a:srgbClr val="0063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79" name="Date Placeholder 3">
            <a:extLst>
              <a:ext uri="{FF2B5EF4-FFF2-40B4-BE49-F238E27FC236}">
                <a16:creationId xmlns:a16="http://schemas.microsoft.com/office/drawing/2014/main" id="{21E3C179-6419-31D8-0618-BBB48FC2B8AC}"/>
              </a:ext>
            </a:extLst>
          </p:cNvPr>
          <p:cNvSpPr txBox="1">
            <a:spLocks/>
          </p:cNvSpPr>
          <p:nvPr/>
        </p:nvSpPr>
        <p:spPr>
          <a:xfrm>
            <a:off x="25673" y="4922595"/>
            <a:ext cx="811609" cy="22090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gn="l" rtl="0" eaLnBrk="1" fontAlgn="base" hangingPunct="1">
              <a:lnSpc>
                <a:spcPct val="150000"/>
              </a:lnSpc>
              <a:spcBef>
                <a:spcPct val="0"/>
              </a:spcBef>
              <a:spcAft>
                <a:spcPct val="0"/>
              </a:spcAft>
              <a:defRPr lang="de-DE" sz="1400" kern="1200" baseline="0" noProof="0" dirty="0" smtClean="0">
                <a:solidFill>
                  <a:schemeClr val="tx1"/>
                </a:solidFill>
                <a:latin typeface="+mn-lt"/>
                <a:ea typeface="+mn-ea"/>
                <a:cs typeface="+mn-cs"/>
              </a:defRPr>
            </a:lvl1pPr>
            <a:lvl2pPr marL="176213" indent="-176213" algn="l" rtl="0" eaLnBrk="1" fontAlgn="base" hangingPunct="1">
              <a:lnSpc>
                <a:spcPct val="100000"/>
              </a:lnSpc>
              <a:spcBef>
                <a:spcPct val="0"/>
              </a:spcBef>
              <a:spcAft>
                <a:spcPct val="0"/>
              </a:spcAft>
              <a:buFont typeface="Arial" charset="0"/>
              <a:buChar char="•"/>
              <a:defRPr lang="de-DE" sz="1600" kern="1200" noProof="0" dirty="0" smtClean="0">
                <a:solidFill>
                  <a:schemeClr val="tx1"/>
                </a:solidFill>
                <a:latin typeface="+mn-lt"/>
                <a:ea typeface="+mn-ea"/>
                <a:cs typeface="+mn-cs"/>
              </a:defRPr>
            </a:lvl2pPr>
            <a:lvl3pPr marL="360363" indent="-184150"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fld id="{E6E0805E-65D9-544D-8805-556D80FFC742}" type="datetime1">
              <a:rPr lang="en-US" sz="1000" smtClean="0">
                <a:solidFill>
                  <a:schemeClr val="bg1">
                    <a:lumMod val="85000"/>
                  </a:schemeClr>
                </a:solidFill>
              </a:rPr>
              <a:pPr/>
              <a:t>12/7/25</a:t>
            </a:fld>
            <a:endParaRPr lang="en-US" sz="1000" dirty="0">
              <a:solidFill>
                <a:schemeClr val="bg1">
                  <a:lumMod val="85000"/>
                </a:schemeClr>
              </a:solidFill>
            </a:endParaRPr>
          </a:p>
        </p:txBody>
      </p:sp>
      <p:sp>
        <p:nvSpPr>
          <p:cNvPr id="2" name="Footer Placeholder 4">
            <a:extLst>
              <a:ext uri="{FF2B5EF4-FFF2-40B4-BE49-F238E27FC236}">
                <a16:creationId xmlns:a16="http://schemas.microsoft.com/office/drawing/2014/main" id="{656C4EF1-5F78-93CB-1C36-5CEE2175DDFD}"/>
              </a:ext>
            </a:extLst>
          </p:cNvPr>
          <p:cNvSpPr txBox="1">
            <a:spLocks/>
          </p:cNvSpPr>
          <p:nvPr/>
        </p:nvSpPr>
        <p:spPr>
          <a:xfrm>
            <a:off x="2394860" y="4787044"/>
            <a:ext cx="4482901" cy="360210"/>
          </a:xfrm>
          <a:prstGeom prst="rect">
            <a:avLst/>
          </a:prstGeom>
        </p:spPr>
        <p:txBody>
          <a:bodyPr/>
          <a:ls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lgn="ctr"/>
            <a:br>
              <a:rPr lang="en-US" sz="1000" dirty="0">
                <a:solidFill>
                  <a:schemeClr val="bg1">
                    <a:lumMod val="85000"/>
                  </a:schemeClr>
                </a:solidFill>
              </a:rPr>
            </a:br>
            <a:r>
              <a:rPr lang="en-US" sz="1000" dirty="0">
                <a:solidFill>
                  <a:schemeClr val="bg1">
                    <a:lumMod val="85000"/>
                  </a:schemeClr>
                </a:solidFill>
              </a:rPr>
              <a:t>Algorithmic Decision Making: Metaheuristics and Decomposition in Practice</a:t>
            </a:r>
          </a:p>
        </p:txBody>
      </p:sp>
    </p:spTree>
    <p:extLst>
      <p:ext uri="{BB962C8B-B14F-4D97-AF65-F5344CB8AC3E}">
        <p14:creationId xmlns:p14="http://schemas.microsoft.com/office/powerpoint/2010/main" val="1883951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2">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2">
                                            <p:txEl>
                                              <p:pRg st="0" end="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2">
                                            <p:txEl>
                                              <p:pRg st="5" end="5"/>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6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1"/>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build="allAtOnce"/>
      <p:bldP spid="6" grpId="0"/>
      <p:bldP spid="48" grpId="0" animBg="1"/>
      <p:bldP spid="55" grpId="0" animBg="1"/>
      <p:bldP spid="60" grpId="0" animBg="1"/>
      <p:bldP spid="61" grpId="0"/>
      <p:bldP spid="6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D8273C-BD48-D7FA-1310-9621E7CD019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8B6AB79-18B2-322F-2138-85E68FD38691}"/>
              </a:ext>
            </a:extLst>
          </p:cNvPr>
          <p:cNvSpPr>
            <a:spLocks noGrp="1"/>
          </p:cNvSpPr>
          <p:nvPr>
            <p:ph type="sldNum" sz="quarter" idx="11"/>
          </p:nvPr>
        </p:nvSpPr>
        <p:spPr/>
        <p:txBody>
          <a:bodyPr/>
          <a:lstStyle/>
          <a:p>
            <a:fld id="{CE58CB1E-F828-4F11-99E0-327109AF9DA4}" type="slidenum">
              <a:rPr lang="de-DE" smtClean="0"/>
              <a:pPr/>
              <a:t>10</a:t>
            </a:fld>
            <a:endParaRPr lang="de-DE" dirty="0"/>
          </a:p>
        </p:txBody>
      </p:sp>
      <p:sp>
        <p:nvSpPr>
          <p:cNvPr id="14" name="Rectangle 13">
            <a:extLst>
              <a:ext uri="{FF2B5EF4-FFF2-40B4-BE49-F238E27FC236}">
                <a16:creationId xmlns:a16="http://schemas.microsoft.com/office/drawing/2014/main" id="{3BDC2C69-D994-606A-A6F9-A4B447833E49}"/>
              </a:ext>
            </a:extLst>
          </p:cNvPr>
          <p:cNvSpPr/>
          <p:nvPr/>
        </p:nvSpPr>
        <p:spPr>
          <a:xfrm>
            <a:off x="0" y="252983"/>
            <a:ext cx="1577591" cy="380745"/>
          </a:xfrm>
          <a:prstGeom prst="rect">
            <a:avLst/>
          </a:prstGeom>
          <a:solidFill>
            <a:srgbClr val="0064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nSpc>
                <a:spcPct val="114000"/>
              </a:lnSpc>
            </a:pPr>
            <a:r>
              <a:rPr lang="en-US" dirty="0"/>
              <a:t>Approach</a:t>
            </a:r>
          </a:p>
        </p:txBody>
      </p:sp>
      <p:sp>
        <p:nvSpPr>
          <p:cNvPr id="17" name="Oval 16">
            <a:extLst>
              <a:ext uri="{FF2B5EF4-FFF2-40B4-BE49-F238E27FC236}">
                <a16:creationId xmlns:a16="http://schemas.microsoft.com/office/drawing/2014/main" id="{F1AA1001-2413-D7E0-62F1-6A0A98752FCE}"/>
              </a:ext>
            </a:extLst>
          </p:cNvPr>
          <p:cNvSpPr/>
          <p:nvPr/>
        </p:nvSpPr>
        <p:spPr>
          <a:xfrm>
            <a:off x="1666163" y="503434"/>
            <a:ext cx="130294" cy="130294"/>
          </a:xfrm>
          <a:prstGeom prst="ellipse">
            <a:avLst/>
          </a:prstGeom>
          <a:solidFill>
            <a:srgbClr val="0063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20" name="Oval 19">
            <a:extLst>
              <a:ext uri="{FF2B5EF4-FFF2-40B4-BE49-F238E27FC236}">
                <a16:creationId xmlns:a16="http://schemas.microsoft.com/office/drawing/2014/main" id="{1C724134-32B9-1C11-21E3-C5A5B9A19801}"/>
              </a:ext>
            </a:extLst>
          </p:cNvPr>
          <p:cNvSpPr/>
          <p:nvPr/>
        </p:nvSpPr>
        <p:spPr>
          <a:xfrm>
            <a:off x="1919124" y="503434"/>
            <a:ext cx="130294" cy="130294"/>
          </a:xfrm>
          <a:prstGeom prst="ellipse">
            <a:avLst/>
          </a:prstGeom>
          <a:solidFill>
            <a:srgbClr val="0063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21" name="Oval 20">
            <a:extLst>
              <a:ext uri="{FF2B5EF4-FFF2-40B4-BE49-F238E27FC236}">
                <a16:creationId xmlns:a16="http://schemas.microsoft.com/office/drawing/2014/main" id="{F1DCF22C-ACB1-6A2C-A858-35F4D186B8ED}"/>
              </a:ext>
            </a:extLst>
          </p:cNvPr>
          <p:cNvSpPr/>
          <p:nvPr/>
        </p:nvSpPr>
        <p:spPr>
          <a:xfrm>
            <a:off x="2172085" y="502162"/>
            <a:ext cx="130294" cy="130294"/>
          </a:xfrm>
          <a:prstGeom prst="ellipse">
            <a:avLst/>
          </a:prstGeom>
          <a:solidFill>
            <a:srgbClr val="0063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cxnSp>
        <p:nvCxnSpPr>
          <p:cNvPr id="22" name="Straight Connector 21">
            <a:extLst>
              <a:ext uri="{FF2B5EF4-FFF2-40B4-BE49-F238E27FC236}">
                <a16:creationId xmlns:a16="http://schemas.microsoft.com/office/drawing/2014/main" id="{1B86C862-A7B7-1382-8ECC-16F84FC89FC0}"/>
              </a:ext>
            </a:extLst>
          </p:cNvPr>
          <p:cNvCxnSpPr>
            <a:cxnSpLocks/>
          </p:cNvCxnSpPr>
          <p:nvPr/>
        </p:nvCxnSpPr>
        <p:spPr>
          <a:xfrm>
            <a:off x="0" y="0"/>
            <a:ext cx="1577591"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A0F9BFD-EF71-FD0A-F6C2-94A5A1C13CFB}"/>
              </a:ext>
            </a:extLst>
          </p:cNvPr>
          <p:cNvCxnSpPr>
            <a:cxnSpLocks/>
          </p:cNvCxnSpPr>
          <p:nvPr/>
        </p:nvCxnSpPr>
        <p:spPr>
          <a:xfrm>
            <a:off x="1513583" y="0"/>
            <a:ext cx="1577591"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1C82D2F8-B67C-4270-7723-CF589C3AEC16}"/>
              </a:ext>
            </a:extLst>
          </p:cNvPr>
          <p:cNvCxnSpPr>
            <a:cxnSpLocks/>
          </p:cNvCxnSpPr>
          <p:nvPr/>
        </p:nvCxnSpPr>
        <p:spPr>
          <a:xfrm>
            <a:off x="3091174" y="0"/>
            <a:ext cx="1577591"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3D8A6BF0-8835-6D7C-DA85-77B6F5BEF019}"/>
              </a:ext>
            </a:extLst>
          </p:cNvPr>
          <p:cNvCxnSpPr>
            <a:cxnSpLocks/>
          </p:cNvCxnSpPr>
          <p:nvPr/>
        </p:nvCxnSpPr>
        <p:spPr>
          <a:xfrm>
            <a:off x="4668765" y="0"/>
            <a:ext cx="1577591"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5" name="Title 2">
            <a:extLst>
              <a:ext uri="{FF2B5EF4-FFF2-40B4-BE49-F238E27FC236}">
                <a16:creationId xmlns:a16="http://schemas.microsoft.com/office/drawing/2014/main" id="{831B1DF0-238B-70BB-B4C8-1119F8130AEB}"/>
              </a:ext>
            </a:extLst>
          </p:cNvPr>
          <p:cNvSpPr>
            <a:spLocks noGrp="1"/>
          </p:cNvSpPr>
          <p:nvPr>
            <p:ph type="title"/>
          </p:nvPr>
        </p:nvSpPr>
        <p:spPr>
          <a:xfrm>
            <a:off x="319090" y="972000"/>
            <a:ext cx="8508999" cy="380745"/>
          </a:xfrm>
        </p:spPr>
        <p:txBody>
          <a:bodyPr/>
          <a:lstStyle/>
          <a:p>
            <a:r>
              <a:rPr lang="en-US" dirty="0"/>
              <a:t>APU Fine-tuning</a:t>
            </a:r>
          </a:p>
        </p:txBody>
      </p:sp>
      <p:graphicFrame>
        <p:nvGraphicFramePr>
          <p:cNvPr id="36" name="Table 35">
            <a:extLst>
              <a:ext uri="{FF2B5EF4-FFF2-40B4-BE49-F238E27FC236}">
                <a16:creationId xmlns:a16="http://schemas.microsoft.com/office/drawing/2014/main" id="{92D879DA-5162-8275-5681-1CE3D4309E2C}"/>
              </a:ext>
            </a:extLst>
          </p:cNvPr>
          <p:cNvGraphicFramePr>
            <a:graphicFrameLocks noGrp="1"/>
          </p:cNvGraphicFramePr>
          <p:nvPr>
            <p:extLst>
              <p:ext uri="{D42A27DB-BD31-4B8C-83A1-F6EECF244321}">
                <p14:modId xmlns:p14="http://schemas.microsoft.com/office/powerpoint/2010/main" val="1993434378"/>
              </p:ext>
            </p:extLst>
          </p:nvPr>
        </p:nvGraphicFramePr>
        <p:xfrm>
          <a:off x="494062" y="1806155"/>
          <a:ext cx="3347469" cy="751839"/>
        </p:xfrm>
        <a:graphic>
          <a:graphicData uri="http://schemas.openxmlformats.org/drawingml/2006/table">
            <a:tbl>
              <a:tblPr firstRow="1" firstCol="1" bandRow="1">
                <a:tableStyleId>{9D7B26C5-4107-4FEC-AEDC-1716B250A1EF}</a:tableStyleId>
              </a:tblPr>
              <a:tblGrid>
                <a:gridCol w="890453">
                  <a:extLst>
                    <a:ext uri="{9D8B030D-6E8A-4147-A177-3AD203B41FA5}">
                      <a16:colId xmlns:a16="http://schemas.microsoft.com/office/drawing/2014/main" val="1586629716"/>
                    </a:ext>
                  </a:extLst>
                </a:gridCol>
                <a:gridCol w="704094">
                  <a:extLst>
                    <a:ext uri="{9D8B030D-6E8A-4147-A177-3AD203B41FA5}">
                      <a16:colId xmlns:a16="http://schemas.microsoft.com/office/drawing/2014/main" val="3066029726"/>
                    </a:ext>
                  </a:extLst>
                </a:gridCol>
                <a:gridCol w="887730">
                  <a:extLst>
                    <a:ext uri="{9D8B030D-6E8A-4147-A177-3AD203B41FA5}">
                      <a16:colId xmlns:a16="http://schemas.microsoft.com/office/drawing/2014/main" val="756684971"/>
                    </a:ext>
                  </a:extLst>
                </a:gridCol>
                <a:gridCol w="865192">
                  <a:extLst>
                    <a:ext uri="{9D8B030D-6E8A-4147-A177-3AD203B41FA5}">
                      <a16:colId xmlns:a16="http://schemas.microsoft.com/office/drawing/2014/main" val="3602171042"/>
                    </a:ext>
                  </a:extLst>
                </a:gridCol>
              </a:tblGrid>
              <a:tr h="472096">
                <a:tc>
                  <a:txBody>
                    <a:bodyPr/>
                    <a:lstStyle/>
                    <a:p>
                      <a:r>
                        <a:rPr lang="en-US" sz="1100" dirty="0">
                          <a:latin typeface="Arial" panose="020B0604020202020204" pitchFamily="34" charset="0"/>
                          <a:cs typeface="Arial" panose="020B0604020202020204" pitchFamily="34" charset="0"/>
                        </a:rPr>
                        <a:t>Dataset</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r>
                        <a:rPr lang="en-US" sz="1100" dirty="0">
                          <a:latin typeface="Arial" panose="020B0604020202020204" pitchFamily="34" charset="0"/>
                          <a:cs typeface="Arial" panose="020B0604020202020204" pitchFamily="34" charset="0"/>
                        </a:rPr>
                        <a:t>Train</a:t>
                      </a:r>
                    </a:p>
                  </a:txBody>
                  <a:tcPr>
                    <a:lnT w="12700" cap="flat" cmpd="sng" algn="ctr">
                      <a:solidFill>
                        <a:schemeClr val="tx1"/>
                      </a:solidFill>
                      <a:prstDash val="solid"/>
                      <a:round/>
                      <a:headEnd type="none" w="med" len="med"/>
                      <a:tailEnd type="none" w="med" len="med"/>
                    </a:lnT>
                    <a:solidFill>
                      <a:schemeClr val="accent5">
                        <a:lumMod val="60000"/>
                        <a:lumOff val="40000"/>
                      </a:schemeClr>
                    </a:solidFill>
                  </a:tcPr>
                </a:tc>
                <a:tc>
                  <a:txBody>
                    <a:bodyPr/>
                    <a:lstStyle/>
                    <a:p>
                      <a:r>
                        <a:rPr lang="en-US" sz="1100" dirty="0">
                          <a:latin typeface="Arial" panose="020B0604020202020204" pitchFamily="34" charset="0"/>
                          <a:cs typeface="Arial" panose="020B0604020202020204" pitchFamily="34" charset="0"/>
                        </a:rPr>
                        <a:t>Validation</a:t>
                      </a:r>
                    </a:p>
                  </a:txBody>
                  <a:tcPr>
                    <a:lnT w="12700" cap="flat" cmpd="sng" algn="ctr">
                      <a:solidFill>
                        <a:schemeClr val="tx1"/>
                      </a:solidFill>
                      <a:prstDash val="solid"/>
                      <a:round/>
                      <a:headEnd type="none" w="med" len="med"/>
                      <a:tailEnd type="none" w="med" len="med"/>
                    </a:lnT>
                  </a:tcPr>
                </a:tc>
                <a:tc>
                  <a:txBody>
                    <a:bodyPr/>
                    <a:lstStyle/>
                    <a:p>
                      <a:r>
                        <a:rPr lang="en-US" sz="1100" dirty="0">
                          <a:latin typeface="Arial" panose="020B0604020202020204" pitchFamily="34" charset="0"/>
                          <a:cs typeface="Arial" panose="020B0604020202020204" pitchFamily="34" charset="0"/>
                        </a:rPr>
                        <a:t>Test</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4205102794"/>
                  </a:ext>
                </a:extLst>
              </a:tr>
              <a:tr h="279743">
                <a:tc>
                  <a:txBody>
                    <a:bodyPr/>
                    <a:lstStyle/>
                    <a:p>
                      <a:r>
                        <a:rPr lang="en-US" sz="1100" dirty="0">
                          <a:latin typeface="Arial" panose="020B0604020202020204" pitchFamily="34" charset="0"/>
                          <a:cs typeface="Arial" panose="020B0604020202020204" pitchFamily="34" charset="0"/>
                        </a:rPr>
                        <a:t>HQ</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r>
                        <a:rPr lang="en-US" sz="1100" dirty="0">
                          <a:latin typeface="Arial" panose="020B0604020202020204" pitchFamily="34" charset="0"/>
                          <a:cs typeface="Arial" panose="020B0604020202020204" pitchFamily="34" charset="0"/>
                        </a:rPr>
                        <a:t>62664</a:t>
                      </a:r>
                    </a:p>
                  </a:txBody>
                  <a:tcPr>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r>
                        <a:rPr lang="en-US" sz="1100" dirty="0">
                          <a:latin typeface="Arial" panose="020B0604020202020204" pitchFamily="34" charset="0"/>
                          <a:cs typeface="Arial" panose="020B0604020202020204" pitchFamily="34" charset="0"/>
                        </a:rPr>
                        <a:t>7827</a:t>
                      </a:r>
                    </a:p>
                  </a:txBody>
                  <a:tcPr>
                    <a:lnB w="12700" cap="flat" cmpd="sng" algn="ctr">
                      <a:solidFill>
                        <a:schemeClr val="tx1"/>
                      </a:solidFill>
                      <a:prstDash val="solid"/>
                      <a:round/>
                      <a:headEnd type="none" w="med" len="med"/>
                      <a:tailEnd type="none" w="med" len="med"/>
                    </a:lnB>
                  </a:tcPr>
                </a:tc>
                <a:tc>
                  <a:txBody>
                    <a:bodyPr/>
                    <a:lstStyle/>
                    <a:p>
                      <a:r>
                        <a:rPr lang="en-US" sz="1100" dirty="0">
                          <a:latin typeface="Arial" panose="020B0604020202020204" pitchFamily="34" charset="0"/>
                          <a:cs typeface="Arial" panose="020B0604020202020204" pitchFamily="34" charset="0"/>
                        </a:rPr>
                        <a:t>7826</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09499438"/>
                  </a:ext>
                </a:extLst>
              </a:tr>
            </a:tbl>
          </a:graphicData>
        </a:graphic>
      </p:graphicFrame>
      <p:sp>
        <p:nvSpPr>
          <p:cNvPr id="37" name="Right Arrow 36">
            <a:extLst>
              <a:ext uri="{FF2B5EF4-FFF2-40B4-BE49-F238E27FC236}">
                <a16:creationId xmlns:a16="http://schemas.microsoft.com/office/drawing/2014/main" id="{9CAA2891-5242-773C-FAF7-05F4FB89D7A1}"/>
              </a:ext>
            </a:extLst>
          </p:cNvPr>
          <p:cNvSpPr/>
          <p:nvPr/>
        </p:nvSpPr>
        <p:spPr>
          <a:xfrm>
            <a:off x="1151388" y="3012726"/>
            <a:ext cx="1177200" cy="156296"/>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grpSp>
        <p:nvGrpSpPr>
          <p:cNvPr id="38" name="Group 37">
            <a:extLst>
              <a:ext uri="{FF2B5EF4-FFF2-40B4-BE49-F238E27FC236}">
                <a16:creationId xmlns:a16="http://schemas.microsoft.com/office/drawing/2014/main" id="{505451D0-5EA0-ED9E-E8A6-857C87E1FAF8}"/>
              </a:ext>
            </a:extLst>
          </p:cNvPr>
          <p:cNvGrpSpPr/>
          <p:nvPr/>
        </p:nvGrpSpPr>
        <p:grpSpPr>
          <a:xfrm>
            <a:off x="458470" y="2678627"/>
            <a:ext cx="698500" cy="1041016"/>
            <a:chOff x="5008528" y="1721106"/>
            <a:chExt cx="698500" cy="1041016"/>
          </a:xfrm>
        </p:grpSpPr>
        <p:pic>
          <p:nvPicPr>
            <p:cNvPr id="39" name="Picture 38">
              <a:extLst>
                <a:ext uri="{FF2B5EF4-FFF2-40B4-BE49-F238E27FC236}">
                  <a16:creationId xmlns:a16="http://schemas.microsoft.com/office/drawing/2014/main" id="{A9A863B5-3926-09CE-1F36-159637D0F64A}"/>
                </a:ext>
              </a:extLst>
            </p:cNvPr>
            <p:cNvPicPr>
              <a:picLocks noChangeAspect="1"/>
            </p:cNvPicPr>
            <p:nvPr/>
          </p:nvPicPr>
          <p:blipFill>
            <a:blip r:embed="rId3"/>
            <a:stretch>
              <a:fillRect/>
            </a:stretch>
          </p:blipFill>
          <p:spPr>
            <a:xfrm>
              <a:off x="5072028" y="1721106"/>
              <a:ext cx="635000" cy="647700"/>
            </a:xfrm>
            <a:prstGeom prst="rect">
              <a:avLst/>
            </a:prstGeom>
          </p:spPr>
        </p:pic>
        <p:sp>
          <p:nvSpPr>
            <p:cNvPr id="40" name="TextBox 39">
              <a:extLst>
                <a:ext uri="{FF2B5EF4-FFF2-40B4-BE49-F238E27FC236}">
                  <a16:creationId xmlns:a16="http://schemas.microsoft.com/office/drawing/2014/main" id="{8907A011-2506-1DE4-A7DE-EAFF01D1CEEB}"/>
                </a:ext>
              </a:extLst>
            </p:cNvPr>
            <p:cNvSpPr txBox="1"/>
            <p:nvPr/>
          </p:nvSpPr>
          <p:spPr>
            <a:xfrm>
              <a:off x="5008528" y="2381377"/>
              <a:ext cx="635000" cy="380745"/>
            </a:xfrm>
            <a:prstGeom prst="rect">
              <a:avLst/>
            </a:prstGeom>
            <a:noFill/>
          </p:spPr>
          <p:txBody>
            <a:bodyPr wrap="square" lIns="0" tIns="0" rIns="0" bIns="0" rtlCol="0">
              <a:spAutoFit/>
            </a:bodyPr>
            <a:lstStyle/>
            <a:p>
              <a:pPr algn="ctr">
                <a:lnSpc>
                  <a:spcPct val="114000"/>
                </a:lnSpc>
              </a:pPr>
              <a:r>
                <a:rPr lang="en-US" sz="1100" dirty="0">
                  <a:latin typeface="+mn-lt"/>
                </a:rPr>
                <a:t>Original</a:t>
              </a:r>
            </a:p>
            <a:p>
              <a:pPr algn="ctr">
                <a:lnSpc>
                  <a:spcPct val="114000"/>
                </a:lnSpc>
              </a:pPr>
              <a:r>
                <a:rPr lang="en-US" sz="1100" dirty="0">
                  <a:latin typeface="+mn-lt"/>
                </a:rPr>
                <a:t>LLM</a:t>
              </a:r>
            </a:p>
          </p:txBody>
        </p:sp>
      </p:grpSp>
      <p:grpSp>
        <p:nvGrpSpPr>
          <p:cNvPr id="41" name="Group 40">
            <a:extLst>
              <a:ext uri="{FF2B5EF4-FFF2-40B4-BE49-F238E27FC236}">
                <a16:creationId xmlns:a16="http://schemas.microsoft.com/office/drawing/2014/main" id="{B3D00C29-6315-EBE5-0195-774278CC86D6}"/>
              </a:ext>
            </a:extLst>
          </p:cNvPr>
          <p:cNvGrpSpPr/>
          <p:nvPr/>
        </p:nvGrpSpPr>
        <p:grpSpPr>
          <a:xfrm>
            <a:off x="2388224" y="2695569"/>
            <a:ext cx="824875" cy="1034912"/>
            <a:chOff x="4997169" y="1721106"/>
            <a:chExt cx="824875" cy="1034912"/>
          </a:xfrm>
        </p:grpSpPr>
        <p:pic>
          <p:nvPicPr>
            <p:cNvPr id="42" name="Picture 41">
              <a:extLst>
                <a:ext uri="{FF2B5EF4-FFF2-40B4-BE49-F238E27FC236}">
                  <a16:creationId xmlns:a16="http://schemas.microsoft.com/office/drawing/2014/main" id="{5181C3E2-74AF-8DC0-7DA6-8C124E29F1C7}"/>
                </a:ext>
              </a:extLst>
            </p:cNvPr>
            <p:cNvPicPr>
              <a:picLocks noChangeAspect="1"/>
            </p:cNvPicPr>
            <p:nvPr/>
          </p:nvPicPr>
          <p:blipFill>
            <a:blip r:embed="rId3"/>
            <a:stretch>
              <a:fillRect/>
            </a:stretch>
          </p:blipFill>
          <p:spPr>
            <a:xfrm>
              <a:off x="5072028" y="1721106"/>
              <a:ext cx="635000" cy="647700"/>
            </a:xfrm>
            <a:prstGeom prst="rect">
              <a:avLst/>
            </a:prstGeom>
          </p:spPr>
        </p:pic>
        <p:sp>
          <p:nvSpPr>
            <p:cNvPr id="43" name="TextBox 42">
              <a:extLst>
                <a:ext uri="{FF2B5EF4-FFF2-40B4-BE49-F238E27FC236}">
                  <a16:creationId xmlns:a16="http://schemas.microsoft.com/office/drawing/2014/main" id="{DA84B18F-A26D-C32D-766C-BCA105E6ED26}"/>
                </a:ext>
              </a:extLst>
            </p:cNvPr>
            <p:cNvSpPr txBox="1"/>
            <p:nvPr/>
          </p:nvSpPr>
          <p:spPr>
            <a:xfrm>
              <a:off x="4997169" y="2375272"/>
              <a:ext cx="824875" cy="380746"/>
            </a:xfrm>
            <a:prstGeom prst="rect">
              <a:avLst/>
            </a:prstGeom>
            <a:noFill/>
          </p:spPr>
          <p:txBody>
            <a:bodyPr wrap="square" lIns="0" tIns="0" rIns="0" bIns="0" rtlCol="0">
              <a:spAutoFit/>
            </a:bodyPr>
            <a:lstStyle/>
            <a:p>
              <a:pPr algn="ctr">
                <a:lnSpc>
                  <a:spcPct val="114000"/>
                </a:lnSpc>
              </a:pPr>
              <a:r>
                <a:rPr lang="en-US" sz="1100" dirty="0">
                  <a:latin typeface="+mn-lt"/>
                </a:rPr>
                <a:t>Fine-tuned</a:t>
              </a:r>
            </a:p>
            <a:p>
              <a:pPr algn="ctr">
                <a:lnSpc>
                  <a:spcPct val="114000"/>
                </a:lnSpc>
              </a:pPr>
              <a:r>
                <a:rPr lang="en-US" sz="1100" dirty="0">
                  <a:latin typeface="+mn-lt"/>
                </a:rPr>
                <a:t>LLM(</a:t>
              </a:r>
              <a:r>
                <a:rPr lang="en-US" sz="1100" dirty="0" err="1">
                  <a:latin typeface="+mn-lt"/>
                </a:rPr>
                <a:t>Soup</a:t>
              </a:r>
              <a:r>
                <a:rPr lang="en-US" sz="1100" baseline="-25000" dirty="0" err="1">
                  <a:latin typeface="+mn-lt"/>
                </a:rPr>
                <a:t>u</a:t>
              </a:r>
              <a:r>
                <a:rPr lang="en-US" sz="1100" dirty="0">
                  <a:latin typeface="+mn-lt"/>
                </a:rPr>
                <a:t>)</a:t>
              </a:r>
            </a:p>
          </p:txBody>
        </p:sp>
      </p:grpSp>
      <p:sp>
        <p:nvSpPr>
          <p:cNvPr id="44" name="Right Arrow 43">
            <a:extLst>
              <a:ext uri="{FF2B5EF4-FFF2-40B4-BE49-F238E27FC236}">
                <a16:creationId xmlns:a16="http://schemas.microsoft.com/office/drawing/2014/main" id="{A00AEED4-96CD-9C10-D501-BB6AF0BEFCD8}"/>
              </a:ext>
            </a:extLst>
          </p:cNvPr>
          <p:cNvSpPr/>
          <p:nvPr/>
        </p:nvSpPr>
        <p:spPr>
          <a:xfrm rot="5400000">
            <a:off x="1563092" y="2707847"/>
            <a:ext cx="503975" cy="111476"/>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45" name="TextBox 44">
            <a:extLst>
              <a:ext uri="{FF2B5EF4-FFF2-40B4-BE49-F238E27FC236}">
                <a16:creationId xmlns:a16="http://schemas.microsoft.com/office/drawing/2014/main" id="{E5B599A8-2DD9-7297-4CBA-33D727E6672A}"/>
              </a:ext>
            </a:extLst>
          </p:cNvPr>
          <p:cNvSpPr txBox="1"/>
          <p:nvPr/>
        </p:nvSpPr>
        <p:spPr>
          <a:xfrm>
            <a:off x="1203436" y="3202218"/>
            <a:ext cx="1077639" cy="562911"/>
          </a:xfrm>
          <a:prstGeom prst="rect">
            <a:avLst/>
          </a:prstGeom>
          <a:noFill/>
        </p:spPr>
        <p:txBody>
          <a:bodyPr wrap="square" lIns="0" tIns="0" rIns="0" bIns="0" rtlCol="0">
            <a:spAutoFit/>
          </a:bodyPr>
          <a:lstStyle/>
          <a:p>
            <a:pPr algn="ctr">
              <a:lnSpc>
                <a:spcPct val="114000"/>
              </a:lnSpc>
            </a:pPr>
            <a:r>
              <a:rPr lang="en-US" sz="1100" dirty="0">
                <a:latin typeface="+mn-lt"/>
              </a:rPr>
              <a:t>Prompt Learning</a:t>
            </a:r>
          </a:p>
          <a:p>
            <a:pPr algn="ctr">
              <a:lnSpc>
                <a:spcPct val="114000"/>
              </a:lnSpc>
            </a:pPr>
            <a:r>
              <a:rPr lang="en-US" sz="1100" dirty="0">
                <a:latin typeface="+mn-lt"/>
              </a:rPr>
              <a:t>+</a:t>
            </a:r>
          </a:p>
          <a:p>
            <a:pPr algn="ctr">
              <a:lnSpc>
                <a:spcPct val="114000"/>
              </a:lnSpc>
            </a:pPr>
            <a:r>
              <a:rPr lang="en-US" sz="1100" dirty="0" err="1">
                <a:latin typeface="+mn-lt"/>
              </a:rPr>
              <a:t>LoRA</a:t>
            </a:r>
            <a:endParaRPr lang="en-US" sz="1100" dirty="0">
              <a:latin typeface="+mn-lt"/>
            </a:endParaRPr>
          </a:p>
        </p:txBody>
      </p:sp>
      <p:sp>
        <p:nvSpPr>
          <p:cNvPr id="46" name="Rounded Rectangle 45">
            <a:extLst>
              <a:ext uri="{FF2B5EF4-FFF2-40B4-BE49-F238E27FC236}">
                <a16:creationId xmlns:a16="http://schemas.microsoft.com/office/drawing/2014/main" id="{8552A2B4-EBD5-E5CE-1757-3DB2C55BF3F1}"/>
              </a:ext>
            </a:extLst>
          </p:cNvPr>
          <p:cNvSpPr/>
          <p:nvPr/>
        </p:nvSpPr>
        <p:spPr>
          <a:xfrm>
            <a:off x="4404196" y="1164565"/>
            <a:ext cx="4533859" cy="3489498"/>
          </a:xfrm>
          <a:prstGeom prst="round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r>
              <a:rPr lang="en-US" dirty="0"/>
              <a:t>Low Rank Adaptation</a:t>
            </a:r>
          </a:p>
        </p:txBody>
      </p:sp>
      <p:pic>
        <p:nvPicPr>
          <p:cNvPr id="47" name="Graphic 46" descr="Table outline">
            <a:extLst>
              <a:ext uri="{FF2B5EF4-FFF2-40B4-BE49-F238E27FC236}">
                <a16:creationId xmlns:a16="http://schemas.microsoft.com/office/drawing/2014/main" id="{9A269A50-E971-0D63-7F1C-4987F62847A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898136" y="1980040"/>
            <a:ext cx="914400" cy="914400"/>
          </a:xfrm>
          <a:prstGeom prst="rect">
            <a:avLst/>
          </a:prstGeom>
        </p:spPr>
      </p:pic>
      <p:sp>
        <p:nvSpPr>
          <p:cNvPr id="48" name="TextBox 47">
            <a:extLst>
              <a:ext uri="{FF2B5EF4-FFF2-40B4-BE49-F238E27FC236}">
                <a16:creationId xmlns:a16="http://schemas.microsoft.com/office/drawing/2014/main" id="{7862991E-707E-2BC7-7E05-73506AF4D4AA}"/>
              </a:ext>
            </a:extLst>
          </p:cNvPr>
          <p:cNvSpPr txBox="1"/>
          <p:nvPr/>
        </p:nvSpPr>
        <p:spPr>
          <a:xfrm>
            <a:off x="571985" y="4065797"/>
            <a:ext cx="3346178" cy="537968"/>
          </a:xfrm>
          <a:prstGeom prst="rect">
            <a:avLst/>
          </a:prstGeom>
          <a:noFill/>
        </p:spPr>
        <p:txBody>
          <a:bodyPr wrap="square" lIns="0" tIns="0" rIns="0" bIns="0" rtlCol="0">
            <a:spAutoFit/>
          </a:bodyPr>
          <a:lstStyle/>
          <a:p>
            <a:pPr>
              <a:lnSpc>
                <a:spcPct val="114000"/>
              </a:lnSpc>
            </a:pPr>
            <a:r>
              <a:rPr lang="en-US" sz="1600" dirty="0">
                <a:latin typeface="+mn-lt"/>
              </a:rPr>
              <a:t>Instead of</a:t>
            </a:r>
          </a:p>
          <a:p>
            <a:pPr>
              <a:lnSpc>
                <a:spcPct val="114000"/>
              </a:lnSpc>
            </a:pPr>
            <a:r>
              <a:rPr lang="en-US" sz="1600" dirty="0">
                <a:latin typeface="+mn-lt"/>
              </a:rPr>
              <a:t>Use </a:t>
            </a:r>
          </a:p>
        </p:txBody>
      </p:sp>
      <p:sp>
        <p:nvSpPr>
          <p:cNvPr id="49" name="Rectangle 48">
            <a:extLst>
              <a:ext uri="{FF2B5EF4-FFF2-40B4-BE49-F238E27FC236}">
                <a16:creationId xmlns:a16="http://schemas.microsoft.com/office/drawing/2014/main" id="{D80CD05B-2E71-8641-DE7F-0185AA1BCF51}"/>
              </a:ext>
            </a:extLst>
          </p:cNvPr>
          <p:cNvSpPr/>
          <p:nvPr/>
        </p:nvSpPr>
        <p:spPr>
          <a:xfrm>
            <a:off x="4916043" y="1819457"/>
            <a:ext cx="897033" cy="2831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r>
              <a:rPr lang="en-US" sz="900" dirty="0"/>
              <a:t>X = N x d1</a:t>
            </a:r>
          </a:p>
        </p:txBody>
      </p:sp>
      <p:sp>
        <p:nvSpPr>
          <p:cNvPr id="50" name="Rectangle 49">
            <a:extLst>
              <a:ext uri="{FF2B5EF4-FFF2-40B4-BE49-F238E27FC236}">
                <a16:creationId xmlns:a16="http://schemas.microsoft.com/office/drawing/2014/main" id="{BD4A832D-928B-7338-444B-B1C8A658597D}"/>
              </a:ext>
            </a:extLst>
          </p:cNvPr>
          <p:cNvSpPr/>
          <p:nvPr/>
        </p:nvSpPr>
        <p:spPr>
          <a:xfrm>
            <a:off x="4937064" y="2771859"/>
            <a:ext cx="897033" cy="2831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r>
              <a:rPr lang="en-US" sz="900" dirty="0"/>
              <a:t>Y = N x d2</a:t>
            </a:r>
          </a:p>
        </p:txBody>
      </p:sp>
      <p:pic>
        <p:nvPicPr>
          <p:cNvPr id="51" name="Graphic 50" descr="Table outline">
            <a:extLst>
              <a:ext uri="{FF2B5EF4-FFF2-40B4-BE49-F238E27FC236}">
                <a16:creationId xmlns:a16="http://schemas.microsoft.com/office/drawing/2014/main" id="{94F4C58F-A730-B202-87B2-22ECD12D7BC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937064" y="3434061"/>
            <a:ext cx="914400" cy="914400"/>
          </a:xfrm>
          <a:prstGeom prst="rect">
            <a:avLst/>
          </a:prstGeom>
        </p:spPr>
      </p:pic>
      <p:sp>
        <p:nvSpPr>
          <p:cNvPr id="52" name="Right Brace 51">
            <a:extLst>
              <a:ext uri="{FF2B5EF4-FFF2-40B4-BE49-F238E27FC236}">
                <a16:creationId xmlns:a16="http://schemas.microsoft.com/office/drawing/2014/main" id="{4BB135CD-5155-92BE-46A4-D95673D04C55}"/>
              </a:ext>
            </a:extLst>
          </p:cNvPr>
          <p:cNvSpPr/>
          <p:nvPr/>
        </p:nvSpPr>
        <p:spPr>
          <a:xfrm>
            <a:off x="7837671" y="2135318"/>
            <a:ext cx="219729" cy="596803"/>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3" name="TextBox 52">
            <a:extLst>
              <a:ext uri="{FF2B5EF4-FFF2-40B4-BE49-F238E27FC236}">
                <a16:creationId xmlns:a16="http://schemas.microsoft.com/office/drawing/2014/main" id="{DAFDA89D-3C66-A673-F3BB-59E85DE67443}"/>
              </a:ext>
            </a:extLst>
          </p:cNvPr>
          <p:cNvSpPr txBox="1"/>
          <p:nvPr/>
        </p:nvSpPr>
        <p:spPr>
          <a:xfrm>
            <a:off x="8099150" y="2254404"/>
            <a:ext cx="660437" cy="336182"/>
          </a:xfrm>
          <a:prstGeom prst="rect">
            <a:avLst/>
          </a:prstGeom>
          <a:noFill/>
        </p:spPr>
        <p:txBody>
          <a:bodyPr wrap="none" lIns="0" tIns="0" rIns="0" bIns="0" rtlCol="0">
            <a:spAutoFit/>
          </a:bodyPr>
          <a:lstStyle/>
          <a:p>
            <a:pPr algn="ctr">
              <a:lnSpc>
                <a:spcPct val="114000"/>
              </a:lnSpc>
            </a:pPr>
            <a:r>
              <a:rPr lang="en-US" sz="1000" dirty="0">
                <a:latin typeface="+mn-lt"/>
              </a:rPr>
              <a:t>Large </a:t>
            </a:r>
          </a:p>
          <a:p>
            <a:pPr algn="ctr">
              <a:lnSpc>
                <a:spcPct val="114000"/>
              </a:lnSpc>
            </a:pPr>
            <a:r>
              <a:rPr lang="en-US" sz="1000" dirty="0">
                <a:latin typeface="+mn-lt"/>
              </a:rPr>
              <a:t>Parameters</a:t>
            </a:r>
          </a:p>
        </p:txBody>
      </p:sp>
      <p:sp>
        <p:nvSpPr>
          <p:cNvPr id="54" name="Rectangle 53">
            <a:extLst>
              <a:ext uri="{FF2B5EF4-FFF2-40B4-BE49-F238E27FC236}">
                <a16:creationId xmlns:a16="http://schemas.microsoft.com/office/drawing/2014/main" id="{C2117BAB-52BF-2FC0-1240-A16FC1DFB0F0}"/>
              </a:ext>
            </a:extLst>
          </p:cNvPr>
          <p:cNvSpPr/>
          <p:nvPr/>
        </p:nvSpPr>
        <p:spPr>
          <a:xfrm>
            <a:off x="4954971" y="3273478"/>
            <a:ext cx="897033" cy="2831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r>
              <a:rPr lang="en-US" sz="900" dirty="0"/>
              <a:t>X = N x d1</a:t>
            </a:r>
          </a:p>
        </p:txBody>
      </p:sp>
      <p:sp>
        <p:nvSpPr>
          <p:cNvPr id="55" name="Rectangle 54">
            <a:extLst>
              <a:ext uri="{FF2B5EF4-FFF2-40B4-BE49-F238E27FC236}">
                <a16:creationId xmlns:a16="http://schemas.microsoft.com/office/drawing/2014/main" id="{4891B3BA-7BA5-DF37-3E94-47759C57C84A}"/>
              </a:ext>
            </a:extLst>
          </p:cNvPr>
          <p:cNvSpPr/>
          <p:nvPr/>
        </p:nvSpPr>
        <p:spPr>
          <a:xfrm>
            <a:off x="4937064" y="4238304"/>
            <a:ext cx="897033" cy="2831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r>
              <a:rPr lang="en-US" sz="900" dirty="0"/>
              <a:t>Y = N x d2</a:t>
            </a:r>
          </a:p>
        </p:txBody>
      </p:sp>
      <p:pic>
        <p:nvPicPr>
          <p:cNvPr id="56" name="Graphic 55" descr="Table outline">
            <a:extLst>
              <a:ext uri="{FF2B5EF4-FFF2-40B4-BE49-F238E27FC236}">
                <a16:creationId xmlns:a16="http://schemas.microsoft.com/office/drawing/2014/main" id="{264629E4-3332-8078-BA0B-F184A5A582D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077672" y="1980040"/>
            <a:ext cx="914400" cy="914400"/>
          </a:xfrm>
          <a:prstGeom prst="rect">
            <a:avLst/>
          </a:prstGeom>
        </p:spPr>
      </p:pic>
      <p:sp>
        <p:nvSpPr>
          <p:cNvPr id="57" name="Rectangle 56">
            <a:extLst>
              <a:ext uri="{FF2B5EF4-FFF2-40B4-BE49-F238E27FC236}">
                <a16:creationId xmlns:a16="http://schemas.microsoft.com/office/drawing/2014/main" id="{A4619054-2F51-282A-5AF2-1D9F412DAFD8}"/>
              </a:ext>
            </a:extLst>
          </p:cNvPr>
          <p:cNvSpPr/>
          <p:nvPr/>
        </p:nvSpPr>
        <p:spPr>
          <a:xfrm>
            <a:off x="7095579" y="1819457"/>
            <a:ext cx="897033" cy="2831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r>
              <a:rPr lang="en-US" sz="900" dirty="0"/>
              <a:t>X = N x d1</a:t>
            </a:r>
          </a:p>
        </p:txBody>
      </p:sp>
      <p:sp>
        <p:nvSpPr>
          <p:cNvPr id="58" name="Rectangle 57">
            <a:extLst>
              <a:ext uri="{FF2B5EF4-FFF2-40B4-BE49-F238E27FC236}">
                <a16:creationId xmlns:a16="http://schemas.microsoft.com/office/drawing/2014/main" id="{5F4C8B48-1496-5F09-9463-1AB0A29A2001}"/>
              </a:ext>
            </a:extLst>
          </p:cNvPr>
          <p:cNvSpPr/>
          <p:nvPr/>
        </p:nvSpPr>
        <p:spPr>
          <a:xfrm>
            <a:off x="7116600" y="2771859"/>
            <a:ext cx="897033" cy="2831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r>
              <a:rPr lang="en-US" sz="900" dirty="0"/>
              <a:t>Y = N x d2</a:t>
            </a:r>
          </a:p>
        </p:txBody>
      </p:sp>
      <p:sp>
        <p:nvSpPr>
          <p:cNvPr id="59" name="Right Arrow 58">
            <a:extLst>
              <a:ext uri="{FF2B5EF4-FFF2-40B4-BE49-F238E27FC236}">
                <a16:creationId xmlns:a16="http://schemas.microsoft.com/office/drawing/2014/main" id="{71447232-C1F8-98B7-73D8-04F844847776}"/>
              </a:ext>
            </a:extLst>
          </p:cNvPr>
          <p:cNvSpPr/>
          <p:nvPr/>
        </p:nvSpPr>
        <p:spPr>
          <a:xfrm>
            <a:off x="6099126" y="2349500"/>
            <a:ext cx="873174" cy="128901"/>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60" name="TextBox 59">
            <a:extLst>
              <a:ext uri="{FF2B5EF4-FFF2-40B4-BE49-F238E27FC236}">
                <a16:creationId xmlns:a16="http://schemas.microsoft.com/office/drawing/2014/main" id="{795E285A-9991-E6E2-0951-B5FB5E82F051}"/>
              </a:ext>
            </a:extLst>
          </p:cNvPr>
          <p:cNvSpPr txBox="1"/>
          <p:nvPr/>
        </p:nvSpPr>
        <p:spPr>
          <a:xfrm>
            <a:off x="5849236" y="2146627"/>
            <a:ext cx="1951735" cy="176908"/>
          </a:xfrm>
          <a:prstGeom prst="rect">
            <a:avLst/>
          </a:prstGeom>
          <a:noFill/>
        </p:spPr>
        <p:txBody>
          <a:bodyPr wrap="square" lIns="0" tIns="0" rIns="0" bIns="0" rtlCol="0">
            <a:spAutoFit/>
          </a:bodyPr>
          <a:lstStyle/>
          <a:p>
            <a:pPr>
              <a:lnSpc>
                <a:spcPct val="114000"/>
              </a:lnSpc>
            </a:pPr>
            <a:r>
              <a:rPr lang="en-US" sz="1100" dirty="0">
                <a:latin typeface="+mn-lt"/>
              </a:rPr>
              <a:t>Update Parameters</a:t>
            </a:r>
          </a:p>
        </p:txBody>
      </p:sp>
      <p:pic>
        <p:nvPicPr>
          <p:cNvPr id="61" name="Graphic 60" descr="Table outline">
            <a:extLst>
              <a:ext uri="{FF2B5EF4-FFF2-40B4-BE49-F238E27FC236}">
                <a16:creationId xmlns:a16="http://schemas.microsoft.com/office/drawing/2014/main" id="{30779D94-D86D-97F7-20F0-9559B4824AF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579274" y="3423208"/>
            <a:ext cx="914400" cy="914400"/>
          </a:xfrm>
          <a:prstGeom prst="rect">
            <a:avLst/>
          </a:prstGeom>
        </p:spPr>
      </p:pic>
      <p:sp>
        <p:nvSpPr>
          <p:cNvPr id="62" name="Rectangle 61">
            <a:extLst>
              <a:ext uri="{FF2B5EF4-FFF2-40B4-BE49-F238E27FC236}">
                <a16:creationId xmlns:a16="http://schemas.microsoft.com/office/drawing/2014/main" id="{50B5F330-738E-1F6B-5BAB-AB01B882946E}"/>
              </a:ext>
            </a:extLst>
          </p:cNvPr>
          <p:cNvSpPr/>
          <p:nvPr/>
        </p:nvSpPr>
        <p:spPr>
          <a:xfrm>
            <a:off x="7139426" y="3226789"/>
            <a:ext cx="897033" cy="2831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r>
              <a:rPr lang="en-US" sz="900" dirty="0"/>
              <a:t>X = N x d1</a:t>
            </a:r>
          </a:p>
        </p:txBody>
      </p:sp>
      <p:sp>
        <p:nvSpPr>
          <p:cNvPr id="63" name="Rectangle 62">
            <a:extLst>
              <a:ext uri="{FF2B5EF4-FFF2-40B4-BE49-F238E27FC236}">
                <a16:creationId xmlns:a16="http://schemas.microsoft.com/office/drawing/2014/main" id="{AA37C8B6-3344-EA60-38DC-B0476658908A}"/>
              </a:ext>
            </a:extLst>
          </p:cNvPr>
          <p:cNvSpPr/>
          <p:nvPr/>
        </p:nvSpPr>
        <p:spPr>
          <a:xfrm>
            <a:off x="7116600" y="4244726"/>
            <a:ext cx="897033" cy="2831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r>
              <a:rPr lang="en-US" sz="900" dirty="0"/>
              <a:t>Y = N x d2</a:t>
            </a:r>
          </a:p>
        </p:txBody>
      </p:sp>
      <p:pic>
        <p:nvPicPr>
          <p:cNvPr id="64" name="Graphic 63" descr="Table outline">
            <a:extLst>
              <a:ext uri="{FF2B5EF4-FFF2-40B4-BE49-F238E27FC236}">
                <a16:creationId xmlns:a16="http://schemas.microsoft.com/office/drawing/2014/main" id="{44552238-E7B2-3EC3-C059-14FBA3102AB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807319" y="3797637"/>
            <a:ext cx="457200" cy="457200"/>
          </a:xfrm>
          <a:prstGeom prst="rect">
            <a:avLst/>
          </a:prstGeom>
        </p:spPr>
      </p:pic>
      <p:pic>
        <p:nvPicPr>
          <p:cNvPr id="65" name="Graphic 64" descr="Table outline">
            <a:extLst>
              <a:ext uri="{FF2B5EF4-FFF2-40B4-BE49-F238E27FC236}">
                <a16:creationId xmlns:a16="http://schemas.microsoft.com/office/drawing/2014/main" id="{F7A2C08A-D90E-83C7-1191-F7E7685914E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800971" y="3521735"/>
            <a:ext cx="457200" cy="457200"/>
          </a:xfrm>
          <a:prstGeom prst="rect">
            <a:avLst/>
          </a:prstGeom>
        </p:spPr>
      </p:pic>
      <p:sp>
        <p:nvSpPr>
          <p:cNvPr id="66" name="TextBox 65">
            <a:extLst>
              <a:ext uri="{FF2B5EF4-FFF2-40B4-BE49-F238E27FC236}">
                <a16:creationId xmlns:a16="http://schemas.microsoft.com/office/drawing/2014/main" id="{1C927AC1-4750-4765-CBBD-82FF2AB8668F}"/>
              </a:ext>
            </a:extLst>
          </p:cNvPr>
          <p:cNvSpPr txBox="1"/>
          <p:nvPr/>
        </p:nvSpPr>
        <p:spPr>
          <a:xfrm>
            <a:off x="8289092" y="3601856"/>
            <a:ext cx="541815" cy="168829"/>
          </a:xfrm>
          <a:prstGeom prst="rect">
            <a:avLst/>
          </a:prstGeom>
          <a:noFill/>
        </p:spPr>
        <p:txBody>
          <a:bodyPr wrap="none" lIns="0" tIns="0" rIns="0" bIns="0" rtlCol="0">
            <a:spAutoFit/>
          </a:bodyPr>
          <a:lstStyle/>
          <a:p>
            <a:pPr>
              <a:lnSpc>
                <a:spcPct val="114000"/>
              </a:lnSpc>
            </a:pPr>
            <a:r>
              <a:rPr lang="en-US" sz="1050" dirty="0">
                <a:latin typeface="+mn-lt"/>
              </a:rPr>
              <a:t>A= d1 x r</a:t>
            </a:r>
          </a:p>
        </p:txBody>
      </p:sp>
      <p:sp>
        <p:nvSpPr>
          <p:cNvPr id="67" name="TextBox 66">
            <a:extLst>
              <a:ext uri="{FF2B5EF4-FFF2-40B4-BE49-F238E27FC236}">
                <a16:creationId xmlns:a16="http://schemas.microsoft.com/office/drawing/2014/main" id="{E13CE0A7-95E6-8E04-6A7B-3C72D1404C44}"/>
              </a:ext>
            </a:extLst>
          </p:cNvPr>
          <p:cNvSpPr txBox="1"/>
          <p:nvPr/>
        </p:nvSpPr>
        <p:spPr>
          <a:xfrm>
            <a:off x="8289092" y="3891261"/>
            <a:ext cx="565861" cy="176908"/>
          </a:xfrm>
          <a:prstGeom prst="rect">
            <a:avLst/>
          </a:prstGeom>
          <a:noFill/>
        </p:spPr>
        <p:txBody>
          <a:bodyPr wrap="none" lIns="0" tIns="0" rIns="0" bIns="0" rtlCol="0">
            <a:spAutoFit/>
          </a:bodyPr>
          <a:lstStyle/>
          <a:p>
            <a:pPr>
              <a:lnSpc>
                <a:spcPct val="114000"/>
              </a:lnSpc>
            </a:pPr>
            <a:r>
              <a:rPr lang="en-US" sz="1100" dirty="0">
                <a:latin typeface="+mn-lt"/>
              </a:rPr>
              <a:t>B= r x d2</a:t>
            </a:r>
          </a:p>
        </p:txBody>
      </p:sp>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CAFA972D-1026-C382-4AF1-1DD46390DB4A}"/>
                  </a:ext>
                </a:extLst>
              </p:cNvPr>
              <p:cNvSpPr txBox="1"/>
              <p:nvPr/>
            </p:nvSpPr>
            <p:spPr>
              <a:xfrm>
                <a:off x="1712356" y="4065797"/>
                <a:ext cx="823174" cy="280718"/>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𝑦</m:t>
                      </m:r>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𝑊</m:t>
                          </m:r>
                        </m:e>
                        <m:sub>
                          <m:r>
                            <a:rPr lang="en-US" sz="1600" b="0" i="1" smtClean="0">
                              <a:latin typeface="Cambria Math" panose="02040503050406030204" pitchFamily="18" charset="0"/>
                            </a:rPr>
                            <m:t>0</m:t>
                          </m:r>
                        </m:sub>
                      </m:sSub>
                      <m:r>
                        <a:rPr lang="en-US" sz="1600" b="0" i="1" smtClean="0">
                          <a:latin typeface="Cambria Math" panose="02040503050406030204" pitchFamily="18" charset="0"/>
                        </a:rPr>
                        <m:t>𝑥</m:t>
                      </m:r>
                    </m:oMath>
                  </m:oMathPara>
                </a14:m>
                <a:endParaRPr lang="en-US" sz="1600" dirty="0" err="1">
                  <a:latin typeface="+mn-lt"/>
                </a:endParaRPr>
              </a:p>
            </p:txBody>
          </p:sp>
        </mc:Choice>
        <mc:Fallback xmlns="">
          <p:sp>
            <p:nvSpPr>
              <p:cNvPr id="68" name="TextBox 67">
                <a:extLst>
                  <a:ext uri="{FF2B5EF4-FFF2-40B4-BE49-F238E27FC236}">
                    <a16:creationId xmlns:a16="http://schemas.microsoft.com/office/drawing/2014/main" id="{CAFA972D-1026-C382-4AF1-1DD46390DB4A}"/>
                  </a:ext>
                </a:extLst>
              </p:cNvPr>
              <p:cNvSpPr txBox="1">
                <a:spLocks noRot="1" noChangeAspect="1" noMove="1" noResize="1" noEditPoints="1" noAdjustHandles="1" noChangeArrowheads="1" noChangeShapeType="1" noTextEdit="1"/>
              </p:cNvSpPr>
              <p:nvPr/>
            </p:nvSpPr>
            <p:spPr>
              <a:xfrm>
                <a:off x="1712356" y="4065797"/>
                <a:ext cx="823174" cy="280718"/>
              </a:xfrm>
              <a:prstGeom prst="rect">
                <a:avLst/>
              </a:prstGeom>
              <a:blipFill>
                <a:blip r:embed="rId10"/>
                <a:stretch>
                  <a:fillRect l="-4545" r="-1515" b="-130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E9C39A96-6284-0E15-3DA4-871BCA72EABE}"/>
                  </a:ext>
                </a:extLst>
              </p:cNvPr>
              <p:cNvSpPr txBox="1"/>
              <p:nvPr/>
            </p:nvSpPr>
            <p:spPr>
              <a:xfrm>
                <a:off x="1167131" y="4362746"/>
                <a:ext cx="1424942" cy="280718"/>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𝑦</m:t>
                      </m:r>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𝑊</m:t>
                          </m:r>
                        </m:e>
                        <m:sub>
                          <m:r>
                            <a:rPr lang="en-US" sz="1600" b="0" i="1" smtClean="0">
                              <a:latin typeface="Cambria Math" panose="02040503050406030204" pitchFamily="18" charset="0"/>
                            </a:rPr>
                            <m:t>0</m:t>
                          </m:r>
                          <m:r>
                            <a:rPr lang="en-US" sz="1600" b="0" i="1" smtClean="0">
                              <a:latin typeface="Cambria Math" panose="02040503050406030204" pitchFamily="18" charset="0"/>
                            </a:rPr>
                            <m:t>𝑥</m:t>
                          </m:r>
                        </m:sub>
                      </m:sSub>
                      <m:r>
                        <a:rPr lang="en-US" sz="1600" b="0" i="1" smtClean="0">
                          <a:latin typeface="Cambria Math" panose="02040503050406030204" pitchFamily="18" charset="0"/>
                        </a:rPr>
                        <m:t>+</m:t>
                      </m:r>
                      <m:r>
                        <a:rPr lang="en-US" sz="1600" b="0" i="1" smtClean="0">
                          <a:solidFill>
                            <a:srgbClr val="FF0000"/>
                          </a:solidFill>
                          <a:latin typeface="Cambria Math" panose="02040503050406030204" pitchFamily="18" charset="0"/>
                        </a:rPr>
                        <m:t>𝐵𝐴𝑥</m:t>
                      </m:r>
                    </m:oMath>
                  </m:oMathPara>
                </a14:m>
                <a:endParaRPr lang="en-US" sz="1600" b="0" dirty="0">
                  <a:latin typeface="+mn-lt"/>
                </a:endParaRPr>
              </a:p>
            </p:txBody>
          </p:sp>
        </mc:Choice>
        <mc:Fallback xmlns="">
          <p:sp>
            <p:nvSpPr>
              <p:cNvPr id="69" name="TextBox 68">
                <a:extLst>
                  <a:ext uri="{FF2B5EF4-FFF2-40B4-BE49-F238E27FC236}">
                    <a16:creationId xmlns:a16="http://schemas.microsoft.com/office/drawing/2014/main" id="{E9C39A96-6284-0E15-3DA4-871BCA72EABE}"/>
                  </a:ext>
                </a:extLst>
              </p:cNvPr>
              <p:cNvSpPr txBox="1">
                <a:spLocks noRot="1" noChangeAspect="1" noMove="1" noResize="1" noEditPoints="1" noAdjustHandles="1" noChangeArrowheads="1" noChangeShapeType="1" noTextEdit="1"/>
              </p:cNvSpPr>
              <p:nvPr/>
            </p:nvSpPr>
            <p:spPr>
              <a:xfrm>
                <a:off x="1167131" y="4362746"/>
                <a:ext cx="1424942" cy="280718"/>
              </a:xfrm>
              <a:prstGeom prst="rect">
                <a:avLst/>
              </a:prstGeom>
              <a:blipFill>
                <a:blip r:embed="rId11"/>
                <a:stretch>
                  <a:fillRect l="-2632" r="-1754" b="-13043"/>
                </a:stretch>
              </a:blipFill>
            </p:spPr>
            <p:txBody>
              <a:bodyPr/>
              <a:lstStyle/>
              <a:p>
                <a:r>
                  <a:rPr lang="en-US">
                    <a:noFill/>
                  </a:rPr>
                  <a:t> </a:t>
                </a:r>
              </a:p>
            </p:txBody>
          </p:sp>
        </mc:Fallback>
      </mc:AlternateContent>
      <p:cxnSp>
        <p:nvCxnSpPr>
          <p:cNvPr id="70" name="Straight Arrow Connector 69">
            <a:extLst>
              <a:ext uri="{FF2B5EF4-FFF2-40B4-BE49-F238E27FC236}">
                <a16:creationId xmlns:a16="http://schemas.microsoft.com/office/drawing/2014/main" id="{9AF77A84-CA94-955E-3ABF-68485FE80ACB}"/>
              </a:ext>
            </a:extLst>
          </p:cNvPr>
          <p:cNvCxnSpPr>
            <a:stCxn id="49" idx="2"/>
          </p:cNvCxnSpPr>
          <p:nvPr/>
        </p:nvCxnSpPr>
        <p:spPr>
          <a:xfrm flipH="1">
            <a:off x="5364559" y="2102621"/>
            <a:ext cx="1" cy="1324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AD9E075A-F91F-25F3-1322-A6B3D20D5DED}"/>
              </a:ext>
            </a:extLst>
          </p:cNvPr>
          <p:cNvCxnSpPr/>
          <p:nvPr/>
        </p:nvCxnSpPr>
        <p:spPr>
          <a:xfrm flipH="1">
            <a:off x="5364559" y="2636021"/>
            <a:ext cx="1" cy="1324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A78BEC1F-87E1-FB31-A862-EDEE9B9E5A50}"/>
              </a:ext>
            </a:extLst>
          </p:cNvPr>
          <p:cNvCxnSpPr/>
          <p:nvPr/>
        </p:nvCxnSpPr>
        <p:spPr>
          <a:xfrm flipH="1">
            <a:off x="7536259" y="2089921"/>
            <a:ext cx="1" cy="1324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DA63599F-71C9-88E6-2E7E-61D990A402C8}"/>
              </a:ext>
            </a:extLst>
          </p:cNvPr>
          <p:cNvCxnSpPr/>
          <p:nvPr/>
        </p:nvCxnSpPr>
        <p:spPr>
          <a:xfrm flipH="1">
            <a:off x="5364559" y="3563121"/>
            <a:ext cx="1" cy="1324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A8C4D453-C2CF-93A2-6609-4616852DC4B6}"/>
              </a:ext>
            </a:extLst>
          </p:cNvPr>
          <p:cNvCxnSpPr/>
          <p:nvPr/>
        </p:nvCxnSpPr>
        <p:spPr>
          <a:xfrm flipH="1">
            <a:off x="5364559" y="4096521"/>
            <a:ext cx="1" cy="1324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6A3F8D27-8EC3-5DAB-8494-2681C7C7FCFF}"/>
              </a:ext>
            </a:extLst>
          </p:cNvPr>
          <p:cNvCxnSpPr/>
          <p:nvPr/>
        </p:nvCxnSpPr>
        <p:spPr>
          <a:xfrm flipH="1">
            <a:off x="7116600" y="3521735"/>
            <a:ext cx="427495" cy="1064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A1D78B42-B0CE-D792-971F-5D0F2D69C12F}"/>
              </a:ext>
            </a:extLst>
          </p:cNvPr>
          <p:cNvCxnSpPr/>
          <p:nvPr/>
        </p:nvCxnSpPr>
        <p:spPr>
          <a:xfrm>
            <a:off x="7587942" y="3529270"/>
            <a:ext cx="440989" cy="999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82C54E35-DD12-34AD-4067-5B33AEA1E805}"/>
              </a:ext>
            </a:extLst>
          </p:cNvPr>
          <p:cNvCxnSpPr>
            <a:endCxn id="63" idx="0"/>
          </p:cNvCxnSpPr>
          <p:nvPr/>
        </p:nvCxnSpPr>
        <p:spPr>
          <a:xfrm>
            <a:off x="7116600" y="4096521"/>
            <a:ext cx="448517" cy="1482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806169A7-59C8-F11B-C7E7-FB6F38E9E803}"/>
              </a:ext>
            </a:extLst>
          </p:cNvPr>
          <p:cNvCxnSpPr/>
          <p:nvPr/>
        </p:nvCxnSpPr>
        <p:spPr>
          <a:xfrm flipH="1">
            <a:off x="7764794" y="4148511"/>
            <a:ext cx="287753" cy="804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9" name="Right Arrow 78">
            <a:extLst>
              <a:ext uri="{FF2B5EF4-FFF2-40B4-BE49-F238E27FC236}">
                <a16:creationId xmlns:a16="http://schemas.microsoft.com/office/drawing/2014/main" id="{73C84DC2-F39F-C165-4915-6004903AB151}"/>
              </a:ext>
            </a:extLst>
          </p:cNvPr>
          <p:cNvSpPr/>
          <p:nvPr/>
        </p:nvSpPr>
        <p:spPr>
          <a:xfrm>
            <a:off x="5931240" y="3838767"/>
            <a:ext cx="513984" cy="134552"/>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84" name="Oval 83">
            <a:extLst>
              <a:ext uri="{FF2B5EF4-FFF2-40B4-BE49-F238E27FC236}">
                <a16:creationId xmlns:a16="http://schemas.microsoft.com/office/drawing/2014/main" id="{4799C6FD-7B49-EE28-7FD1-46647375FBC5}"/>
              </a:ext>
            </a:extLst>
          </p:cNvPr>
          <p:cNvSpPr/>
          <p:nvPr/>
        </p:nvSpPr>
        <p:spPr>
          <a:xfrm>
            <a:off x="2425046" y="497193"/>
            <a:ext cx="130294" cy="130294"/>
          </a:xfrm>
          <a:prstGeom prst="ellipse">
            <a:avLst/>
          </a:prstGeom>
          <a:solidFill>
            <a:srgbClr val="0063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86" name="Date Placeholder 3">
            <a:extLst>
              <a:ext uri="{FF2B5EF4-FFF2-40B4-BE49-F238E27FC236}">
                <a16:creationId xmlns:a16="http://schemas.microsoft.com/office/drawing/2014/main" id="{A14FB8CB-3FD6-2DCB-C6BB-B9F738F8BD61}"/>
              </a:ext>
            </a:extLst>
          </p:cNvPr>
          <p:cNvSpPr txBox="1">
            <a:spLocks/>
          </p:cNvSpPr>
          <p:nvPr/>
        </p:nvSpPr>
        <p:spPr>
          <a:xfrm>
            <a:off x="25673" y="4922595"/>
            <a:ext cx="811609" cy="22090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gn="l" rtl="0" eaLnBrk="1" fontAlgn="base" hangingPunct="1">
              <a:lnSpc>
                <a:spcPct val="150000"/>
              </a:lnSpc>
              <a:spcBef>
                <a:spcPct val="0"/>
              </a:spcBef>
              <a:spcAft>
                <a:spcPct val="0"/>
              </a:spcAft>
              <a:defRPr lang="de-DE" sz="1400" kern="1200" baseline="0" noProof="0" dirty="0" smtClean="0">
                <a:solidFill>
                  <a:schemeClr val="tx1"/>
                </a:solidFill>
                <a:latin typeface="+mn-lt"/>
                <a:ea typeface="+mn-ea"/>
                <a:cs typeface="+mn-cs"/>
              </a:defRPr>
            </a:lvl1pPr>
            <a:lvl2pPr marL="176213" indent="-176213" algn="l" rtl="0" eaLnBrk="1" fontAlgn="base" hangingPunct="1">
              <a:lnSpc>
                <a:spcPct val="100000"/>
              </a:lnSpc>
              <a:spcBef>
                <a:spcPct val="0"/>
              </a:spcBef>
              <a:spcAft>
                <a:spcPct val="0"/>
              </a:spcAft>
              <a:buFont typeface="Arial" charset="0"/>
              <a:buChar char="•"/>
              <a:defRPr lang="de-DE" sz="1600" kern="1200" noProof="0" dirty="0" smtClean="0">
                <a:solidFill>
                  <a:schemeClr val="tx1"/>
                </a:solidFill>
                <a:latin typeface="+mn-lt"/>
                <a:ea typeface="+mn-ea"/>
                <a:cs typeface="+mn-cs"/>
              </a:defRPr>
            </a:lvl2pPr>
            <a:lvl3pPr marL="360363" indent="-184150"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fld id="{E6E0805E-65D9-544D-8805-556D80FFC742}" type="datetime1">
              <a:rPr lang="en-US" sz="1000" smtClean="0">
                <a:solidFill>
                  <a:schemeClr val="bg1">
                    <a:lumMod val="85000"/>
                  </a:schemeClr>
                </a:solidFill>
              </a:rPr>
              <a:pPr/>
              <a:t>12/7/25</a:t>
            </a:fld>
            <a:endParaRPr lang="en-US" sz="1000" dirty="0">
              <a:solidFill>
                <a:schemeClr val="bg1">
                  <a:lumMod val="85000"/>
                </a:schemeClr>
              </a:solidFill>
            </a:endParaRPr>
          </a:p>
        </p:txBody>
      </p:sp>
      <p:sp>
        <p:nvSpPr>
          <p:cNvPr id="2" name="Footer Placeholder 4">
            <a:extLst>
              <a:ext uri="{FF2B5EF4-FFF2-40B4-BE49-F238E27FC236}">
                <a16:creationId xmlns:a16="http://schemas.microsoft.com/office/drawing/2014/main" id="{94C72867-CF4C-5042-C5D6-061668C0A998}"/>
              </a:ext>
            </a:extLst>
          </p:cNvPr>
          <p:cNvSpPr txBox="1">
            <a:spLocks/>
          </p:cNvSpPr>
          <p:nvPr/>
        </p:nvSpPr>
        <p:spPr>
          <a:xfrm>
            <a:off x="2394860" y="4787044"/>
            <a:ext cx="4482901" cy="360210"/>
          </a:xfrm>
          <a:prstGeom prst="rect">
            <a:avLst/>
          </a:prstGeom>
        </p:spPr>
        <p:txBody>
          <a:bodyPr/>
          <a:ls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lgn="ctr"/>
            <a:br>
              <a:rPr lang="en-US" sz="1000" dirty="0">
                <a:solidFill>
                  <a:schemeClr val="bg1">
                    <a:lumMod val="85000"/>
                  </a:schemeClr>
                </a:solidFill>
              </a:rPr>
            </a:br>
            <a:r>
              <a:rPr lang="en-US" sz="1000" dirty="0">
                <a:solidFill>
                  <a:schemeClr val="bg1">
                    <a:lumMod val="85000"/>
                  </a:schemeClr>
                </a:solidFill>
              </a:rPr>
              <a:t>Algorithmic Decision Making: Metaheuristics and Decomposition in Practice</a:t>
            </a:r>
          </a:p>
        </p:txBody>
      </p:sp>
    </p:spTree>
    <p:extLst>
      <p:ext uri="{BB962C8B-B14F-4D97-AF65-F5344CB8AC3E}">
        <p14:creationId xmlns:p14="http://schemas.microsoft.com/office/powerpoint/2010/main" val="845554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3"/>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5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60"/>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70"/>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71"/>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72"/>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1"/>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54"/>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55"/>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61"/>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62"/>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63"/>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64"/>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65"/>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66"/>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67"/>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73"/>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74"/>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75"/>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76"/>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77"/>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78"/>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44" grpId="0" animBg="1"/>
      <p:bldP spid="45" grpId="0"/>
      <p:bldP spid="46" grpId="0" animBg="1"/>
      <p:bldP spid="48" grpId="0"/>
      <p:bldP spid="49" grpId="0" animBg="1"/>
      <p:bldP spid="50" grpId="0" animBg="1"/>
      <p:bldP spid="52" grpId="0" animBg="1"/>
      <p:bldP spid="53" grpId="0"/>
      <p:bldP spid="54" grpId="0" animBg="1"/>
      <p:bldP spid="55" grpId="0" animBg="1"/>
      <p:bldP spid="57" grpId="0" animBg="1"/>
      <p:bldP spid="58" grpId="0" animBg="1"/>
      <p:bldP spid="59" grpId="0" animBg="1"/>
      <p:bldP spid="60" grpId="0"/>
      <p:bldP spid="62" grpId="0" animBg="1"/>
      <p:bldP spid="63" grpId="0" animBg="1"/>
      <p:bldP spid="66" grpId="0"/>
      <p:bldP spid="67" grpId="0"/>
      <p:bldP spid="68" grpId="0"/>
      <p:bldP spid="69" grpId="0"/>
      <p:bldP spid="7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6B15C4C5-4063-A5AA-E2A1-ACB9E8174C4A}"/>
              </a:ext>
            </a:extLst>
          </p:cNvPr>
          <p:cNvSpPr/>
          <p:nvPr/>
        </p:nvSpPr>
        <p:spPr>
          <a:xfrm>
            <a:off x="0" y="857263"/>
            <a:ext cx="9233554" cy="53558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r>
              <a:rPr lang="de-DE" sz="1800" dirty="0">
                <a:solidFill>
                  <a:schemeClr val="bg1"/>
                </a:solidFill>
                <a:latin typeface="Arial" panose="020B0604020202020204" pitchFamily="34" charset="0"/>
                <a:cs typeface="Arial" panose="020B0604020202020204" pitchFamily="34" charset="0"/>
              </a:rPr>
              <a:t>RQ1: </a:t>
            </a:r>
            <a:r>
              <a:rPr lang="en-US" sz="1800" b="1" dirty="0">
                <a:solidFill>
                  <a:schemeClr val="bg1"/>
                </a:solidFill>
                <a:effectLst/>
                <a:latin typeface="Arial" panose="020B0604020202020204" pitchFamily="34" charset="0"/>
                <a:cs typeface="Arial" panose="020B0604020202020204" pitchFamily="34" charset="0"/>
              </a:rPr>
              <a:t>How effective is our approach for predicting VCP?</a:t>
            </a:r>
            <a:br>
              <a:rPr lang="en-US" sz="1800" b="1" dirty="0">
                <a:solidFill>
                  <a:schemeClr val="bg1"/>
                </a:solidFill>
                <a:effectLst/>
                <a:latin typeface="Arial" panose="020B0604020202020204" pitchFamily="34" charset="0"/>
                <a:cs typeface="Arial" panose="020B0604020202020204" pitchFamily="34" charset="0"/>
              </a:rPr>
            </a:br>
            <a:endParaRPr lang="en-US" dirty="0"/>
          </a:p>
        </p:txBody>
      </p:sp>
      <p:sp>
        <p:nvSpPr>
          <p:cNvPr id="7" name="Inhaltsplatzhalter 6"/>
          <p:cNvSpPr>
            <a:spLocks noGrp="1"/>
          </p:cNvSpPr>
          <p:nvPr>
            <p:ph idx="1"/>
          </p:nvPr>
        </p:nvSpPr>
        <p:spPr>
          <a:xfrm>
            <a:off x="315912" y="1600200"/>
            <a:ext cx="8512178" cy="679527"/>
          </a:xfrm>
        </p:spPr>
        <p:txBody>
          <a:bodyPr/>
          <a:lstStyle/>
          <a:p>
            <a:r>
              <a:rPr lang="de-DE" sz="1600" dirty="0"/>
              <a:t>Experiment:</a:t>
            </a:r>
          </a:p>
          <a:p>
            <a:endParaRPr lang="en-US" altLang="zh-CN" dirty="0"/>
          </a:p>
          <a:p>
            <a:endParaRPr lang="en-US" altLang="zh-CN" dirty="0"/>
          </a:p>
          <a:p>
            <a:endParaRPr lang="en-US" dirty="0"/>
          </a:p>
          <a:p>
            <a:endParaRPr lang="en-US" dirty="0"/>
          </a:p>
          <a:p>
            <a:endParaRPr lang="en-US" dirty="0"/>
          </a:p>
          <a:p>
            <a:endParaRPr lang="de-DE" dirty="0"/>
          </a:p>
        </p:txBody>
      </p:sp>
      <p:sp>
        <p:nvSpPr>
          <p:cNvPr id="4" name="Foliennummernplatzhalter 3"/>
          <p:cNvSpPr>
            <a:spLocks noGrp="1"/>
          </p:cNvSpPr>
          <p:nvPr>
            <p:ph type="sldNum" sz="quarter" idx="11"/>
          </p:nvPr>
        </p:nvSpPr>
        <p:spPr/>
        <p:txBody>
          <a:bodyPr/>
          <a:lstStyle/>
          <a:p>
            <a:fld id="{CE58CB1E-F828-4F11-99E0-327109AF9DA4}" type="slidenum">
              <a:rPr lang="de-DE" smtClean="0"/>
              <a:pPr/>
              <a:t>11</a:t>
            </a:fld>
            <a:endParaRPr lang="de-DE" dirty="0"/>
          </a:p>
        </p:txBody>
      </p:sp>
      <p:sp>
        <p:nvSpPr>
          <p:cNvPr id="5" name="TextBox 4">
            <a:extLst>
              <a:ext uri="{FF2B5EF4-FFF2-40B4-BE49-F238E27FC236}">
                <a16:creationId xmlns:a16="http://schemas.microsoft.com/office/drawing/2014/main" id="{348A3075-EB3E-1CCC-DCE8-623D74C11CB8}"/>
              </a:ext>
            </a:extLst>
          </p:cNvPr>
          <p:cNvSpPr txBox="1"/>
          <p:nvPr/>
        </p:nvSpPr>
        <p:spPr>
          <a:xfrm>
            <a:off x="315912" y="3668729"/>
            <a:ext cx="8146163" cy="1389996"/>
          </a:xfrm>
          <a:prstGeom prst="rect">
            <a:avLst/>
          </a:prstGeom>
          <a:noFill/>
        </p:spPr>
        <p:txBody>
          <a:bodyPr wrap="square" lIns="0" tIns="0" rIns="0" bIns="0" rtlCol="0">
            <a:spAutoFit/>
          </a:bodyPr>
          <a:lstStyle/>
          <a:p>
            <a:pPr>
              <a:lnSpc>
                <a:spcPct val="114000"/>
              </a:lnSpc>
            </a:pPr>
            <a:endParaRPr lang="en-US" sz="1600" dirty="0">
              <a:latin typeface="Arial" panose="020B0604020202020204" pitchFamily="34" charset="0"/>
              <a:cs typeface="Arial" panose="020B0604020202020204" pitchFamily="34" charset="0"/>
            </a:endParaRPr>
          </a:p>
          <a:p>
            <a:pPr>
              <a:lnSpc>
                <a:spcPct val="114000"/>
              </a:lnSpc>
            </a:pPr>
            <a:r>
              <a:rPr lang="en-US" sz="1600" dirty="0">
                <a:latin typeface="+mn-lt"/>
              </a:rPr>
              <a:t>Tang’s</a:t>
            </a:r>
          </a:p>
          <a:p>
            <a:pPr>
              <a:lnSpc>
                <a:spcPct val="114000"/>
              </a:lnSpc>
            </a:pPr>
            <a:r>
              <a:rPr lang="en-US" sz="1600" dirty="0">
                <a:latin typeface="+mn-lt"/>
              </a:rPr>
              <a:t>Recall: Can’t recognize comments without code.</a:t>
            </a:r>
          </a:p>
          <a:p>
            <a:pPr>
              <a:lnSpc>
                <a:spcPct val="114000"/>
              </a:lnSpc>
            </a:pPr>
            <a:r>
              <a:rPr lang="en-US" sz="1600" dirty="0">
                <a:latin typeface="+mn-lt"/>
              </a:rPr>
              <a:t>Precision: Can’t capture </a:t>
            </a:r>
            <a:r>
              <a:rPr lang="en-US" sz="1600" dirty="0">
                <a:solidFill>
                  <a:srgbClr val="141413"/>
                </a:solidFill>
                <a:effectLst/>
                <a:latin typeface="Helvetica" pitchFamily="2" charset="0"/>
              </a:rPr>
              <a:t>semantics between comments and edits.</a:t>
            </a:r>
          </a:p>
          <a:p>
            <a:pPr>
              <a:lnSpc>
                <a:spcPct val="114000"/>
              </a:lnSpc>
            </a:pPr>
            <a:endParaRPr lang="en-US" sz="1600" dirty="0">
              <a:solidFill>
                <a:srgbClr val="141413"/>
              </a:solidFill>
              <a:latin typeface="Helvetica" pitchFamily="2" charset="0"/>
            </a:endParaRPr>
          </a:p>
        </p:txBody>
      </p:sp>
      <p:sp>
        <p:nvSpPr>
          <p:cNvPr id="13" name="Rectangle 12">
            <a:extLst>
              <a:ext uri="{FF2B5EF4-FFF2-40B4-BE49-F238E27FC236}">
                <a16:creationId xmlns:a16="http://schemas.microsoft.com/office/drawing/2014/main" id="{88EF001F-2836-FD20-4893-5EAB1140F968}"/>
              </a:ext>
            </a:extLst>
          </p:cNvPr>
          <p:cNvSpPr/>
          <p:nvPr/>
        </p:nvSpPr>
        <p:spPr>
          <a:xfrm>
            <a:off x="0" y="252983"/>
            <a:ext cx="1577591" cy="380745"/>
          </a:xfrm>
          <a:prstGeom prst="rect">
            <a:avLst/>
          </a:prstGeom>
          <a:solidFill>
            <a:srgbClr val="0064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nSpc>
                <a:spcPct val="114000"/>
              </a:lnSpc>
            </a:pPr>
            <a:r>
              <a:rPr lang="en-US" dirty="0"/>
              <a:t>Evaluation</a:t>
            </a:r>
          </a:p>
        </p:txBody>
      </p:sp>
      <p:cxnSp>
        <p:nvCxnSpPr>
          <p:cNvPr id="14" name="Straight Connector 13">
            <a:extLst>
              <a:ext uri="{FF2B5EF4-FFF2-40B4-BE49-F238E27FC236}">
                <a16:creationId xmlns:a16="http://schemas.microsoft.com/office/drawing/2014/main" id="{C890CE8B-FBCA-2E9F-17F8-D4525B289A14}"/>
              </a:ext>
            </a:extLst>
          </p:cNvPr>
          <p:cNvCxnSpPr>
            <a:cxnSpLocks/>
          </p:cNvCxnSpPr>
          <p:nvPr/>
        </p:nvCxnSpPr>
        <p:spPr>
          <a:xfrm>
            <a:off x="0" y="0"/>
            <a:ext cx="1577591"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25658A5-680C-CA68-6092-B39881EC4090}"/>
              </a:ext>
            </a:extLst>
          </p:cNvPr>
          <p:cNvCxnSpPr>
            <a:cxnSpLocks/>
          </p:cNvCxnSpPr>
          <p:nvPr/>
        </p:nvCxnSpPr>
        <p:spPr>
          <a:xfrm>
            <a:off x="1513583" y="0"/>
            <a:ext cx="1577591"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B52EEDB-D068-8BC0-12D7-DE3BF97B168F}"/>
              </a:ext>
            </a:extLst>
          </p:cNvPr>
          <p:cNvCxnSpPr>
            <a:cxnSpLocks/>
          </p:cNvCxnSpPr>
          <p:nvPr/>
        </p:nvCxnSpPr>
        <p:spPr>
          <a:xfrm>
            <a:off x="3091174" y="0"/>
            <a:ext cx="1577591"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F07D1A7-EF8F-9663-2E05-22E2A723FA96}"/>
              </a:ext>
            </a:extLst>
          </p:cNvPr>
          <p:cNvCxnSpPr>
            <a:cxnSpLocks/>
          </p:cNvCxnSpPr>
          <p:nvPr/>
        </p:nvCxnSpPr>
        <p:spPr>
          <a:xfrm>
            <a:off x="4668765" y="0"/>
            <a:ext cx="1577591"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8BED605F-34F3-61B3-0D82-DFFB43985A55}"/>
              </a:ext>
            </a:extLst>
          </p:cNvPr>
          <p:cNvSpPr/>
          <p:nvPr/>
        </p:nvSpPr>
        <p:spPr>
          <a:xfrm>
            <a:off x="1666163" y="503434"/>
            <a:ext cx="130294" cy="130294"/>
          </a:xfrm>
          <a:prstGeom prst="ellipse">
            <a:avLst/>
          </a:prstGeom>
          <a:solidFill>
            <a:srgbClr val="0063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21" name="Oval 20">
            <a:extLst>
              <a:ext uri="{FF2B5EF4-FFF2-40B4-BE49-F238E27FC236}">
                <a16:creationId xmlns:a16="http://schemas.microsoft.com/office/drawing/2014/main" id="{935672F7-B5AF-8B95-739B-6B94D5AD6267}"/>
              </a:ext>
            </a:extLst>
          </p:cNvPr>
          <p:cNvSpPr/>
          <p:nvPr/>
        </p:nvSpPr>
        <p:spPr>
          <a:xfrm>
            <a:off x="1919124" y="503434"/>
            <a:ext cx="130294" cy="130294"/>
          </a:xfrm>
          <a:prstGeom prst="ellipse">
            <a:avLst/>
          </a:prstGeom>
          <a:noFill/>
          <a:ln w="12700">
            <a:solidFill>
              <a:srgbClr val="0063BD"/>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22" name="Oval 21">
            <a:extLst>
              <a:ext uri="{FF2B5EF4-FFF2-40B4-BE49-F238E27FC236}">
                <a16:creationId xmlns:a16="http://schemas.microsoft.com/office/drawing/2014/main" id="{FF9F6D7F-2C47-924F-3946-A3DA36A770F4}"/>
              </a:ext>
            </a:extLst>
          </p:cNvPr>
          <p:cNvSpPr/>
          <p:nvPr/>
        </p:nvSpPr>
        <p:spPr>
          <a:xfrm>
            <a:off x="2172085" y="503434"/>
            <a:ext cx="130294" cy="130294"/>
          </a:xfrm>
          <a:prstGeom prst="ellipse">
            <a:avLst/>
          </a:prstGeom>
          <a:noFill/>
          <a:ln w="12700">
            <a:solidFill>
              <a:srgbClr val="0063BD"/>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23" name="Oval 22">
            <a:extLst>
              <a:ext uri="{FF2B5EF4-FFF2-40B4-BE49-F238E27FC236}">
                <a16:creationId xmlns:a16="http://schemas.microsoft.com/office/drawing/2014/main" id="{13D6DE44-DD75-F5DF-9A41-F6E37C70CA4E}"/>
              </a:ext>
            </a:extLst>
          </p:cNvPr>
          <p:cNvSpPr/>
          <p:nvPr/>
        </p:nvSpPr>
        <p:spPr>
          <a:xfrm>
            <a:off x="2425046" y="503434"/>
            <a:ext cx="130294" cy="130294"/>
          </a:xfrm>
          <a:prstGeom prst="ellipse">
            <a:avLst/>
          </a:prstGeom>
          <a:noFill/>
          <a:ln w="12700">
            <a:solidFill>
              <a:srgbClr val="0063BD"/>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graphicFrame>
        <p:nvGraphicFramePr>
          <p:cNvPr id="27" name="Chart 26">
            <a:extLst>
              <a:ext uri="{FF2B5EF4-FFF2-40B4-BE49-F238E27FC236}">
                <a16:creationId xmlns:a16="http://schemas.microsoft.com/office/drawing/2014/main" id="{978B93D5-8072-F026-391D-8F9303D930D9}"/>
              </a:ext>
            </a:extLst>
          </p:cNvPr>
          <p:cNvGraphicFramePr/>
          <p:nvPr>
            <p:extLst>
              <p:ext uri="{D42A27DB-BD31-4B8C-83A1-F6EECF244321}">
                <p14:modId xmlns:p14="http://schemas.microsoft.com/office/powerpoint/2010/main" val="3341779157"/>
              </p:ext>
            </p:extLst>
          </p:nvPr>
        </p:nvGraphicFramePr>
        <p:xfrm>
          <a:off x="4779846" y="1792039"/>
          <a:ext cx="3885174" cy="2586344"/>
        </p:xfrm>
        <a:graphic>
          <a:graphicData uri="http://schemas.openxmlformats.org/drawingml/2006/chart">
            <c:chart xmlns:c="http://schemas.openxmlformats.org/drawingml/2006/chart" xmlns:r="http://schemas.openxmlformats.org/officeDocument/2006/relationships" r:id="rId3"/>
          </a:graphicData>
        </a:graphic>
      </p:graphicFrame>
      <p:pic>
        <p:nvPicPr>
          <p:cNvPr id="44" name="Picture 43">
            <a:extLst>
              <a:ext uri="{FF2B5EF4-FFF2-40B4-BE49-F238E27FC236}">
                <a16:creationId xmlns:a16="http://schemas.microsoft.com/office/drawing/2014/main" id="{876ED84B-9D5B-373B-85A9-53E2B89B4BA1}"/>
              </a:ext>
            </a:extLst>
          </p:cNvPr>
          <p:cNvPicPr>
            <a:picLocks noChangeAspect="1"/>
          </p:cNvPicPr>
          <p:nvPr/>
        </p:nvPicPr>
        <p:blipFill>
          <a:blip r:embed="rId4"/>
          <a:stretch>
            <a:fillRect/>
          </a:stretch>
        </p:blipFill>
        <p:spPr>
          <a:xfrm>
            <a:off x="1634093" y="1791522"/>
            <a:ext cx="2982683" cy="1777913"/>
          </a:xfrm>
          <a:prstGeom prst="rect">
            <a:avLst/>
          </a:prstGeom>
        </p:spPr>
      </p:pic>
      <p:sp>
        <p:nvSpPr>
          <p:cNvPr id="45" name="Rounded Rectangle 44">
            <a:extLst>
              <a:ext uri="{FF2B5EF4-FFF2-40B4-BE49-F238E27FC236}">
                <a16:creationId xmlns:a16="http://schemas.microsoft.com/office/drawing/2014/main" id="{551EDFB6-06A9-7031-FF2A-73C0275B340D}"/>
              </a:ext>
            </a:extLst>
          </p:cNvPr>
          <p:cNvSpPr/>
          <p:nvPr/>
        </p:nvSpPr>
        <p:spPr>
          <a:xfrm>
            <a:off x="251905" y="3400652"/>
            <a:ext cx="1017255" cy="349999"/>
          </a:xfrm>
          <a:prstGeom prst="roundRect">
            <a:avLst/>
          </a:prstGeom>
          <a:solidFill>
            <a:srgbClr val="98C6E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r>
              <a:rPr lang="en-US" sz="1600" dirty="0">
                <a:latin typeface="Arial" panose="020B0604020202020204" pitchFamily="34" charset="0"/>
                <a:cs typeface="Arial" panose="020B0604020202020204" pitchFamily="34" charset="0"/>
              </a:rPr>
              <a:t>Analysis</a:t>
            </a:r>
          </a:p>
        </p:txBody>
      </p:sp>
      <p:sp>
        <p:nvSpPr>
          <p:cNvPr id="49" name="Date Placeholder 3">
            <a:extLst>
              <a:ext uri="{FF2B5EF4-FFF2-40B4-BE49-F238E27FC236}">
                <a16:creationId xmlns:a16="http://schemas.microsoft.com/office/drawing/2014/main" id="{5964DF4E-0C4B-051C-F8B7-1DF722A80CA8}"/>
              </a:ext>
            </a:extLst>
          </p:cNvPr>
          <p:cNvSpPr txBox="1">
            <a:spLocks/>
          </p:cNvSpPr>
          <p:nvPr/>
        </p:nvSpPr>
        <p:spPr>
          <a:xfrm>
            <a:off x="25673" y="4922595"/>
            <a:ext cx="811609" cy="22090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gn="l" rtl="0" eaLnBrk="1" fontAlgn="base" hangingPunct="1">
              <a:lnSpc>
                <a:spcPct val="150000"/>
              </a:lnSpc>
              <a:spcBef>
                <a:spcPct val="0"/>
              </a:spcBef>
              <a:spcAft>
                <a:spcPct val="0"/>
              </a:spcAft>
              <a:defRPr lang="de-DE" sz="1400" kern="1200" baseline="0" noProof="0" dirty="0" smtClean="0">
                <a:solidFill>
                  <a:schemeClr val="tx1"/>
                </a:solidFill>
                <a:latin typeface="+mn-lt"/>
                <a:ea typeface="+mn-ea"/>
                <a:cs typeface="+mn-cs"/>
              </a:defRPr>
            </a:lvl1pPr>
            <a:lvl2pPr marL="176213" indent="-176213" algn="l" rtl="0" eaLnBrk="1" fontAlgn="base" hangingPunct="1">
              <a:lnSpc>
                <a:spcPct val="100000"/>
              </a:lnSpc>
              <a:spcBef>
                <a:spcPct val="0"/>
              </a:spcBef>
              <a:spcAft>
                <a:spcPct val="0"/>
              </a:spcAft>
              <a:buFont typeface="Arial" charset="0"/>
              <a:buChar char="•"/>
              <a:defRPr lang="de-DE" sz="1600" kern="1200" noProof="0" dirty="0" smtClean="0">
                <a:solidFill>
                  <a:schemeClr val="tx1"/>
                </a:solidFill>
                <a:latin typeface="+mn-lt"/>
                <a:ea typeface="+mn-ea"/>
                <a:cs typeface="+mn-cs"/>
              </a:defRPr>
            </a:lvl2pPr>
            <a:lvl3pPr marL="360363" indent="-184150"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fld id="{E6E0805E-65D9-544D-8805-556D80FFC742}" type="datetime1">
              <a:rPr lang="en-US" sz="1000" smtClean="0">
                <a:solidFill>
                  <a:schemeClr val="bg1">
                    <a:lumMod val="85000"/>
                  </a:schemeClr>
                </a:solidFill>
              </a:rPr>
              <a:pPr/>
              <a:t>12/7/25</a:t>
            </a:fld>
            <a:endParaRPr lang="en-US" sz="1000" dirty="0">
              <a:solidFill>
                <a:schemeClr val="bg1">
                  <a:lumMod val="85000"/>
                </a:schemeClr>
              </a:solidFill>
            </a:endParaRPr>
          </a:p>
        </p:txBody>
      </p:sp>
      <p:sp>
        <p:nvSpPr>
          <p:cNvPr id="2" name="Footer Placeholder 4">
            <a:extLst>
              <a:ext uri="{FF2B5EF4-FFF2-40B4-BE49-F238E27FC236}">
                <a16:creationId xmlns:a16="http://schemas.microsoft.com/office/drawing/2014/main" id="{12D42E42-0979-268A-B5FB-0EFCEF88D584}"/>
              </a:ext>
            </a:extLst>
          </p:cNvPr>
          <p:cNvSpPr txBox="1">
            <a:spLocks/>
          </p:cNvSpPr>
          <p:nvPr/>
        </p:nvSpPr>
        <p:spPr>
          <a:xfrm>
            <a:off x="2394860" y="4787044"/>
            <a:ext cx="4482901" cy="360210"/>
          </a:xfrm>
          <a:prstGeom prst="rect">
            <a:avLst/>
          </a:prstGeom>
        </p:spPr>
        <p:txBody>
          <a:bodyPr/>
          <a:ls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lgn="ctr"/>
            <a:br>
              <a:rPr lang="en-US" sz="1000" dirty="0">
                <a:solidFill>
                  <a:schemeClr val="bg1">
                    <a:lumMod val="85000"/>
                  </a:schemeClr>
                </a:solidFill>
              </a:rPr>
            </a:br>
            <a:r>
              <a:rPr lang="en-US" sz="1000" dirty="0">
                <a:solidFill>
                  <a:schemeClr val="bg1">
                    <a:lumMod val="85000"/>
                  </a:schemeClr>
                </a:solidFill>
              </a:rPr>
              <a:t>Algorithmic Decision Making: Metaheuristics and Decomposition in Practice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Graphic spid="27" grpId="0">
        <p:bldAsOne/>
      </p:bldGraphic>
      <p:bldP spid="4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DF4BD-FB7C-B803-9D91-D96D0118BA3D}"/>
            </a:ext>
          </a:extLst>
        </p:cNvPr>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35A89DD1-B1CB-DBD6-9FB2-CB53D1CEE594}"/>
              </a:ext>
            </a:extLst>
          </p:cNvPr>
          <p:cNvSpPr>
            <a:spLocks noGrp="1"/>
          </p:cNvSpPr>
          <p:nvPr>
            <p:ph type="sldNum" sz="quarter" idx="12"/>
          </p:nvPr>
        </p:nvSpPr>
        <p:spPr/>
        <p:txBody>
          <a:bodyPr/>
          <a:lstStyle/>
          <a:p>
            <a:fld id="{CE58CB1E-F828-4F11-99E0-327109AF9DA4}" type="slidenum">
              <a:rPr lang="de-DE" smtClean="0"/>
              <a:pPr/>
              <a:t>12</a:t>
            </a:fld>
            <a:endParaRPr lang="de-DE" dirty="0"/>
          </a:p>
        </p:txBody>
      </p:sp>
      <p:sp>
        <p:nvSpPr>
          <p:cNvPr id="20" name="Rectangle 19">
            <a:extLst>
              <a:ext uri="{FF2B5EF4-FFF2-40B4-BE49-F238E27FC236}">
                <a16:creationId xmlns:a16="http://schemas.microsoft.com/office/drawing/2014/main" id="{50A779E9-FECD-2E8B-C024-F627446D3FF5}"/>
              </a:ext>
            </a:extLst>
          </p:cNvPr>
          <p:cNvSpPr/>
          <p:nvPr/>
        </p:nvSpPr>
        <p:spPr>
          <a:xfrm>
            <a:off x="0" y="252983"/>
            <a:ext cx="1577591" cy="380745"/>
          </a:xfrm>
          <a:prstGeom prst="rect">
            <a:avLst/>
          </a:prstGeom>
          <a:solidFill>
            <a:srgbClr val="0064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nSpc>
                <a:spcPct val="114000"/>
              </a:lnSpc>
            </a:pPr>
            <a:r>
              <a:rPr lang="en-US" dirty="0"/>
              <a:t>Evaluation</a:t>
            </a:r>
          </a:p>
        </p:txBody>
      </p:sp>
      <p:cxnSp>
        <p:nvCxnSpPr>
          <p:cNvPr id="21" name="Straight Connector 20">
            <a:extLst>
              <a:ext uri="{FF2B5EF4-FFF2-40B4-BE49-F238E27FC236}">
                <a16:creationId xmlns:a16="http://schemas.microsoft.com/office/drawing/2014/main" id="{954C7693-2208-D2EF-F76A-1C513E24F535}"/>
              </a:ext>
            </a:extLst>
          </p:cNvPr>
          <p:cNvCxnSpPr>
            <a:cxnSpLocks/>
          </p:cNvCxnSpPr>
          <p:nvPr/>
        </p:nvCxnSpPr>
        <p:spPr>
          <a:xfrm>
            <a:off x="0" y="0"/>
            <a:ext cx="1577591"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94EC535-593D-EC52-0574-EF7F83F0E4CA}"/>
              </a:ext>
            </a:extLst>
          </p:cNvPr>
          <p:cNvCxnSpPr>
            <a:cxnSpLocks/>
          </p:cNvCxnSpPr>
          <p:nvPr/>
        </p:nvCxnSpPr>
        <p:spPr>
          <a:xfrm>
            <a:off x="1513583" y="0"/>
            <a:ext cx="1577591"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99692DFB-D281-8E8A-1C7B-A2333FF7C722}"/>
              </a:ext>
            </a:extLst>
          </p:cNvPr>
          <p:cNvCxnSpPr>
            <a:cxnSpLocks/>
          </p:cNvCxnSpPr>
          <p:nvPr/>
        </p:nvCxnSpPr>
        <p:spPr>
          <a:xfrm>
            <a:off x="3091174" y="0"/>
            <a:ext cx="1577591"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BB5EE7A-1B63-69DE-BE62-537268291901}"/>
              </a:ext>
            </a:extLst>
          </p:cNvPr>
          <p:cNvCxnSpPr>
            <a:cxnSpLocks/>
          </p:cNvCxnSpPr>
          <p:nvPr/>
        </p:nvCxnSpPr>
        <p:spPr>
          <a:xfrm>
            <a:off x="4668765" y="0"/>
            <a:ext cx="1577591"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7" name="Oval 26">
            <a:extLst>
              <a:ext uri="{FF2B5EF4-FFF2-40B4-BE49-F238E27FC236}">
                <a16:creationId xmlns:a16="http://schemas.microsoft.com/office/drawing/2014/main" id="{DEE3C686-03F6-16C1-66E8-C90FE7C0CA44}"/>
              </a:ext>
            </a:extLst>
          </p:cNvPr>
          <p:cNvSpPr/>
          <p:nvPr/>
        </p:nvSpPr>
        <p:spPr>
          <a:xfrm>
            <a:off x="1666163" y="503434"/>
            <a:ext cx="130294" cy="130294"/>
          </a:xfrm>
          <a:prstGeom prst="ellipse">
            <a:avLst/>
          </a:prstGeom>
          <a:solidFill>
            <a:srgbClr val="0063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29" name="Oval 28">
            <a:extLst>
              <a:ext uri="{FF2B5EF4-FFF2-40B4-BE49-F238E27FC236}">
                <a16:creationId xmlns:a16="http://schemas.microsoft.com/office/drawing/2014/main" id="{B78243FF-6076-8DEF-73C9-8A08760869B4}"/>
              </a:ext>
            </a:extLst>
          </p:cNvPr>
          <p:cNvSpPr/>
          <p:nvPr/>
        </p:nvSpPr>
        <p:spPr>
          <a:xfrm>
            <a:off x="2172085" y="503434"/>
            <a:ext cx="130294" cy="130294"/>
          </a:xfrm>
          <a:prstGeom prst="ellipse">
            <a:avLst/>
          </a:prstGeom>
          <a:noFill/>
          <a:ln w="12700">
            <a:solidFill>
              <a:srgbClr val="0063BD"/>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30" name="Oval 29">
            <a:extLst>
              <a:ext uri="{FF2B5EF4-FFF2-40B4-BE49-F238E27FC236}">
                <a16:creationId xmlns:a16="http://schemas.microsoft.com/office/drawing/2014/main" id="{3CB9E071-0DB9-82CE-F37D-C581D28A5E99}"/>
              </a:ext>
            </a:extLst>
          </p:cNvPr>
          <p:cNvSpPr/>
          <p:nvPr/>
        </p:nvSpPr>
        <p:spPr>
          <a:xfrm>
            <a:off x="2425046" y="503434"/>
            <a:ext cx="130294" cy="130294"/>
          </a:xfrm>
          <a:prstGeom prst="ellipse">
            <a:avLst/>
          </a:prstGeom>
          <a:noFill/>
          <a:ln w="12700">
            <a:solidFill>
              <a:srgbClr val="0063BD"/>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32" name="Oval 31">
            <a:extLst>
              <a:ext uri="{FF2B5EF4-FFF2-40B4-BE49-F238E27FC236}">
                <a16:creationId xmlns:a16="http://schemas.microsoft.com/office/drawing/2014/main" id="{ADA5C3FC-3CDF-B798-8A6E-2659D0DE6585}"/>
              </a:ext>
            </a:extLst>
          </p:cNvPr>
          <p:cNvSpPr/>
          <p:nvPr/>
        </p:nvSpPr>
        <p:spPr>
          <a:xfrm>
            <a:off x="1929544" y="503336"/>
            <a:ext cx="130294" cy="130294"/>
          </a:xfrm>
          <a:prstGeom prst="ellipse">
            <a:avLst/>
          </a:prstGeom>
          <a:solidFill>
            <a:srgbClr val="0063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36" name="Rectangle 35">
            <a:extLst>
              <a:ext uri="{FF2B5EF4-FFF2-40B4-BE49-F238E27FC236}">
                <a16:creationId xmlns:a16="http://schemas.microsoft.com/office/drawing/2014/main" id="{450CDA58-AE8E-C7EE-DE53-A9242F4239D0}"/>
              </a:ext>
            </a:extLst>
          </p:cNvPr>
          <p:cNvSpPr/>
          <p:nvPr/>
        </p:nvSpPr>
        <p:spPr>
          <a:xfrm>
            <a:off x="0" y="857263"/>
            <a:ext cx="9233554" cy="53558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r>
              <a:rPr lang="de-DE" sz="1800" dirty="0">
                <a:solidFill>
                  <a:schemeClr val="bg1"/>
                </a:solidFill>
                <a:latin typeface="Arial" panose="020B0604020202020204" pitchFamily="34" charset="0"/>
                <a:cs typeface="Arial" panose="020B0604020202020204" pitchFamily="34" charset="0"/>
              </a:rPr>
              <a:t>RQ2</a:t>
            </a:r>
            <a:r>
              <a:rPr lang="de-DE" sz="1600" dirty="0">
                <a:solidFill>
                  <a:schemeClr val="bg1"/>
                </a:solidFill>
                <a:latin typeface="Arial" panose="020B0604020202020204" pitchFamily="34" charset="0"/>
                <a:cs typeface="Arial" panose="020B0604020202020204" pitchFamily="34" charset="0"/>
              </a:rPr>
              <a:t>: </a:t>
            </a:r>
            <a:r>
              <a:rPr lang="en-US" b="1" dirty="0">
                <a:solidFill>
                  <a:schemeClr val="bg1"/>
                </a:solidFill>
                <a:effectLst/>
                <a:latin typeface="Arial" panose="020B0604020202020204" pitchFamily="34" charset="0"/>
                <a:cs typeface="Arial" panose="020B0604020202020204" pitchFamily="34" charset="0"/>
              </a:rPr>
              <a:t>How effective is SOUP</a:t>
            </a:r>
            <a:r>
              <a:rPr lang="en-US" b="1" baseline="-25000" dirty="0">
                <a:solidFill>
                  <a:schemeClr val="bg1"/>
                </a:solidFill>
                <a:latin typeface="Arial" panose="020B0604020202020204" pitchFamily="34" charset="0"/>
                <a:cs typeface="Arial" panose="020B0604020202020204" pitchFamily="34" charset="0"/>
              </a:rPr>
              <a:t> </a:t>
            </a:r>
            <a:r>
              <a:rPr lang="en-US" b="1" dirty="0">
                <a:solidFill>
                  <a:schemeClr val="bg1"/>
                </a:solidFill>
                <a:latin typeface="Arial" panose="020B0604020202020204" pitchFamily="34" charset="0"/>
                <a:cs typeface="Arial" panose="020B0604020202020204" pitchFamily="34" charset="0"/>
              </a:rPr>
              <a:t> on APU based on comments?</a:t>
            </a:r>
            <a:endParaRPr lang="en-US" dirty="0"/>
          </a:p>
        </p:txBody>
      </p:sp>
      <p:pic>
        <p:nvPicPr>
          <p:cNvPr id="40" name="Picture 39">
            <a:extLst>
              <a:ext uri="{FF2B5EF4-FFF2-40B4-BE49-F238E27FC236}">
                <a16:creationId xmlns:a16="http://schemas.microsoft.com/office/drawing/2014/main" id="{2269B00A-0C86-FC8C-8A11-E32C4732D71B}"/>
              </a:ext>
            </a:extLst>
          </p:cNvPr>
          <p:cNvPicPr>
            <a:picLocks noChangeAspect="1"/>
          </p:cNvPicPr>
          <p:nvPr/>
        </p:nvPicPr>
        <p:blipFill>
          <a:blip r:embed="rId3"/>
          <a:stretch>
            <a:fillRect/>
          </a:stretch>
        </p:blipFill>
        <p:spPr>
          <a:xfrm>
            <a:off x="1564686" y="1712358"/>
            <a:ext cx="3175000" cy="1879600"/>
          </a:xfrm>
          <a:prstGeom prst="rect">
            <a:avLst/>
          </a:prstGeom>
        </p:spPr>
      </p:pic>
      <p:graphicFrame>
        <p:nvGraphicFramePr>
          <p:cNvPr id="41" name="Table 40">
            <a:extLst>
              <a:ext uri="{FF2B5EF4-FFF2-40B4-BE49-F238E27FC236}">
                <a16:creationId xmlns:a16="http://schemas.microsoft.com/office/drawing/2014/main" id="{AB985D20-D48C-EA03-416A-F8420705A235}"/>
              </a:ext>
            </a:extLst>
          </p:cNvPr>
          <p:cNvGraphicFramePr>
            <a:graphicFrameLocks noGrp="1"/>
          </p:cNvGraphicFramePr>
          <p:nvPr>
            <p:extLst>
              <p:ext uri="{D42A27DB-BD31-4B8C-83A1-F6EECF244321}">
                <p14:modId xmlns:p14="http://schemas.microsoft.com/office/powerpoint/2010/main" val="3553483357"/>
              </p:ext>
            </p:extLst>
          </p:nvPr>
        </p:nvGraphicFramePr>
        <p:xfrm>
          <a:off x="5296832" y="1678209"/>
          <a:ext cx="2902789" cy="1383076"/>
        </p:xfrm>
        <a:graphic>
          <a:graphicData uri="http://schemas.openxmlformats.org/drawingml/2006/table">
            <a:tbl>
              <a:tblPr firstRow="1" bandRow="1">
                <a:tableStyleId>{9D7B26C5-4107-4FEC-AEDC-1716B250A1EF}</a:tableStyleId>
              </a:tblPr>
              <a:tblGrid>
                <a:gridCol w="1352834">
                  <a:extLst>
                    <a:ext uri="{9D8B030D-6E8A-4147-A177-3AD203B41FA5}">
                      <a16:colId xmlns:a16="http://schemas.microsoft.com/office/drawing/2014/main" val="1019964023"/>
                    </a:ext>
                  </a:extLst>
                </a:gridCol>
                <a:gridCol w="726995">
                  <a:extLst>
                    <a:ext uri="{9D8B030D-6E8A-4147-A177-3AD203B41FA5}">
                      <a16:colId xmlns:a16="http://schemas.microsoft.com/office/drawing/2014/main" val="422316523"/>
                    </a:ext>
                  </a:extLst>
                </a:gridCol>
                <a:gridCol w="822960">
                  <a:extLst>
                    <a:ext uri="{9D8B030D-6E8A-4147-A177-3AD203B41FA5}">
                      <a16:colId xmlns:a16="http://schemas.microsoft.com/office/drawing/2014/main" val="3258636735"/>
                    </a:ext>
                  </a:extLst>
                </a:gridCol>
              </a:tblGrid>
              <a:tr h="207474">
                <a:tc>
                  <a:txBody>
                    <a:bodyPr/>
                    <a:lstStyle/>
                    <a:p>
                      <a:pPr algn="l"/>
                      <a:r>
                        <a:rPr lang="en-US" sz="1000" dirty="0">
                          <a:latin typeface="Arial" panose="020B0604020202020204" pitchFamily="34" charset="0"/>
                          <a:cs typeface="Arial" panose="020B0604020202020204" pitchFamily="34" charset="0"/>
                        </a:rPr>
                        <a:t>Approach</a:t>
                      </a:r>
                    </a:p>
                  </a:txBody>
                  <a:tcPr/>
                </a:tc>
                <a:tc>
                  <a:txBody>
                    <a:bodyPr/>
                    <a:lstStyle/>
                    <a:p>
                      <a:pPr algn="ctr"/>
                      <a:r>
                        <a:rPr lang="en-US" sz="1000" dirty="0">
                          <a:latin typeface="Arial" panose="020B0604020202020204" pitchFamily="34" charset="0"/>
                          <a:cs typeface="Arial" panose="020B0604020202020204" pitchFamily="34" charset="0"/>
                        </a:rPr>
                        <a:t>EM</a:t>
                      </a:r>
                    </a:p>
                  </a:txBody>
                  <a:tcPr/>
                </a:tc>
                <a:tc>
                  <a:txBody>
                    <a:bodyPr/>
                    <a:lstStyle/>
                    <a:p>
                      <a:pPr algn="ctr"/>
                      <a:r>
                        <a:rPr lang="en-US" sz="1000" dirty="0">
                          <a:latin typeface="Arial" panose="020B0604020202020204" pitchFamily="34" charset="0"/>
                          <a:cs typeface="Arial" panose="020B0604020202020204" pitchFamily="34" charset="0"/>
                        </a:rPr>
                        <a:t>CB</a:t>
                      </a:r>
                    </a:p>
                  </a:txBody>
                  <a:tcPr/>
                </a:tc>
                <a:extLst>
                  <a:ext uri="{0D108BD9-81ED-4DB2-BD59-A6C34878D82A}">
                    <a16:rowId xmlns:a16="http://schemas.microsoft.com/office/drawing/2014/main" val="3928436336"/>
                  </a:ext>
                </a:extLst>
              </a:tr>
              <a:tr h="284809">
                <a:tc>
                  <a:txBody>
                    <a:bodyPr/>
                    <a:lstStyle/>
                    <a:p>
                      <a:pPr algn="l"/>
                      <a:r>
                        <a:rPr lang="en-US" sz="1000" dirty="0" err="1">
                          <a:latin typeface="Arial" panose="020B0604020202020204" pitchFamily="34" charset="0"/>
                          <a:cs typeface="Arial" panose="020B0604020202020204" pitchFamily="34" charset="0"/>
                        </a:rPr>
                        <a:t>CodeLlama</a:t>
                      </a:r>
                      <a:r>
                        <a:rPr lang="en-US" sz="1000" baseline="-25000" dirty="0" err="1">
                          <a:latin typeface="Arial" panose="020B0604020202020204" pitchFamily="34" charset="0"/>
                          <a:cs typeface="Arial" panose="020B0604020202020204" pitchFamily="34" charset="0"/>
                        </a:rPr>
                        <a:t>pr</a:t>
                      </a:r>
                      <a:r>
                        <a:rPr lang="en-US" sz="1000" dirty="0">
                          <a:latin typeface="Arial" panose="020B0604020202020204" pitchFamily="34" charset="0"/>
                          <a:cs typeface="Arial" panose="020B0604020202020204" pitchFamily="34" charset="0"/>
                        </a:rPr>
                        <a:t>(13B)</a:t>
                      </a:r>
                    </a:p>
                  </a:txBody>
                  <a:tcPr/>
                </a:tc>
                <a:tc>
                  <a:txBody>
                    <a:bodyPr/>
                    <a:lstStyle/>
                    <a:p>
                      <a:pPr algn="ctr"/>
                      <a:r>
                        <a:rPr lang="en-US" sz="1000" dirty="0">
                          <a:latin typeface="Arial" panose="020B0604020202020204" pitchFamily="34" charset="0"/>
                          <a:cs typeface="Arial" panose="020B0604020202020204" pitchFamily="34" charset="0"/>
                        </a:rPr>
                        <a:t>0.2%</a:t>
                      </a:r>
                    </a:p>
                  </a:txBody>
                  <a:tcPr/>
                </a:tc>
                <a:tc>
                  <a:txBody>
                    <a:bodyPr/>
                    <a:lstStyle/>
                    <a:p>
                      <a:pPr algn="ctr"/>
                      <a:r>
                        <a:rPr lang="en-US" sz="1000" dirty="0">
                          <a:latin typeface="Arial" panose="020B0604020202020204" pitchFamily="34" charset="0"/>
                          <a:cs typeface="Arial" panose="020B0604020202020204" pitchFamily="34" charset="0"/>
                        </a:rPr>
                        <a:t>33.8%</a:t>
                      </a:r>
                    </a:p>
                  </a:txBody>
                  <a:tcPr/>
                </a:tc>
                <a:extLst>
                  <a:ext uri="{0D108BD9-81ED-4DB2-BD59-A6C34878D82A}">
                    <a16:rowId xmlns:a16="http://schemas.microsoft.com/office/drawing/2014/main" val="3832396175"/>
                  </a:ext>
                </a:extLst>
              </a:tr>
              <a:tr h="284809">
                <a:tc>
                  <a:txBody>
                    <a:bodyPr/>
                    <a:lstStyle/>
                    <a:p>
                      <a:pPr algn="l"/>
                      <a:r>
                        <a:rPr lang="en-US" sz="1000" b="1" i="1" dirty="0">
                          <a:latin typeface="Arial" panose="020B0604020202020204" pitchFamily="34" charset="0"/>
                          <a:cs typeface="Arial" panose="020B0604020202020204" pitchFamily="34" charset="0"/>
                        </a:rPr>
                        <a:t>ChatGPT(175B)</a:t>
                      </a:r>
                    </a:p>
                  </a:txBody>
                  <a:tcPr>
                    <a:noFill/>
                  </a:tcPr>
                </a:tc>
                <a:tc>
                  <a:txBody>
                    <a:bodyPr/>
                    <a:lstStyle/>
                    <a:p>
                      <a:pPr algn="ctr"/>
                      <a:r>
                        <a:rPr lang="en-US" sz="1000" b="1" i="1" dirty="0">
                          <a:latin typeface="Arial" panose="020B0604020202020204" pitchFamily="34" charset="0"/>
                          <a:cs typeface="Arial" panose="020B0604020202020204" pitchFamily="34" charset="0"/>
                        </a:rPr>
                        <a:t>2.1%</a:t>
                      </a:r>
                    </a:p>
                  </a:txBody>
                  <a:tcPr>
                    <a:noFill/>
                  </a:tcPr>
                </a:tc>
                <a:tc>
                  <a:txBody>
                    <a:bodyPr/>
                    <a:lstStyle/>
                    <a:p>
                      <a:pPr algn="ctr"/>
                      <a:r>
                        <a:rPr lang="en-US" sz="1000" b="1" i="1" dirty="0">
                          <a:latin typeface="Arial" panose="020B0604020202020204" pitchFamily="34" charset="0"/>
                          <a:cs typeface="Arial" panose="020B0604020202020204" pitchFamily="34" charset="0"/>
                        </a:rPr>
                        <a:t>59.6%</a:t>
                      </a:r>
                    </a:p>
                  </a:txBody>
                  <a:tcPr>
                    <a:noFill/>
                  </a:tcPr>
                </a:tc>
                <a:extLst>
                  <a:ext uri="{0D108BD9-81ED-4DB2-BD59-A6C34878D82A}">
                    <a16:rowId xmlns:a16="http://schemas.microsoft.com/office/drawing/2014/main" val="207707318"/>
                  </a:ext>
                </a:extLst>
              </a:tr>
              <a:tr h="284809">
                <a:tc>
                  <a:txBody>
                    <a:bodyPr/>
                    <a:lstStyle/>
                    <a:p>
                      <a:pPr algn="l"/>
                      <a:r>
                        <a:rPr lang="en-US" sz="1000" dirty="0">
                          <a:latin typeface="Arial" panose="020B0604020202020204" pitchFamily="34" charset="0"/>
                          <a:cs typeface="Arial" panose="020B0604020202020204" pitchFamily="34" charset="0"/>
                        </a:rPr>
                        <a:t>SOUP-</a:t>
                      </a:r>
                      <a:r>
                        <a:rPr lang="en-US" sz="1000" dirty="0" err="1">
                          <a:latin typeface="Arial" panose="020B0604020202020204" pitchFamily="34" charset="0"/>
                          <a:cs typeface="Arial" panose="020B0604020202020204" pitchFamily="34" charset="0"/>
                        </a:rPr>
                        <a:t>CodeLlama</a:t>
                      </a:r>
                      <a:endParaRPr lang="en-US" sz="1000" dirty="0">
                        <a:latin typeface="Arial" panose="020B0604020202020204" pitchFamily="34" charset="0"/>
                        <a:cs typeface="Arial" panose="020B0604020202020204" pitchFamily="34" charset="0"/>
                      </a:endParaRPr>
                    </a:p>
                  </a:txBody>
                  <a:tcPr/>
                </a:tc>
                <a:tc>
                  <a:txBody>
                    <a:bodyPr/>
                    <a:lstStyle/>
                    <a:p>
                      <a:pPr algn="ctr"/>
                      <a:r>
                        <a:rPr lang="en-US" sz="1000" dirty="0">
                          <a:latin typeface="Arial" panose="020B0604020202020204" pitchFamily="34" charset="0"/>
                          <a:cs typeface="Arial" panose="020B0604020202020204" pitchFamily="34" charset="0"/>
                        </a:rPr>
                        <a:t>25.6%</a:t>
                      </a:r>
                    </a:p>
                  </a:txBody>
                  <a:tcPr/>
                </a:tc>
                <a:tc>
                  <a:txBody>
                    <a:bodyPr/>
                    <a:lstStyle/>
                    <a:p>
                      <a:pPr algn="ctr"/>
                      <a:r>
                        <a:rPr lang="en-US" sz="1000" dirty="0">
                          <a:latin typeface="Arial" panose="020B0604020202020204" pitchFamily="34" charset="0"/>
                          <a:cs typeface="Arial" panose="020B0604020202020204" pitchFamily="34" charset="0"/>
                        </a:rPr>
                        <a:t>73.5%</a:t>
                      </a:r>
                    </a:p>
                  </a:txBody>
                  <a:tcPr/>
                </a:tc>
                <a:extLst>
                  <a:ext uri="{0D108BD9-81ED-4DB2-BD59-A6C34878D82A}">
                    <a16:rowId xmlns:a16="http://schemas.microsoft.com/office/drawing/2014/main" val="386111686"/>
                  </a:ext>
                </a:extLst>
              </a:tr>
              <a:tr h="284809">
                <a:tc>
                  <a:txBody>
                    <a:bodyPr/>
                    <a:lstStyle/>
                    <a:p>
                      <a:pPr algn="l"/>
                      <a:r>
                        <a:rPr lang="en-US" sz="1000" dirty="0">
                          <a:latin typeface="Arial" panose="020B0604020202020204" pitchFamily="34" charset="0"/>
                          <a:cs typeface="Arial" panose="020B0604020202020204" pitchFamily="34" charset="0"/>
                        </a:rPr>
                        <a:t>SOUP-CoditT5</a:t>
                      </a:r>
                    </a:p>
                  </a:txBody>
                  <a:tcPr/>
                </a:tc>
                <a:tc>
                  <a:txBody>
                    <a:bodyPr/>
                    <a:lstStyle/>
                    <a:p>
                      <a:pPr algn="ctr"/>
                      <a:r>
                        <a:rPr lang="en-US" sz="1000" dirty="0">
                          <a:latin typeface="Arial" panose="020B0604020202020204" pitchFamily="34" charset="0"/>
                          <a:cs typeface="Arial" panose="020B0604020202020204" pitchFamily="34" charset="0"/>
                        </a:rPr>
                        <a:t>25.9%</a:t>
                      </a:r>
                    </a:p>
                  </a:txBody>
                  <a:tcPr/>
                </a:tc>
                <a:tc>
                  <a:txBody>
                    <a:bodyPr/>
                    <a:lstStyle/>
                    <a:p>
                      <a:pPr algn="ctr"/>
                      <a:r>
                        <a:rPr lang="en-US" sz="1000" dirty="0">
                          <a:latin typeface="Arial" panose="020B0604020202020204" pitchFamily="34" charset="0"/>
                          <a:cs typeface="Arial" panose="020B0604020202020204" pitchFamily="34" charset="0"/>
                        </a:rPr>
                        <a:t>76.4%</a:t>
                      </a:r>
                    </a:p>
                  </a:txBody>
                  <a:tcPr/>
                </a:tc>
                <a:extLst>
                  <a:ext uri="{0D108BD9-81ED-4DB2-BD59-A6C34878D82A}">
                    <a16:rowId xmlns:a16="http://schemas.microsoft.com/office/drawing/2014/main" val="1023349313"/>
                  </a:ext>
                </a:extLst>
              </a:tr>
            </a:tbl>
          </a:graphicData>
        </a:graphic>
      </p:graphicFrame>
      <p:sp>
        <p:nvSpPr>
          <p:cNvPr id="42" name="Rounded Rectangle 41">
            <a:extLst>
              <a:ext uri="{FF2B5EF4-FFF2-40B4-BE49-F238E27FC236}">
                <a16:creationId xmlns:a16="http://schemas.microsoft.com/office/drawing/2014/main" id="{29151374-8E03-3C1C-A6B7-EC19AC25538F}"/>
              </a:ext>
            </a:extLst>
          </p:cNvPr>
          <p:cNvSpPr/>
          <p:nvPr/>
        </p:nvSpPr>
        <p:spPr>
          <a:xfrm>
            <a:off x="251905" y="3400652"/>
            <a:ext cx="1017255" cy="349999"/>
          </a:xfrm>
          <a:prstGeom prst="roundRect">
            <a:avLst/>
          </a:prstGeom>
          <a:solidFill>
            <a:srgbClr val="98C6E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r>
              <a:rPr lang="en-US" sz="1600" dirty="0">
                <a:latin typeface="Arial" panose="020B0604020202020204" pitchFamily="34" charset="0"/>
                <a:cs typeface="Arial" panose="020B0604020202020204" pitchFamily="34" charset="0"/>
              </a:rPr>
              <a:t>Analysis</a:t>
            </a:r>
          </a:p>
        </p:txBody>
      </p:sp>
      <p:sp>
        <p:nvSpPr>
          <p:cNvPr id="43" name="TextBox 42">
            <a:extLst>
              <a:ext uri="{FF2B5EF4-FFF2-40B4-BE49-F238E27FC236}">
                <a16:creationId xmlns:a16="http://schemas.microsoft.com/office/drawing/2014/main" id="{4A74D7FE-BA19-9C26-FFE5-3C52D8A99485}"/>
              </a:ext>
            </a:extLst>
          </p:cNvPr>
          <p:cNvSpPr txBox="1"/>
          <p:nvPr/>
        </p:nvSpPr>
        <p:spPr>
          <a:xfrm>
            <a:off x="327758" y="3982287"/>
            <a:ext cx="4039112" cy="537968"/>
          </a:xfrm>
          <a:prstGeom prst="rect">
            <a:avLst/>
          </a:prstGeom>
          <a:noFill/>
        </p:spPr>
        <p:txBody>
          <a:bodyPr wrap="square" lIns="0" tIns="0" rIns="0" bIns="0" rtlCol="0">
            <a:spAutoFit/>
          </a:bodyPr>
          <a:lstStyle/>
          <a:p>
            <a:pPr>
              <a:lnSpc>
                <a:spcPct val="114000"/>
              </a:lnSpc>
            </a:pPr>
            <a:r>
              <a:rPr lang="en-US" sz="1600" dirty="0">
                <a:latin typeface="+mn-lt"/>
              </a:rPr>
              <a:t>Improvement are easy to LLM</a:t>
            </a:r>
          </a:p>
          <a:p>
            <a:pPr>
              <a:lnSpc>
                <a:spcPct val="114000"/>
              </a:lnSpc>
            </a:pPr>
            <a:r>
              <a:rPr lang="en-US" sz="1600" dirty="0">
                <a:latin typeface="+mn-lt"/>
              </a:rPr>
              <a:t>Weakness are hard since no context</a:t>
            </a:r>
          </a:p>
        </p:txBody>
      </p:sp>
      <p:graphicFrame>
        <p:nvGraphicFramePr>
          <p:cNvPr id="46" name="Chart 45">
            <a:extLst>
              <a:ext uri="{FF2B5EF4-FFF2-40B4-BE49-F238E27FC236}">
                <a16:creationId xmlns:a16="http://schemas.microsoft.com/office/drawing/2014/main" id="{2A73108C-BEA0-657B-A694-BA3A9A0EC88A}"/>
              </a:ext>
            </a:extLst>
          </p:cNvPr>
          <p:cNvGraphicFramePr/>
          <p:nvPr>
            <p:extLst>
              <p:ext uri="{D42A27DB-BD31-4B8C-83A1-F6EECF244321}">
                <p14:modId xmlns:p14="http://schemas.microsoft.com/office/powerpoint/2010/main" val="1754608646"/>
              </p:ext>
            </p:extLst>
          </p:nvPr>
        </p:nvGraphicFramePr>
        <p:xfrm>
          <a:off x="4276196" y="3263729"/>
          <a:ext cx="2336267" cy="1591256"/>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50" name="Chart 49">
            <a:extLst>
              <a:ext uri="{FF2B5EF4-FFF2-40B4-BE49-F238E27FC236}">
                <a16:creationId xmlns:a16="http://schemas.microsoft.com/office/drawing/2014/main" id="{5A1FE987-9D48-605A-5F26-3A078A79AD18}"/>
              </a:ext>
            </a:extLst>
          </p:cNvPr>
          <p:cNvGraphicFramePr/>
          <p:nvPr>
            <p:extLst>
              <p:ext uri="{D42A27DB-BD31-4B8C-83A1-F6EECF244321}">
                <p14:modId xmlns:p14="http://schemas.microsoft.com/office/powerpoint/2010/main" val="1193903501"/>
              </p:ext>
            </p:extLst>
          </p:nvPr>
        </p:nvGraphicFramePr>
        <p:xfrm>
          <a:off x="6748226" y="3263729"/>
          <a:ext cx="2214545" cy="1591256"/>
        </p:xfrm>
        <a:graphic>
          <a:graphicData uri="http://schemas.openxmlformats.org/drawingml/2006/chart">
            <c:chart xmlns:c="http://schemas.openxmlformats.org/drawingml/2006/chart" xmlns:r="http://schemas.openxmlformats.org/officeDocument/2006/relationships" r:id="rId5"/>
          </a:graphicData>
        </a:graphic>
      </p:graphicFrame>
      <p:sp>
        <p:nvSpPr>
          <p:cNvPr id="53" name="Inhaltsplatzhalter 6">
            <a:extLst>
              <a:ext uri="{FF2B5EF4-FFF2-40B4-BE49-F238E27FC236}">
                <a16:creationId xmlns:a16="http://schemas.microsoft.com/office/drawing/2014/main" id="{EDCF58D3-3735-C86D-4411-E9DEC41A87CA}"/>
              </a:ext>
            </a:extLst>
          </p:cNvPr>
          <p:cNvSpPr txBox="1">
            <a:spLocks/>
          </p:cNvSpPr>
          <p:nvPr/>
        </p:nvSpPr>
        <p:spPr>
          <a:xfrm>
            <a:off x="251905" y="1570115"/>
            <a:ext cx="8512178" cy="679527"/>
          </a:xfrm>
          <a:prstGeom prst="rect">
            <a:avLst/>
          </a:prstGeom>
        </p:spPr>
        <p:txBody>
          <a:bodyPr/>
          <a:lst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de-DE" dirty="0"/>
              <a:t>Experiment:</a:t>
            </a:r>
          </a:p>
          <a:p>
            <a:endParaRPr lang="en-US" altLang="zh-CN" dirty="0"/>
          </a:p>
          <a:p>
            <a:endParaRPr lang="en-US" altLang="zh-CN" dirty="0"/>
          </a:p>
          <a:p>
            <a:endParaRPr lang="en-US" dirty="0"/>
          </a:p>
          <a:p>
            <a:endParaRPr lang="en-US" dirty="0"/>
          </a:p>
          <a:p>
            <a:endParaRPr lang="en-US" dirty="0"/>
          </a:p>
          <a:p>
            <a:endParaRPr lang="de-DE" dirty="0"/>
          </a:p>
        </p:txBody>
      </p:sp>
      <p:sp>
        <p:nvSpPr>
          <p:cNvPr id="55" name="Date Placeholder 3">
            <a:extLst>
              <a:ext uri="{FF2B5EF4-FFF2-40B4-BE49-F238E27FC236}">
                <a16:creationId xmlns:a16="http://schemas.microsoft.com/office/drawing/2014/main" id="{4C5AE3C1-7518-7A8F-2A28-38B9082D8BC3}"/>
              </a:ext>
            </a:extLst>
          </p:cNvPr>
          <p:cNvSpPr txBox="1">
            <a:spLocks/>
          </p:cNvSpPr>
          <p:nvPr/>
        </p:nvSpPr>
        <p:spPr>
          <a:xfrm>
            <a:off x="25673" y="4922595"/>
            <a:ext cx="811609" cy="22090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gn="l" rtl="0" eaLnBrk="1" fontAlgn="base" hangingPunct="1">
              <a:lnSpc>
                <a:spcPct val="150000"/>
              </a:lnSpc>
              <a:spcBef>
                <a:spcPct val="0"/>
              </a:spcBef>
              <a:spcAft>
                <a:spcPct val="0"/>
              </a:spcAft>
              <a:defRPr lang="de-DE" sz="1400" kern="1200" baseline="0" noProof="0" dirty="0" smtClean="0">
                <a:solidFill>
                  <a:schemeClr val="tx1"/>
                </a:solidFill>
                <a:latin typeface="+mn-lt"/>
                <a:ea typeface="+mn-ea"/>
                <a:cs typeface="+mn-cs"/>
              </a:defRPr>
            </a:lvl1pPr>
            <a:lvl2pPr marL="176213" indent="-176213" algn="l" rtl="0" eaLnBrk="1" fontAlgn="base" hangingPunct="1">
              <a:lnSpc>
                <a:spcPct val="100000"/>
              </a:lnSpc>
              <a:spcBef>
                <a:spcPct val="0"/>
              </a:spcBef>
              <a:spcAft>
                <a:spcPct val="0"/>
              </a:spcAft>
              <a:buFont typeface="Arial" charset="0"/>
              <a:buChar char="•"/>
              <a:defRPr lang="de-DE" sz="1600" kern="1200" noProof="0" dirty="0" smtClean="0">
                <a:solidFill>
                  <a:schemeClr val="tx1"/>
                </a:solidFill>
                <a:latin typeface="+mn-lt"/>
                <a:ea typeface="+mn-ea"/>
                <a:cs typeface="+mn-cs"/>
              </a:defRPr>
            </a:lvl2pPr>
            <a:lvl3pPr marL="360363" indent="-184150"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fld id="{E6E0805E-65D9-544D-8805-556D80FFC742}" type="datetime1">
              <a:rPr lang="en-US" sz="1000" smtClean="0">
                <a:solidFill>
                  <a:schemeClr val="bg1">
                    <a:lumMod val="85000"/>
                  </a:schemeClr>
                </a:solidFill>
              </a:rPr>
              <a:pPr/>
              <a:t>12/7/25</a:t>
            </a:fld>
            <a:endParaRPr lang="en-US" sz="1000" dirty="0">
              <a:solidFill>
                <a:schemeClr val="bg1">
                  <a:lumMod val="85000"/>
                </a:schemeClr>
              </a:solidFill>
            </a:endParaRPr>
          </a:p>
        </p:txBody>
      </p:sp>
      <p:sp>
        <p:nvSpPr>
          <p:cNvPr id="2" name="Footer Placeholder 4">
            <a:extLst>
              <a:ext uri="{FF2B5EF4-FFF2-40B4-BE49-F238E27FC236}">
                <a16:creationId xmlns:a16="http://schemas.microsoft.com/office/drawing/2014/main" id="{86AB095E-CCD0-1018-AACC-9ECD6D13CD63}"/>
              </a:ext>
            </a:extLst>
          </p:cNvPr>
          <p:cNvSpPr txBox="1">
            <a:spLocks/>
          </p:cNvSpPr>
          <p:nvPr/>
        </p:nvSpPr>
        <p:spPr>
          <a:xfrm>
            <a:off x="2394860" y="4787044"/>
            <a:ext cx="4482901" cy="360210"/>
          </a:xfrm>
          <a:prstGeom prst="rect">
            <a:avLst/>
          </a:prstGeom>
        </p:spPr>
        <p:txBody>
          <a:bodyPr/>
          <a:ls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lgn="ctr"/>
            <a:br>
              <a:rPr lang="en-US" sz="1000" dirty="0">
                <a:solidFill>
                  <a:schemeClr val="bg1">
                    <a:lumMod val="85000"/>
                  </a:schemeClr>
                </a:solidFill>
              </a:rPr>
            </a:br>
            <a:r>
              <a:rPr lang="en-US" sz="1000" dirty="0">
                <a:solidFill>
                  <a:schemeClr val="bg1">
                    <a:lumMod val="85000"/>
                  </a:schemeClr>
                </a:solidFill>
              </a:rPr>
              <a:t>Algorithmic Decision Making: Metaheuristics and Decomposition in Practice</a:t>
            </a:r>
          </a:p>
        </p:txBody>
      </p:sp>
    </p:spTree>
    <p:extLst>
      <p:ext uri="{BB962C8B-B14F-4D97-AF65-F5344CB8AC3E}">
        <p14:creationId xmlns:p14="http://schemas.microsoft.com/office/powerpoint/2010/main" val="2182760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P spid="43" grpId="0"/>
      <p:bldGraphic spid="46" grpId="0">
        <p:bldAsOne/>
      </p:bldGraphic>
      <p:bldGraphic spid="50" grpId="0">
        <p:bldAsOne/>
      </p:bldGraphic>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BC22F-D06A-DC32-C45A-693C48A01E73}"/>
            </a:ext>
          </a:extLst>
        </p:cNvPr>
        <p:cNvGrpSpPr/>
        <p:nvPr/>
      </p:nvGrpSpPr>
      <p:grpSpPr>
        <a:xfrm>
          <a:off x="0" y="0"/>
          <a:ext cx="0" cy="0"/>
          <a:chOff x="0" y="0"/>
          <a:chExt cx="0" cy="0"/>
        </a:xfrm>
      </p:grpSpPr>
      <p:sp>
        <p:nvSpPr>
          <p:cNvPr id="25" name="Title 24">
            <a:extLst>
              <a:ext uri="{FF2B5EF4-FFF2-40B4-BE49-F238E27FC236}">
                <a16:creationId xmlns:a16="http://schemas.microsoft.com/office/drawing/2014/main" id="{BD9C1EBF-C472-AFB3-2866-CC94789FDF05}"/>
              </a:ext>
            </a:extLst>
          </p:cNvPr>
          <p:cNvSpPr>
            <a:spLocks noGrp="1"/>
          </p:cNvSpPr>
          <p:nvPr>
            <p:ph type="title"/>
          </p:nvPr>
        </p:nvSpPr>
        <p:spPr/>
        <p:txBody>
          <a:bodyPr/>
          <a:lstStyle/>
          <a:p>
            <a:endParaRPr lang="en-US"/>
          </a:p>
        </p:txBody>
      </p:sp>
      <p:sp>
        <p:nvSpPr>
          <p:cNvPr id="4" name="Foliennummernplatzhalter 3">
            <a:extLst>
              <a:ext uri="{FF2B5EF4-FFF2-40B4-BE49-F238E27FC236}">
                <a16:creationId xmlns:a16="http://schemas.microsoft.com/office/drawing/2014/main" id="{8C53CF8E-1523-C2A8-ED81-E5E0084D8F53}"/>
              </a:ext>
            </a:extLst>
          </p:cNvPr>
          <p:cNvSpPr>
            <a:spLocks noGrp="1"/>
          </p:cNvSpPr>
          <p:nvPr>
            <p:ph type="sldNum" sz="quarter" idx="12"/>
          </p:nvPr>
        </p:nvSpPr>
        <p:spPr/>
        <p:txBody>
          <a:bodyPr/>
          <a:lstStyle/>
          <a:p>
            <a:fld id="{CE58CB1E-F828-4F11-99E0-327109AF9DA4}" type="slidenum">
              <a:rPr lang="de-DE" smtClean="0"/>
              <a:pPr/>
              <a:t>13</a:t>
            </a:fld>
            <a:endParaRPr lang="de-DE" dirty="0"/>
          </a:p>
        </p:txBody>
      </p:sp>
      <p:sp>
        <p:nvSpPr>
          <p:cNvPr id="12" name="Rectangle 11">
            <a:extLst>
              <a:ext uri="{FF2B5EF4-FFF2-40B4-BE49-F238E27FC236}">
                <a16:creationId xmlns:a16="http://schemas.microsoft.com/office/drawing/2014/main" id="{74D0AE12-2732-6B8E-9438-46F52D168F85}"/>
              </a:ext>
            </a:extLst>
          </p:cNvPr>
          <p:cNvSpPr/>
          <p:nvPr/>
        </p:nvSpPr>
        <p:spPr>
          <a:xfrm>
            <a:off x="0" y="252983"/>
            <a:ext cx="1577591" cy="380745"/>
          </a:xfrm>
          <a:prstGeom prst="rect">
            <a:avLst/>
          </a:prstGeom>
          <a:solidFill>
            <a:srgbClr val="0064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nSpc>
                <a:spcPct val="114000"/>
              </a:lnSpc>
            </a:pPr>
            <a:r>
              <a:rPr lang="en-US" dirty="0"/>
              <a:t>Evaluation</a:t>
            </a:r>
          </a:p>
        </p:txBody>
      </p:sp>
      <p:cxnSp>
        <p:nvCxnSpPr>
          <p:cNvPr id="13" name="Straight Connector 12">
            <a:extLst>
              <a:ext uri="{FF2B5EF4-FFF2-40B4-BE49-F238E27FC236}">
                <a16:creationId xmlns:a16="http://schemas.microsoft.com/office/drawing/2014/main" id="{04D565D2-5DDF-2EBE-D11A-F424F76FB87C}"/>
              </a:ext>
            </a:extLst>
          </p:cNvPr>
          <p:cNvCxnSpPr>
            <a:cxnSpLocks/>
          </p:cNvCxnSpPr>
          <p:nvPr/>
        </p:nvCxnSpPr>
        <p:spPr>
          <a:xfrm>
            <a:off x="0" y="0"/>
            <a:ext cx="1577591"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43B5D8A-2223-8E1C-A965-848EB9DCF50A}"/>
              </a:ext>
            </a:extLst>
          </p:cNvPr>
          <p:cNvCxnSpPr>
            <a:cxnSpLocks/>
          </p:cNvCxnSpPr>
          <p:nvPr/>
        </p:nvCxnSpPr>
        <p:spPr>
          <a:xfrm>
            <a:off x="1513583" y="0"/>
            <a:ext cx="1577591"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E9E438F-806D-FA3C-DEC0-2E3F6854B000}"/>
              </a:ext>
            </a:extLst>
          </p:cNvPr>
          <p:cNvCxnSpPr>
            <a:cxnSpLocks/>
          </p:cNvCxnSpPr>
          <p:nvPr/>
        </p:nvCxnSpPr>
        <p:spPr>
          <a:xfrm>
            <a:off x="3091174" y="0"/>
            <a:ext cx="1577591"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8321FEA-41BD-F534-C2A0-77FE58710F76}"/>
              </a:ext>
            </a:extLst>
          </p:cNvPr>
          <p:cNvCxnSpPr>
            <a:cxnSpLocks/>
          </p:cNvCxnSpPr>
          <p:nvPr/>
        </p:nvCxnSpPr>
        <p:spPr>
          <a:xfrm>
            <a:off x="4668765" y="0"/>
            <a:ext cx="1577591"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CAB09FD0-7EEC-135F-33C8-761E19585A2C}"/>
              </a:ext>
            </a:extLst>
          </p:cNvPr>
          <p:cNvCxnSpPr>
            <a:cxnSpLocks/>
          </p:cNvCxnSpPr>
          <p:nvPr/>
        </p:nvCxnSpPr>
        <p:spPr>
          <a:xfrm>
            <a:off x="6246356" y="0"/>
            <a:ext cx="1577591"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0EABDBF6-185B-3366-F3D9-4F2DD762A3EF}"/>
              </a:ext>
            </a:extLst>
          </p:cNvPr>
          <p:cNvSpPr/>
          <p:nvPr/>
        </p:nvSpPr>
        <p:spPr>
          <a:xfrm>
            <a:off x="2425046" y="503434"/>
            <a:ext cx="130294" cy="130294"/>
          </a:xfrm>
          <a:prstGeom prst="ellipse">
            <a:avLst/>
          </a:prstGeom>
          <a:noFill/>
          <a:ln w="12700">
            <a:solidFill>
              <a:srgbClr val="0063BD"/>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24" name="Rectangle 23">
            <a:extLst>
              <a:ext uri="{FF2B5EF4-FFF2-40B4-BE49-F238E27FC236}">
                <a16:creationId xmlns:a16="http://schemas.microsoft.com/office/drawing/2014/main" id="{32B7FBF3-3BFC-1F31-56FC-B964D5B70FCD}"/>
              </a:ext>
            </a:extLst>
          </p:cNvPr>
          <p:cNvSpPr/>
          <p:nvPr/>
        </p:nvSpPr>
        <p:spPr>
          <a:xfrm>
            <a:off x="0" y="857263"/>
            <a:ext cx="9233554" cy="53558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r>
              <a:rPr lang="de-DE" sz="1800" dirty="0">
                <a:solidFill>
                  <a:schemeClr val="bg1"/>
                </a:solidFill>
                <a:latin typeface="Arial" panose="020B0604020202020204" pitchFamily="34" charset="0"/>
                <a:cs typeface="Arial" panose="020B0604020202020204" pitchFamily="34" charset="0"/>
              </a:rPr>
              <a:t>RQ3: </a:t>
            </a:r>
            <a:r>
              <a:rPr lang="en-US" sz="1600" b="1" dirty="0">
                <a:solidFill>
                  <a:schemeClr val="bg1"/>
                </a:solidFill>
                <a:effectLst/>
                <a:latin typeface="Arial" panose="020B0604020202020204" pitchFamily="34" charset="0"/>
                <a:cs typeface="Arial" panose="020B0604020202020204" pitchFamily="34" charset="0"/>
              </a:rPr>
              <a:t>To what extent does the dataset influence model performance in the APU task?</a:t>
            </a:r>
          </a:p>
          <a:p>
            <a:pPr algn="ctr">
              <a:lnSpc>
                <a:spcPct val="114000"/>
              </a:lnSpc>
            </a:pPr>
            <a:endParaRPr lang="en-US" dirty="0"/>
          </a:p>
        </p:txBody>
      </p:sp>
      <p:sp>
        <p:nvSpPr>
          <p:cNvPr id="30" name="Inhaltsplatzhalter 6">
            <a:extLst>
              <a:ext uri="{FF2B5EF4-FFF2-40B4-BE49-F238E27FC236}">
                <a16:creationId xmlns:a16="http://schemas.microsoft.com/office/drawing/2014/main" id="{DA101916-7513-3E00-141F-1EEDA0B0864A}"/>
              </a:ext>
            </a:extLst>
          </p:cNvPr>
          <p:cNvSpPr txBox="1">
            <a:spLocks/>
          </p:cNvSpPr>
          <p:nvPr/>
        </p:nvSpPr>
        <p:spPr>
          <a:xfrm>
            <a:off x="251905" y="1570115"/>
            <a:ext cx="8512178" cy="679527"/>
          </a:xfrm>
          <a:prstGeom prst="rect">
            <a:avLst/>
          </a:prstGeom>
        </p:spPr>
        <p:txBody>
          <a:bodyPr/>
          <a:lst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de-DE" dirty="0"/>
              <a:t>Experiment:</a:t>
            </a:r>
          </a:p>
          <a:p>
            <a:endParaRPr lang="en-US" altLang="zh-CN" dirty="0"/>
          </a:p>
          <a:p>
            <a:endParaRPr lang="en-US" altLang="zh-CN" dirty="0"/>
          </a:p>
          <a:p>
            <a:endParaRPr lang="en-US" dirty="0"/>
          </a:p>
          <a:p>
            <a:endParaRPr lang="en-US" dirty="0"/>
          </a:p>
          <a:p>
            <a:endParaRPr lang="en-US" dirty="0"/>
          </a:p>
          <a:p>
            <a:endParaRPr lang="de-DE" dirty="0"/>
          </a:p>
        </p:txBody>
      </p:sp>
      <p:grpSp>
        <p:nvGrpSpPr>
          <p:cNvPr id="31" name="Group 30">
            <a:extLst>
              <a:ext uri="{FF2B5EF4-FFF2-40B4-BE49-F238E27FC236}">
                <a16:creationId xmlns:a16="http://schemas.microsoft.com/office/drawing/2014/main" id="{DF82CD2A-3737-31C0-327B-41446C2E8D9D}"/>
              </a:ext>
            </a:extLst>
          </p:cNvPr>
          <p:cNvGrpSpPr/>
          <p:nvPr/>
        </p:nvGrpSpPr>
        <p:grpSpPr>
          <a:xfrm>
            <a:off x="1675799" y="2071175"/>
            <a:ext cx="1258501" cy="752959"/>
            <a:chOff x="5330223" y="1581053"/>
            <a:chExt cx="1691948" cy="912323"/>
          </a:xfrm>
        </p:grpSpPr>
        <p:sp>
          <p:nvSpPr>
            <p:cNvPr id="32" name="Rounded Rectangle 31">
              <a:extLst>
                <a:ext uri="{FF2B5EF4-FFF2-40B4-BE49-F238E27FC236}">
                  <a16:creationId xmlns:a16="http://schemas.microsoft.com/office/drawing/2014/main" id="{02B91343-39DD-29ED-9FE0-83631CD0256B}"/>
                </a:ext>
              </a:extLst>
            </p:cNvPr>
            <p:cNvSpPr/>
            <p:nvPr/>
          </p:nvSpPr>
          <p:spPr>
            <a:xfrm>
              <a:off x="5330223" y="1581053"/>
              <a:ext cx="1691948" cy="912323"/>
            </a:xfrm>
            <a:prstGeom prst="roundRect">
              <a:avLst/>
            </a:prstGeom>
            <a:solidFill>
              <a:srgbClr val="00F1A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33" name="TextBox 32">
              <a:extLst>
                <a:ext uri="{FF2B5EF4-FFF2-40B4-BE49-F238E27FC236}">
                  <a16:creationId xmlns:a16="http://schemas.microsoft.com/office/drawing/2014/main" id="{BE7EA781-15FA-0A58-BBDC-CD29433E7B2C}"/>
                </a:ext>
              </a:extLst>
            </p:cNvPr>
            <p:cNvSpPr txBox="1"/>
            <p:nvPr/>
          </p:nvSpPr>
          <p:spPr>
            <a:xfrm>
              <a:off x="5534454" y="1672338"/>
              <a:ext cx="1288751" cy="194773"/>
            </a:xfrm>
            <a:prstGeom prst="rect">
              <a:avLst/>
            </a:prstGeom>
            <a:noFill/>
          </p:spPr>
          <p:txBody>
            <a:bodyPr wrap="none" lIns="0" tIns="0" rIns="0" bIns="0" rtlCol="0">
              <a:spAutoFit/>
            </a:bodyPr>
            <a:lstStyle/>
            <a:p>
              <a:pPr algn="ctr">
                <a:lnSpc>
                  <a:spcPct val="114000"/>
                </a:lnSpc>
              </a:pPr>
              <a:r>
                <a:rPr lang="en-US" sz="1000" dirty="0">
                  <a:latin typeface="Arial" panose="020B0604020202020204" pitchFamily="34" charset="0"/>
                  <a:cs typeface="Arial" panose="020B0604020202020204" pitchFamily="34" charset="0"/>
                </a:rPr>
                <a:t>HQ Dataset(78k)</a:t>
              </a:r>
            </a:p>
          </p:txBody>
        </p:sp>
        <p:pic>
          <p:nvPicPr>
            <p:cNvPr id="34" name="Graphic 33" descr="Database outline">
              <a:extLst>
                <a:ext uri="{FF2B5EF4-FFF2-40B4-BE49-F238E27FC236}">
                  <a16:creationId xmlns:a16="http://schemas.microsoft.com/office/drawing/2014/main" id="{5EA6D976-A159-1BDC-AB3C-DCED4934465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473993" y="1882899"/>
              <a:ext cx="429819" cy="429819"/>
            </a:xfrm>
            <a:prstGeom prst="rect">
              <a:avLst/>
            </a:prstGeom>
          </p:spPr>
        </p:pic>
        <p:pic>
          <p:nvPicPr>
            <p:cNvPr id="35" name="Graphic 34" descr="Document outline">
              <a:extLst>
                <a:ext uri="{FF2B5EF4-FFF2-40B4-BE49-F238E27FC236}">
                  <a16:creationId xmlns:a16="http://schemas.microsoft.com/office/drawing/2014/main" id="{6CC6DD18-2233-D231-BCC8-A2A25D855D9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876559" y="1892708"/>
              <a:ext cx="410199" cy="410199"/>
            </a:xfrm>
            <a:prstGeom prst="rect">
              <a:avLst/>
            </a:prstGeom>
          </p:spPr>
        </p:pic>
        <p:pic>
          <p:nvPicPr>
            <p:cNvPr id="36" name="Graphic 35" descr="Table outline">
              <a:extLst>
                <a:ext uri="{FF2B5EF4-FFF2-40B4-BE49-F238E27FC236}">
                  <a16:creationId xmlns:a16="http://schemas.microsoft.com/office/drawing/2014/main" id="{E81A2B05-1FE7-53FD-E402-366553FE630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274881" y="1811272"/>
              <a:ext cx="575738" cy="575738"/>
            </a:xfrm>
            <a:prstGeom prst="rect">
              <a:avLst/>
            </a:prstGeom>
          </p:spPr>
        </p:pic>
      </p:grpSp>
      <p:grpSp>
        <p:nvGrpSpPr>
          <p:cNvPr id="37" name="Group 36">
            <a:extLst>
              <a:ext uri="{FF2B5EF4-FFF2-40B4-BE49-F238E27FC236}">
                <a16:creationId xmlns:a16="http://schemas.microsoft.com/office/drawing/2014/main" id="{A4804892-450F-B583-BE70-531ED0BB8C97}"/>
              </a:ext>
            </a:extLst>
          </p:cNvPr>
          <p:cNvGrpSpPr/>
          <p:nvPr/>
        </p:nvGrpSpPr>
        <p:grpSpPr>
          <a:xfrm>
            <a:off x="1666444" y="2952013"/>
            <a:ext cx="1258501" cy="752959"/>
            <a:chOff x="5330223" y="1581053"/>
            <a:chExt cx="1691948" cy="912323"/>
          </a:xfrm>
        </p:grpSpPr>
        <p:sp>
          <p:nvSpPr>
            <p:cNvPr id="38" name="Rounded Rectangle 37">
              <a:extLst>
                <a:ext uri="{FF2B5EF4-FFF2-40B4-BE49-F238E27FC236}">
                  <a16:creationId xmlns:a16="http://schemas.microsoft.com/office/drawing/2014/main" id="{82E8B0D7-36A9-3ABA-344F-8ECE5AF72F5E}"/>
                </a:ext>
              </a:extLst>
            </p:cNvPr>
            <p:cNvSpPr/>
            <p:nvPr/>
          </p:nvSpPr>
          <p:spPr>
            <a:xfrm>
              <a:off x="5330223" y="1581053"/>
              <a:ext cx="1691948" cy="912323"/>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39" name="TextBox 38">
              <a:extLst>
                <a:ext uri="{FF2B5EF4-FFF2-40B4-BE49-F238E27FC236}">
                  <a16:creationId xmlns:a16="http://schemas.microsoft.com/office/drawing/2014/main" id="{3FC1CD75-C5EF-BBFE-D4AC-607284119D87}"/>
                </a:ext>
              </a:extLst>
            </p:cNvPr>
            <p:cNvSpPr txBox="1"/>
            <p:nvPr/>
          </p:nvSpPr>
          <p:spPr>
            <a:xfrm>
              <a:off x="5406227" y="1672338"/>
              <a:ext cx="1545209" cy="194773"/>
            </a:xfrm>
            <a:prstGeom prst="rect">
              <a:avLst/>
            </a:prstGeom>
            <a:noFill/>
          </p:spPr>
          <p:txBody>
            <a:bodyPr wrap="none" lIns="0" tIns="0" rIns="0" bIns="0" rtlCol="0">
              <a:spAutoFit/>
            </a:bodyPr>
            <a:lstStyle/>
            <a:p>
              <a:pPr algn="ctr">
                <a:lnSpc>
                  <a:spcPct val="114000"/>
                </a:lnSpc>
              </a:pPr>
              <a:r>
                <a:rPr lang="en-US" sz="1000" dirty="0">
                  <a:latin typeface="Arial" panose="020B0604020202020204" pitchFamily="34" charset="0"/>
                  <a:cs typeface="Arial" panose="020B0604020202020204" pitchFamily="34" charset="0"/>
                </a:rPr>
                <a:t>Tang’s Dataset(17k)</a:t>
              </a:r>
            </a:p>
          </p:txBody>
        </p:sp>
        <p:pic>
          <p:nvPicPr>
            <p:cNvPr id="40" name="Graphic 39" descr="Database outline">
              <a:extLst>
                <a:ext uri="{FF2B5EF4-FFF2-40B4-BE49-F238E27FC236}">
                  <a16:creationId xmlns:a16="http://schemas.microsoft.com/office/drawing/2014/main" id="{CDB4D1E4-9F7C-AFDF-98BF-989446FE204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473993" y="1882899"/>
              <a:ext cx="429819" cy="429819"/>
            </a:xfrm>
            <a:prstGeom prst="rect">
              <a:avLst/>
            </a:prstGeom>
          </p:spPr>
        </p:pic>
        <p:pic>
          <p:nvPicPr>
            <p:cNvPr id="41" name="Graphic 40" descr="Document outline">
              <a:extLst>
                <a:ext uri="{FF2B5EF4-FFF2-40B4-BE49-F238E27FC236}">
                  <a16:creationId xmlns:a16="http://schemas.microsoft.com/office/drawing/2014/main" id="{EF48EAEB-C0BE-4407-E7A4-8FDB45A9AB2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876559" y="1892708"/>
              <a:ext cx="410199" cy="410199"/>
            </a:xfrm>
            <a:prstGeom prst="rect">
              <a:avLst/>
            </a:prstGeom>
          </p:spPr>
        </p:pic>
        <p:pic>
          <p:nvPicPr>
            <p:cNvPr id="42" name="Graphic 41" descr="Table outline">
              <a:extLst>
                <a:ext uri="{FF2B5EF4-FFF2-40B4-BE49-F238E27FC236}">
                  <a16:creationId xmlns:a16="http://schemas.microsoft.com/office/drawing/2014/main" id="{9A50BB84-F7DD-C858-75AE-C01DF32DF1D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274881" y="1811272"/>
              <a:ext cx="575738" cy="575738"/>
            </a:xfrm>
            <a:prstGeom prst="rect">
              <a:avLst/>
            </a:prstGeom>
          </p:spPr>
        </p:pic>
      </p:grpSp>
      <p:grpSp>
        <p:nvGrpSpPr>
          <p:cNvPr id="43" name="Group 42">
            <a:extLst>
              <a:ext uri="{FF2B5EF4-FFF2-40B4-BE49-F238E27FC236}">
                <a16:creationId xmlns:a16="http://schemas.microsoft.com/office/drawing/2014/main" id="{3149DFCC-6BD6-2211-D5CD-29FE73664FF4}"/>
              </a:ext>
            </a:extLst>
          </p:cNvPr>
          <p:cNvGrpSpPr/>
          <p:nvPr/>
        </p:nvGrpSpPr>
        <p:grpSpPr>
          <a:xfrm>
            <a:off x="3367384" y="2017861"/>
            <a:ext cx="665687" cy="724510"/>
            <a:chOff x="4919679" y="1721106"/>
            <a:chExt cx="824875" cy="795371"/>
          </a:xfrm>
        </p:grpSpPr>
        <p:pic>
          <p:nvPicPr>
            <p:cNvPr id="44" name="Picture 43">
              <a:extLst>
                <a:ext uri="{FF2B5EF4-FFF2-40B4-BE49-F238E27FC236}">
                  <a16:creationId xmlns:a16="http://schemas.microsoft.com/office/drawing/2014/main" id="{0D64C201-CC26-1CA5-EDC1-9C310F85803A}"/>
                </a:ext>
              </a:extLst>
            </p:cNvPr>
            <p:cNvPicPr>
              <a:picLocks noChangeAspect="1"/>
            </p:cNvPicPr>
            <p:nvPr/>
          </p:nvPicPr>
          <p:blipFill>
            <a:blip r:embed="rId9"/>
            <a:stretch>
              <a:fillRect/>
            </a:stretch>
          </p:blipFill>
          <p:spPr>
            <a:xfrm>
              <a:off x="5072028" y="1721106"/>
              <a:ext cx="635000" cy="647700"/>
            </a:xfrm>
            <a:prstGeom prst="rect">
              <a:avLst/>
            </a:prstGeom>
          </p:spPr>
        </p:pic>
        <p:sp>
          <p:nvSpPr>
            <p:cNvPr id="45" name="TextBox 44">
              <a:extLst>
                <a:ext uri="{FF2B5EF4-FFF2-40B4-BE49-F238E27FC236}">
                  <a16:creationId xmlns:a16="http://schemas.microsoft.com/office/drawing/2014/main" id="{2C18ED4B-F505-F0DD-7A7B-B9D28B75C31D}"/>
                </a:ext>
              </a:extLst>
            </p:cNvPr>
            <p:cNvSpPr txBox="1"/>
            <p:nvPr/>
          </p:nvSpPr>
          <p:spPr>
            <a:xfrm>
              <a:off x="4919679" y="2375272"/>
              <a:ext cx="824875" cy="141205"/>
            </a:xfrm>
            <a:prstGeom prst="rect">
              <a:avLst/>
            </a:prstGeom>
            <a:noFill/>
          </p:spPr>
          <p:txBody>
            <a:bodyPr wrap="square" lIns="0" tIns="0" rIns="0" bIns="0" rtlCol="0">
              <a:spAutoFit/>
            </a:bodyPr>
            <a:lstStyle/>
            <a:p>
              <a:pPr algn="ctr">
                <a:lnSpc>
                  <a:spcPct val="114000"/>
                </a:lnSpc>
              </a:pPr>
              <a:r>
                <a:rPr lang="en-US" sz="800" dirty="0" err="1">
                  <a:latin typeface="+mn-lt"/>
                </a:rPr>
                <a:t>CodeLlama</a:t>
              </a:r>
              <a:endParaRPr lang="en-US" sz="800" dirty="0">
                <a:latin typeface="+mn-lt"/>
              </a:endParaRPr>
            </a:p>
          </p:txBody>
        </p:sp>
      </p:grpSp>
      <p:grpSp>
        <p:nvGrpSpPr>
          <p:cNvPr id="46" name="Group 45">
            <a:extLst>
              <a:ext uri="{FF2B5EF4-FFF2-40B4-BE49-F238E27FC236}">
                <a16:creationId xmlns:a16="http://schemas.microsoft.com/office/drawing/2014/main" id="{3A53FB55-A31B-E782-B418-03EEDBD490D4}"/>
              </a:ext>
            </a:extLst>
          </p:cNvPr>
          <p:cNvGrpSpPr/>
          <p:nvPr/>
        </p:nvGrpSpPr>
        <p:grpSpPr>
          <a:xfrm>
            <a:off x="3397668" y="2952013"/>
            <a:ext cx="665687" cy="724510"/>
            <a:chOff x="4919679" y="1721106"/>
            <a:chExt cx="824875" cy="795371"/>
          </a:xfrm>
        </p:grpSpPr>
        <p:pic>
          <p:nvPicPr>
            <p:cNvPr id="47" name="Picture 46">
              <a:extLst>
                <a:ext uri="{FF2B5EF4-FFF2-40B4-BE49-F238E27FC236}">
                  <a16:creationId xmlns:a16="http://schemas.microsoft.com/office/drawing/2014/main" id="{461FE47F-744A-5050-01DC-5271B8BE9958}"/>
                </a:ext>
              </a:extLst>
            </p:cNvPr>
            <p:cNvPicPr>
              <a:picLocks noChangeAspect="1"/>
            </p:cNvPicPr>
            <p:nvPr/>
          </p:nvPicPr>
          <p:blipFill>
            <a:blip r:embed="rId9"/>
            <a:stretch>
              <a:fillRect/>
            </a:stretch>
          </p:blipFill>
          <p:spPr>
            <a:xfrm>
              <a:off x="5072028" y="1721106"/>
              <a:ext cx="635000" cy="647700"/>
            </a:xfrm>
            <a:prstGeom prst="rect">
              <a:avLst/>
            </a:prstGeom>
          </p:spPr>
        </p:pic>
        <p:sp>
          <p:nvSpPr>
            <p:cNvPr id="48" name="TextBox 47">
              <a:extLst>
                <a:ext uri="{FF2B5EF4-FFF2-40B4-BE49-F238E27FC236}">
                  <a16:creationId xmlns:a16="http://schemas.microsoft.com/office/drawing/2014/main" id="{7779FA26-C2F9-338B-753F-283EA8345640}"/>
                </a:ext>
              </a:extLst>
            </p:cNvPr>
            <p:cNvSpPr txBox="1"/>
            <p:nvPr/>
          </p:nvSpPr>
          <p:spPr>
            <a:xfrm>
              <a:off x="4919679" y="2375272"/>
              <a:ext cx="824875" cy="141205"/>
            </a:xfrm>
            <a:prstGeom prst="rect">
              <a:avLst/>
            </a:prstGeom>
            <a:noFill/>
          </p:spPr>
          <p:txBody>
            <a:bodyPr wrap="square" lIns="0" tIns="0" rIns="0" bIns="0" rtlCol="0">
              <a:spAutoFit/>
            </a:bodyPr>
            <a:lstStyle/>
            <a:p>
              <a:pPr algn="ctr">
                <a:lnSpc>
                  <a:spcPct val="114000"/>
                </a:lnSpc>
              </a:pPr>
              <a:r>
                <a:rPr lang="en-US" sz="800" dirty="0">
                  <a:latin typeface="+mn-lt"/>
                </a:rPr>
                <a:t>CoditT5</a:t>
              </a:r>
            </a:p>
          </p:txBody>
        </p:sp>
      </p:grpSp>
      <p:sp>
        <p:nvSpPr>
          <p:cNvPr id="49" name="Right Arrow 48">
            <a:extLst>
              <a:ext uri="{FF2B5EF4-FFF2-40B4-BE49-F238E27FC236}">
                <a16:creationId xmlns:a16="http://schemas.microsoft.com/office/drawing/2014/main" id="{4692CC66-7243-DEE4-9A51-EB2EAEECC045}"/>
              </a:ext>
            </a:extLst>
          </p:cNvPr>
          <p:cNvSpPr/>
          <p:nvPr/>
        </p:nvSpPr>
        <p:spPr>
          <a:xfrm>
            <a:off x="2974393" y="2338211"/>
            <a:ext cx="471827" cy="110193"/>
          </a:xfrm>
          <a:prstGeom prst="rightArrow">
            <a:avLst/>
          </a:prstGeom>
          <a:solidFill>
            <a:srgbClr val="00F1A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50" name="Right Arrow 49">
            <a:extLst>
              <a:ext uri="{FF2B5EF4-FFF2-40B4-BE49-F238E27FC236}">
                <a16:creationId xmlns:a16="http://schemas.microsoft.com/office/drawing/2014/main" id="{843DF8CA-5CD1-C904-D224-641E865449BF}"/>
              </a:ext>
            </a:extLst>
          </p:cNvPr>
          <p:cNvSpPr/>
          <p:nvPr/>
        </p:nvSpPr>
        <p:spPr>
          <a:xfrm rot="2775395">
            <a:off x="2938410" y="2854047"/>
            <a:ext cx="471827" cy="110193"/>
          </a:xfrm>
          <a:prstGeom prst="rightArrow">
            <a:avLst/>
          </a:prstGeom>
          <a:solidFill>
            <a:srgbClr val="00F1A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51" name="Right Arrow 50">
            <a:extLst>
              <a:ext uri="{FF2B5EF4-FFF2-40B4-BE49-F238E27FC236}">
                <a16:creationId xmlns:a16="http://schemas.microsoft.com/office/drawing/2014/main" id="{365E80B0-51F9-12C7-BEF8-FFD6D1DE8B93}"/>
              </a:ext>
            </a:extLst>
          </p:cNvPr>
          <p:cNvSpPr/>
          <p:nvPr/>
        </p:nvSpPr>
        <p:spPr>
          <a:xfrm>
            <a:off x="2965038" y="3273395"/>
            <a:ext cx="471827" cy="110193"/>
          </a:xfrm>
          <a:prstGeom prst="rightArrow">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52" name="Right Arrow 51">
            <a:extLst>
              <a:ext uri="{FF2B5EF4-FFF2-40B4-BE49-F238E27FC236}">
                <a16:creationId xmlns:a16="http://schemas.microsoft.com/office/drawing/2014/main" id="{140B8DDF-32DE-792E-AF7D-C78F9C1755B9}"/>
              </a:ext>
            </a:extLst>
          </p:cNvPr>
          <p:cNvSpPr/>
          <p:nvPr/>
        </p:nvSpPr>
        <p:spPr>
          <a:xfrm rot="18846457">
            <a:off x="2957995" y="2852617"/>
            <a:ext cx="471827" cy="110193"/>
          </a:xfrm>
          <a:prstGeom prst="rightArrow">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graphicFrame>
        <p:nvGraphicFramePr>
          <p:cNvPr id="53" name="Table 52">
            <a:extLst>
              <a:ext uri="{FF2B5EF4-FFF2-40B4-BE49-F238E27FC236}">
                <a16:creationId xmlns:a16="http://schemas.microsoft.com/office/drawing/2014/main" id="{6C1DA497-C675-5860-9929-E0F20CA2EE0A}"/>
              </a:ext>
            </a:extLst>
          </p:cNvPr>
          <p:cNvGraphicFramePr>
            <a:graphicFrameLocks noGrp="1"/>
          </p:cNvGraphicFramePr>
          <p:nvPr>
            <p:extLst>
              <p:ext uri="{D42A27DB-BD31-4B8C-83A1-F6EECF244321}">
                <p14:modId xmlns:p14="http://schemas.microsoft.com/office/powerpoint/2010/main" val="2805418680"/>
              </p:ext>
            </p:extLst>
          </p:nvPr>
        </p:nvGraphicFramePr>
        <p:xfrm>
          <a:off x="5144508" y="2147310"/>
          <a:ext cx="3260851" cy="1432508"/>
        </p:xfrm>
        <a:graphic>
          <a:graphicData uri="http://schemas.openxmlformats.org/drawingml/2006/table">
            <a:tbl>
              <a:tblPr firstRow="1" bandRow="1">
                <a:tableStyleId>{68D230F3-CF80-4859-8CE7-A43EE81993B5}</a:tableStyleId>
              </a:tblPr>
              <a:tblGrid>
                <a:gridCol w="902542">
                  <a:extLst>
                    <a:ext uri="{9D8B030D-6E8A-4147-A177-3AD203B41FA5}">
                      <a16:colId xmlns:a16="http://schemas.microsoft.com/office/drawing/2014/main" val="2437246338"/>
                    </a:ext>
                  </a:extLst>
                </a:gridCol>
                <a:gridCol w="786103">
                  <a:extLst>
                    <a:ext uri="{9D8B030D-6E8A-4147-A177-3AD203B41FA5}">
                      <a16:colId xmlns:a16="http://schemas.microsoft.com/office/drawing/2014/main" val="403736189"/>
                    </a:ext>
                  </a:extLst>
                </a:gridCol>
                <a:gridCol w="786103">
                  <a:extLst>
                    <a:ext uri="{9D8B030D-6E8A-4147-A177-3AD203B41FA5}">
                      <a16:colId xmlns:a16="http://schemas.microsoft.com/office/drawing/2014/main" val="2646822439"/>
                    </a:ext>
                  </a:extLst>
                </a:gridCol>
                <a:gridCol w="786103">
                  <a:extLst>
                    <a:ext uri="{9D8B030D-6E8A-4147-A177-3AD203B41FA5}">
                      <a16:colId xmlns:a16="http://schemas.microsoft.com/office/drawing/2014/main" val="3952092134"/>
                    </a:ext>
                  </a:extLst>
                </a:gridCol>
              </a:tblGrid>
              <a:tr h="335228">
                <a:tc gridSpan="2">
                  <a:txBody>
                    <a:bodyPr/>
                    <a:lstStyle/>
                    <a:p>
                      <a:pPr algn="ctr"/>
                      <a:r>
                        <a:rPr lang="en-US" sz="800" dirty="0"/>
                        <a:t>Approach</a:t>
                      </a:r>
                    </a:p>
                  </a:txBody>
                  <a:tcPr anchor="ctr"/>
                </a:tc>
                <a:tc hMerge="1">
                  <a:txBody>
                    <a:bodyPr/>
                    <a:lstStyle/>
                    <a:p>
                      <a:endParaRPr lang="en-US" sz="800" dirty="0"/>
                    </a:p>
                  </a:txBody>
                  <a:tcPr/>
                </a:tc>
                <a:tc>
                  <a:txBody>
                    <a:bodyPr/>
                    <a:lstStyle/>
                    <a:p>
                      <a:pPr algn="ctr"/>
                      <a:r>
                        <a:rPr lang="en-US" sz="800" dirty="0"/>
                        <a:t>Tang’s Test</a:t>
                      </a:r>
                    </a:p>
                  </a:txBody>
                  <a:tcPr/>
                </a:tc>
                <a:tc>
                  <a:txBody>
                    <a:bodyPr/>
                    <a:lstStyle/>
                    <a:p>
                      <a:pPr algn="ctr"/>
                      <a:r>
                        <a:rPr lang="en-US" sz="800" dirty="0"/>
                        <a:t>HQ Test</a:t>
                      </a:r>
                    </a:p>
                  </a:txBody>
                  <a:tcPr/>
                </a:tc>
                <a:extLst>
                  <a:ext uri="{0D108BD9-81ED-4DB2-BD59-A6C34878D82A}">
                    <a16:rowId xmlns:a16="http://schemas.microsoft.com/office/drawing/2014/main" val="62874068"/>
                  </a:ext>
                </a:extLst>
              </a:tr>
              <a:tr h="213327">
                <a:tc>
                  <a:txBody>
                    <a:bodyPr/>
                    <a:lstStyle/>
                    <a:p>
                      <a:pPr algn="ctr"/>
                      <a:r>
                        <a:rPr lang="en-US" sz="800" i="1" dirty="0"/>
                        <a:t>Model</a:t>
                      </a:r>
                    </a:p>
                  </a:txBody>
                  <a:tcPr/>
                </a:tc>
                <a:tc>
                  <a:txBody>
                    <a:bodyPr/>
                    <a:lstStyle/>
                    <a:p>
                      <a:pPr algn="ctr"/>
                      <a:r>
                        <a:rPr lang="en-US" sz="800" i="1" dirty="0"/>
                        <a:t>Train</a:t>
                      </a:r>
                    </a:p>
                  </a:txBody>
                  <a:tcPr/>
                </a:tc>
                <a:tc>
                  <a:txBody>
                    <a:bodyPr/>
                    <a:lstStyle/>
                    <a:p>
                      <a:pPr algn="ctr"/>
                      <a:r>
                        <a:rPr lang="en-US" sz="800" i="1" dirty="0"/>
                        <a:t>EM</a:t>
                      </a:r>
                    </a:p>
                  </a:txBody>
                  <a:tcPr/>
                </a:tc>
                <a:tc>
                  <a:txBody>
                    <a:bodyPr/>
                    <a:lstStyle/>
                    <a:p>
                      <a:pPr algn="ctr"/>
                      <a:r>
                        <a:rPr lang="en-US" sz="800" i="1" dirty="0"/>
                        <a:t>EM</a:t>
                      </a:r>
                    </a:p>
                  </a:txBody>
                  <a:tcPr/>
                </a:tc>
                <a:extLst>
                  <a:ext uri="{0D108BD9-81ED-4DB2-BD59-A6C34878D82A}">
                    <a16:rowId xmlns:a16="http://schemas.microsoft.com/office/drawing/2014/main" val="3858691450"/>
                  </a:ext>
                </a:extLst>
              </a:tr>
              <a:tr h="213327">
                <a:tc rowSpan="2">
                  <a:txBody>
                    <a:bodyPr/>
                    <a:lstStyle/>
                    <a:p>
                      <a:pPr algn="ctr"/>
                      <a:r>
                        <a:rPr lang="en-US" sz="800" dirty="0"/>
                        <a:t>SOUP-CoditT5</a:t>
                      </a:r>
                    </a:p>
                  </a:txBody>
                  <a:tcPr anchor="ctr"/>
                </a:tc>
                <a:tc>
                  <a:txBody>
                    <a:bodyPr/>
                    <a:lstStyle/>
                    <a:p>
                      <a:pPr algn="ctr"/>
                      <a:r>
                        <a:rPr lang="en-US" sz="800" dirty="0"/>
                        <a:t>Tang’s</a:t>
                      </a:r>
                    </a:p>
                  </a:txBody>
                  <a:tcPr anchor="ctr"/>
                </a:tc>
                <a:tc>
                  <a:txBody>
                    <a:bodyPr/>
                    <a:lstStyle/>
                    <a:p>
                      <a:pPr algn="ctr"/>
                      <a:r>
                        <a:rPr lang="en-US" sz="800" dirty="0"/>
                        <a:t>9.2%</a:t>
                      </a:r>
                    </a:p>
                  </a:txBody>
                  <a:tcPr anchor="ctr"/>
                </a:tc>
                <a:tc>
                  <a:txBody>
                    <a:bodyPr/>
                    <a:lstStyle/>
                    <a:p>
                      <a:pPr algn="ctr"/>
                      <a:r>
                        <a:rPr lang="en-US" sz="800" dirty="0"/>
                        <a:t>5.5%</a:t>
                      </a:r>
                    </a:p>
                  </a:txBody>
                  <a:tcPr anchor="ctr"/>
                </a:tc>
                <a:extLst>
                  <a:ext uri="{0D108BD9-81ED-4DB2-BD59-A6C34878D82A}">
                    <a16:rowId xmlns:a16="http://schemas.microsoft.com/office/drawing/2014/main" val="4256050080"/>
                  </a:ext>
                </a:extLst>
              </a:tr>
              <a:tr h="213327">
                <a:tc vMerge="1">
                  <a:txBody>
                    <a:bodyPr/>
                    <a:lstStyle/>
                    <a:p>
                      <a:endParaRPr lang="en-US" sz="800" dirty="0"/>
                    </a:p>
                  </a:txBody>
                  <a:tcPr/>
                </a:tc>
                <a:tc>
                  <a:txBody>
                    <a:bodyPr/>
                    <a:lstStyle/>
                    <a:p>
                      <a:pPr algn="ctr"/>
                      <a:r>
                        <a:rPr lang="en-US" sz="800" dirty="0"/>
                        <a:t>HQ</a:t>
                      </a:r>
                    </a:p>
                  </a:txBody>
                  <a:tcPr anchor="ctr"/>
                </a:tc>
                <a:tc>
                  <a:txBody>
                    <a:bodyPr/>
                    <a:lstStyle/>
                    <a:p>
                      <a:pPr algn="ctr"/>
                      <a:r>
                        <a:rPr lang="en-US" sz="800" dirty="0"/>
                        <a:t>15.1%</a:t>
                      </a:r>
                    </a:p>
                  </a:txBody>
                  <a:tcPr anchor="ctr"/>
                </a:tc>
                <a:tc>
                  <a:txBody>
                    <a:bodyPr/>
                    <a:lstStyle/>
                    <a:p>
                      <a:pPr algn="ctr"/>
                      <a:r>
                        <a:rPr lang="en-US" sz="800" b="1" dirty="0"/>
                        <a:t>25.9%</a:t>
                      </a:r>
                    </a:p>
                  </a:txBody>
                  <a:tcPr anchor="ctr"/>
                </a:tc>
                <a:extLst>
                  <a:ext uri="{0D108BD9-81ED-4DB2-BD59-A6C34878D82A}">
                    <a16:rowId xmlns:a16="http://schemas.microsoft.com/office/drawing/2014/main" val="857941891"/>
                  </a:ext>
                </a:extLst>
              </a:tr>
              <a:tr h="213327">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dirty="0"/>
                        <a:t>SOUP-</a:t>
                      </a:r>
                      <a:r>
                        <a:rPr lang="en-US" sz="800" dirty="0" err="1"/>
                        <a:t>CodeLlama</a:t>
                      </a:r>
                      <a:endParaRPr lang="en-US" sz="800" dirty="0"/>
                    </a:p>
                    <a:p>
                      <a:pPr algn="ctr"/>
                      <a:endParaRPr lang="en-US" sz="800" dirty="0"/>
                    </a:p>
                  </a:txBody>
                  <a:tcPr anchor="ctr"/>
                </a:tc>
                <a:tc>
                  <a:txBody>
                    <a:bodyPr/>
                    <a:lstStyle/>
                    <a:p>
                      <a:pPr algn="ctr"/>
                      <a:r>
                        <a:rPr lang="en-US" sz="800" dirty="0"/>
                        <a:t>Tang’s</a:t>
                      </a:r>
                    </a:p>
                  </a:txBody>
                  <a:tcPr anchor="ctr"/>
                </a:tc>
                <a:tc>
                  <a:txBody>
                    <a:bodyPr/>
                    <a:lstStyle/>
                    <a:p>
                      <a:pPr algn="ctr"/>
                      <a:r>
                        <a:rPr lang="en-US" sz="800" dirty="0"/>
                        <a:t>24.8%</a:t>
                      </a:r>
                    </a:p>
                  </a:txBody>
                  <a:tcPr anchor="ctr"/>
                </a:tc>
                <a:tc>
                  <a:txBody>
                    <a:bodyPr/>
                    <a:lstStyle/>
                    <a:p>
                      <a:pPr algn="ctr"/>
                      <a:r>
                        <a:rPr lang="en-US" sz="800" dirty="0"/>
                        <a:t>21.4%</a:t>
                      </a:r>
                    </a:p>
                  </a:txBody>
                  <a:tcPr anchor="ctr"/>
                </a:tc>
                <a:extLst>
                  <a:ext uri="{0D108BD9-81ED-4DB2-BD59-A6C34878D82A}">
                    <a16:rowId xmlns:a16="http://schemas.microsoft.com/office/drawing/2014/main" val="4158616143"/>
                  </a:ext>
                </a:extLst>
              </a:tr>
              <a:tr h="243802">
                <a:tc vMerge="1">
                  <a:txBody>
                    <a:bodyPr/>
                    <a:lstStyle/>
                    <a:p>
                      <a:endParaRPr lang="en-US" sz="800" dirty="0"/>
                    </a:p>
                  </a:txBody>
                  <a:tcPr/>
                </a:tc>
                <a:tc>
                  <a:txBody>
                    <a:bodyPr/>
                    <a:lstStyle/>
                    <a:p>
                      <a:pPr algn="ctr"/>
                      <a:r>
                        <a:rPr lang="en-US" sz="800" dirty="0"/>
                        <a:t>HQ</a:t>
                      </a:r>
                    </a:p>
                  </a:txBody>
                  <a:tcPr anchor="ctr"/>
                </a:tc>
                <a:tc>
                  <a:txBody>
                    <a:bodyPr/>
                    <a:lstStyle/>
                    <a:p>
                      <a:pPr algn="ctr"/>
                      <a:r>
                        <a:rPr lang="en-US" sz="800" b="1" dirty="0"/>
                        <a:t>25.6%</a:t>
                      </a:r>
                    </a:p>
                  </a:txBody>
                  <a:tcPr anchor="ctr"/>
                </a:tc>
                <a:tc>
                  <a:txBody>
                    <a:bodyPr/>
                    <a:lstStyle/>
                    <a:p>
                      <a:pPr algn="ctr"/>
                      <a:r>
                        <a:rPr lang="en-US" sz="800" dirty="0"/>
                        <a:t>25.6%</a:t>
                      </a:r>
                    </a:p>
                  </a:txBody>
                  <a:tcPr anchor="ctr"/>
                </a:tc>
                <a:extLst>
                  <a:ext uri="{0D108BD9-81ED-4DB2-BD59-A6C34878D82A}">
                    <a16:rowId xmlns:a16="http://schemas.microsoft.com/office/drawing/2014/main" val="2835249738"/>
                  </a:ext>
                </a:extLst>
              </a:tr>
            </a:tbl>
          </a:graphicData>
        </a:graphic>
      </p:graphicFrame>
      <p:sp>
        <p:nvSpPr>
          <p:cNvPr id="54" name="Rounded Rectangle 53">
            <a:extLst>
              <a:ext uri="{FF2B5EF4-FFF2-40B4-BE49-F238E27FC236}">
                <a16:creationId xmlns:a16="http://schemas.microsoft.com/office/drawing/2014/main" id="{899EA89E-9291-237F-8387-0952F464C7E4}"/>
              </a:ext>
            </a:extLst>
          </p:cNvPr>
          <p:cNvSpPr/>
          <p:nvPr/>
        </p:nvSpPr>
        <p:spPr>
          <a:xfrm>
            <a:off x="251905" y="3400652"/>
            <a:ext cx="1017255" cy="349999"/>
          </a:xfrm>
          <a:prstGeom prst="roundRect">
            <a:avLst/>
          </a:prstGeom>
          <a:solidFill>
            <a:srgbClr val="98C6E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nSpc>
                <a:spcPct val="114000"/>
              </a:lnSpc>
            </a:pPr>
            <a:r>
              <a:rPr lang="en-US" sz="1600" dirty="0">
                <a:latin typeface="Arial" panose="020B0604020202020204" pitchFamily="34" charset="0"/>
                <a:cs typeface="Arial" panose="020B0604020202020204" pitchFamily="34" charset="0"/>
              </a:rPr>
              <a:t>Analysis</a:t>
            </a:r>
          </a:p>
        </p:txBody>
      </p:sp>
      <p:sp>
        <p:nvSpPr>
          <p:cNvPr id="56" name="TextBox 55">
            <a:extLst>
              <a:ext uri="{FF2B5EF4-FFF2-40B4-BE49-F238E27FC236}">
                <a16:creationId xmlns:a16="http://schemas.microsoft.com/office/drawing/2014/main" id="{669F114D-97E2-9927-F737-7BEEB6992E2D}"/>
              </a:ext>
            </a:extLst>
          </p:cNvPr>
          <p:cNvSpPr txBox="1"/>
          <p:nvPr/>
        </p:nvSpPr>
        <p:spPr>
          <a:xfrm>
            <a:off x="311305" y="4004368"/>
            <a:ext cx="8198514" cy="749692"/>
          </a:xfrm>
          <a:prstGeom prst="rect">
            <a:avLst/>
          </a:prstGeom>
          <a:noFill/>
        </p:spPr>
        <p:txBody>
          <a:bodyPr wrap="square" lIns="0" tIns="0" rIns="0" bIns="0" rtlCol="0">
            <a:spAutoFit/>
          </a:bodyPr>
          <a:lstStyle/>
          <a:p>
            <a:r>
              <a:rPr lang="en-US" sz="1600" dirty="0">
                <a:latin typeface="Arial" panose="020B0604020202020204" pitchFamily="34" charset="0"/>
                <a:cs typeface="Arial" panose="020B0604020202020204" pitchFamily="34" charset="0"/>
              </a:rPr>
              <a:t>HQ is </a:t>
            </a:r>
            <a:r>
              <a:rPr lang="en-US" altLang="zh-CN" sz="1600" dirty="0"/>
              <a:t>a large dataset than </a:t>
            </a:r>
            <a:r>
              <a:rPr lang="en-US" altLang="zh-CN" sz="1600" dirty="0" err="1"/>
              <a:t>Tangs’s</a:t>
            </a:r>
            <a:endParaRPr lang="en-US" altLang="zh-CN" sz="1600" dirty="0"/>
          </a:p>
          <a:p>
            <a:r>
              <a:rPr lang="en-US" sz="1600" dirty="0">
                <a:solidFill>
                  <a:srgbClr val="141413"/>
                </a:solidFill>
                <a:effectLst/>
                <a:latin typeface="Arial" panose="020B0604020202020204" pitchFamily="34" charset="0"/>
                <a:cs typeface="Arial" panose="020B0604020202020204" pitchFamily="34" charset="0"/>
              </a:rPr>
              <a:t>And it includes more scenarios and situations.</a:t>
            </a:r>
          </a:p>
          <a:p>
            <a:pPr>
              <a:lnSpc>
                <a:spcPct val="114000"/>
              </a:lnSpc>
            </a:pPr>
            <a:endParaRPr lang="en-US" sz="1600" dirty="0">
              <a:latin typeface="Arial" panose="020B0604020202020204" pitchFamily="34" charset="0"/>
              <a:cs typeface="Arial" panose="020B0604020202020204" pitchFamily="34" charset="0"/>
            </a:endParaRPr>
          </a:p>
        </p:txBody>
      </p:sp>
      <p:sp>
        <p:nvSpPr>
          <p:cNvPr id="58" name="Oval 57">
            <a:extLst>
              <a:ext uri="{FF2B5EF4-FFF2-40B4-BE49-F238E27FC236}">
                <a16:creationId xmlns:a16="http://schemas.microsoft.com/office/drawing/2014/main" id="{8BFFCA7C-FCEE-5DEF-A1AD-56DE5F4C7883}"/>
              </a:ext>
            </a:extLst>
          </p:cNvPr>
          <p:cNvSpPr/>
          <p:nvPr/>
        </p:nvSpPr>
        <p:spPr>
          <a:xfrm>
            <a:off x="1666163" y="503434"/>
            <a:ext cx="130294" cy="130294"/>
          </a:xfrm>
          <a:prstGeom prst="ellipse">
            <a:avLst/>
          </a:prstGeom>
          <a:solidFill>
            <a:srgbClr val="0063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59" name="Oval 58">
            <a:extLst>
              <a:ext uri="{FF2B5EF4-FFF2-40B4-BE49-F238E27FC236}">
                <a16:creationId xmlns:a16="http://schemas.microsoft.com/office/drawing/2014/main" id="{8425681E-D20B-FEC9-B1E8-90267A3DD3C8}"/>
              </a:ext>
            </a:extLst>
          </p:cNvPr>
          <p:cNvSpPr/>
          <p:nvPr/>
        </p:nvSpPr>
        <p:spPr>
          <a:xfrm>
            <a:off x="1919124" y="503434"/>
            <a:ext cx="130294" cy="130294"/>
          </a:xfrm>
          <a:prstGeom prst="ellipse">
            <a:avLst/>
          </a:prstGeom>
          <a:solidFill>
            <a:srgbClr val="0063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60" name="Oval 59">
            <a:extLst>
              <a:ext uri="{FF2B5EF4-FFF2-40B4-BE49-F238E27FC236}">
                <a16:creationId xmlns:a16="http://schemas.microsoft.com/office/drawing/2014/main" id="{87ED36F3-CA3C-E6D2-08F4-A439CF440849}"/>
              </a:ext>
            </a:extLst>
          </p:cNvPr>
          <p:cNvSpPr/>
          <p:nvPr/>
        </p:nvSpPr>
        <p:spPr>
          <a:xfrm>
            <a:off x="2168272" y="503434"/>
            <a:ext cx="130294" cy="130294"/>
          </a:xfrm>
          <a:prstGeom prst="ellipse">
            <a:avLst/>
          </a:prstGeom>
          <a:solidFill>
            <a:srgbClr val="0063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62" name="Date Placeholder 3">
            <a:extLst>
              <a:ext uri="{FF2B5EF4-FFF2-40B4-BE49-F238E27FC236}">
                <a16:creationId xmlns:a16="http://schemas.microsoft.com/office/drawing/2014/main" id="{160072A7-6FDB-3B59-5A2B-F7F13764064A}"/>
              </a:ext>
            </a:extLst>
          </p:cNvPr>
          <p:cNvSpPr txBox="1">
            <a:spLocks/>
          </p:cNvSpPr>
          <p:nvPr/>
        </p:nvSpPr>
        <p:spPr>
          <a:xfrm>
            <a:off x="25673" y="4922595"/>
            <a:ext cx="811609" cy="22090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gn="l" rtl="0" eaLnBrk="1" fontAlgn="base" hangingPunct="1">
              <a:lnSpc>
                <a:spcPct val="150000"/>
              </a:lnSpc>
              <a:spcBef>
                <a:spcPct val="0"/>
              </a:spcBef>
              <a:spcAft>
                <a:spcPct val="0"/>
              </a:spcAft>
              <a:defRPr lang="de-DE" sz="1400" kern="1200" baseline="0" noProof="0" dirty="0" smtClean="0">
                <a:solidFill>
                  <a:schemeClr val="tx1"/>
                </a:solidFill>
                <a:latin typeface="+mn-lt"/>
                <a:ea typeface="+mn-ea"/>
                <a:cs typeface="+mn-cs"/>
              </a:defRPr>
            </a:lvl1pPr>
            <a:lvl2pPr marL="176213" indent="-176213" algn="l" rtl="0" eaLnBrk="1" fontAlgn="base" hangingPunct="1">
              <a:lnSpc>
                <a:spcPct val="100000"/>
              </a:lnSpc>
              <a:spcBef>
                <a:spcPct val="0"/>
              </a:spcBef>
              <a:spcAft>
                <a:spcPct val="0"/>
              </a:spcAft>
              <a:buFont typeface="Arial" charset="0"/>
              <a:buChar char="•"/>
              <a:defRPr lang="de-DE" sz="1600" kern="1200" noProof="0" dirty="0" smtClean="0">
                <a:solidFill>
                  <a:schemeClr val="tx1"/>
                </a:solidFill>
                <a:latin typeface="+mn-lt"/>
                <a:ea typeface="+mn-ea"/>
                <a:cs typeface="+mn-cs"/>
              </a:defRPr>
            </a:lvl2pPr>
            <a:lvl3pPr marL="360363" indent="-184150"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fld id="{E6E0805E-65D9-544D-8805-556D80FFC742}" type="datetime1">
              <a:rPr lang="en-US" sz="1000" smtClean="0">
                <a:solidFill>
                  <a:schemeClr val="bg1">
                    <a:lumMod val="85000"/>
                  </a:schemeClr>
                </a:solidFill>
              </a:rPr>
              <a:pPr/>
              <a:t>12/7/25</a:t>
            </a:fld>
            <a:endParaRPr lang="en-US" sz="1000" dirty="0">
              <a:solidFill>
                <a:schemeClr val="bg1">
                  <a:lumMod val="85000"/>
                </a:schemeClr>
              </a:solidFill>
            </a:endParaRPr>
          </a:p>
        </p:txBody>
      </p:sp>
      <p:sp>
        <p:nvSpPr>
          <p:cNvPr id="2" name="Footer Placeholder 4">
            <a:extLst>
              <a:ext uri="{FF2B5EF4-FFF2-40B4-BE49-F238E27FC236}">
                <a16:creationId xmlns:a16="http://schemas.microsoft.com/office/drawing/2014/main" id="{750B0071-9B05-5403-1BF7-22C0FD87A7D0}"/>
              </a:ext>
            </a:extLst>
          </p:cNvPr>
          <p:cNvSpPr txBox="1">
            <a:spLocks/>
          </p:cNvSpPr>
          <p:nvPr/>
        </p:nvSpPr>
        <p:spPr>
          <a:xfrm>
            <a:off x="2394860" y="4787044"/>
            <a:ext cx="4482901" cy="360210"/>
          </a:xfrm>
          <a:prstGeom prst="rect">
            <a:avLst/>
          </a:prstGeom>
        </p:spPr>
        <p:txBody>
          <a:bodyPr/>
          <a:ls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lgn="ctr"/>
            <a:br>
              <a:rPr lang="en-US" sz="1000" dirty="0">
                <a:solidFill>
                  <a:schemeClr val="bg1">
                    <a:lumMod val="85000"/>
                  </a:schemeClr>
                </a:solidFill>
              </a:rPr>
            </a:br>
            <a:r>
              <a:rPr lang="en-US" sz="1000" dirty="0">
                <a:solidFill>
                  <a:schemeClr val="bg1">
                    <a:lumMod val="85000"/>
                  </a:schemeClr>
                </a:solidFill>
              </a:rPr>
              <a:t>Algorithmic Decision Making: Metaheuristics and Decomposition in Practice</a:t>
            </a:r>
          </a:p>
        </p:txBody>
      </p:sp>
    </p:spTree>
    <p:extLst>
      <p:ext uri="{BB962C8B-B14F-4D97-AF65-F5344CB8AC3E}">
        <p14:creationId xmlns:p14="http://schemas.microsoft.com/office/powerpoint/2010/main" val="937640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4"/>
                                        </p:tgtEl>
                                        <p:attrNameLst>
                                          <p:attrName>style.visibility</p:attrName>
                                        </p:attrNameLst>
                                      </p:cBhvr>
                                      <p:to>
                                        <p:strVal val="visible"/>
                                      </p:to>
                                    </p:set>
                                  </p:childTnLst>
                                </p:cTn>
                              </p:par>
                              <p:par>
                                <p:cTn id="29" presetID="1" presetClass="entr" presetSubtype="0" fill="hold" grpId="1" nodeType="withEffect">
                                  <p:stCondLst>
                                    <p:cond delay="0"/>
                                  </p:stCondLst>
                                  <p:childTnLst>
                                    <p:set>
                                      <p:cBhvr>
                                        <p:cTn id="30"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50" grpId="0" animBg="1"/>
      <p:bldP spid="51" grpId="0" animBg="1"/>
      <p:bldP spid="52" grpId="0" animBg="1"/>
      <p:bldP spid="54" grpId="0" animBg="1"/>
      <p:bldP spid="56" grpId="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A156AA-139A-8D2F-CE3F-45CCA763521F}"/>
            </a:ext>
          </a:extLst>
        </p:cNvPr>
        <p:cNvGrpSpPr/>
        <p:nvPr/>
      </p:nvGrpSpPr>
      <p:grpSpPr>
        <a:xfrm>
          <a:off x="0" y="0"/>
          <a:ext cx="0" cy="0"/>
          <a:chOff x="0" y="0"/>
          <a:chExt cx="0" cy="0"/>
        </a:xfrm>
      </p:grpSpPr>
      <p:sp>
        <p:nvSpPr>
          <p:cNvPr id="24" name="Title 23">
            <a:extLst>
              <a:ext uri="{FF2B5EF4-FFF2-40B4-BE49-F238E27FC236}">
                <a16:creationId xmlns:a16="http://schemas.microsoft.com/office/drawing/2014/main" id="{238EB1B6-BC02-326D-3989-65CD8B60EE0F}"/>
              </a:ext>
            </a:extLst>
          </p:cNvPr>
          <p:cNvSpPr>
            <a:spLocks noGrp="1"/>
          </p:cNvSpPr>
          <p:nvPr>
            <p:ph type="title"/>
          </p:nvPr>
        </p:nvSpPr>
        <p:spPr/>
        <p:txBody>
          <a:bodyPr/>
          <a:lstStyle/>
          <a:p>
            <a:endParaRPr lang="en-US"/>
          </a:p>
        </p:txBody>
      </p:sp>
      <p:sp>
        <p:nvSpPr>
          <p:cNvPr id="4" name="Foliennummernplatzhalter 3">
            <a:extLst>
              <a:ext uri="{FF2B5EF4-FFF2-40B4-BE49-F238E27FC236}">
                <a16:creationId xmlns:a16="http://schemas.microsoft.com/office/drawing/2014/main" id="{732DC0AB-FB97-1BF2-3BCE-A311DAAFF274}"/>
              </a:ext>
            </a:extLst>
          </p:cNvPr>
          <p:cNvSpPr>
            <a:spLocks noGrp="1"/>
          </p:cNvSpPr>
          <p:nvPr>
            <p:ph type="sldNum" sz="quarter" idx="12"/>
          </p:nvPr>
        </p:nvSpPr>
        <p:spPr/>
        <p:txBody>
          <a:bodyPr/>
          <a:lstStyle/>
          <a:p>
            <a:fld id="{CE58CB1E-F828-4F11-99E0-327109AF9DA4}" type="slidenum">
              <a:rPr lang="de-DE" smtClean="0"/>
              <a:pPr/>
              <a:t>14</a:t>
            </a:fld>
            <a:endParaRPr lang="de-DE" dirty="0"/>
          </a:p>
        </p:txBody>
      </p:sp>
      <p:sp>
        <p:nvSpPr>
          <p:cNvPr id="6" name="Rectangle 5">
            <a:extLst>
              <a:ext uri="{FF2B5EF4-FFF2-40B4-BE49-F238E27FC236}">
                <a16:creationId xmlns:a16="http://schemas.microsoft.com/office/drawing/2014/main" id="{F0CD6FA5-5F54-5AC2-5A94-022DD4833D71}"/>
              </a:ext>
            </a:extLst>
          </p:cNvPr>
          <p:cNvSpPr/>
          <p:nvPr/>
        </p:nvSpPr>
        <p:spPr>
          <a:xfrm>
            <a:off x="0" y="252983"/>
            <a:ext cx="1577591" cy="380745"/>
          </a:xfrm>
          <a:prstGeom prst="rect">
            <a:avLst/>
          </a:prstGeom>
          <a:solidFill>
            <a:srgbClr val="0064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nSpc>
                <a:spcPct val="114000"/>
              </a:lnSpc>
            </a:pPr>
            <a:r>
              <a:rPr lang="en-US" dirty="0"/>
              <a:t>Evaluation</a:t>
            </a:r>
          </a:p>
        </p:txBody>
      </p:sp>
      <p:cxnSp>
        <p:nvCxnSpPr>
          <p:cNvPr id="9" name="Straight Connector 8">
            <a:extLst>
              <a:ext uri="{FF2B5EF4-FFF2-40B4-BE49-F238E27FC236}">
                <a16:creationId xmlns:a16="http://schemas.microsoft.com/office/drawing/2014/main" id="{F4F42CD6-7278-7B0C-F90B-1E85A48972FB}"/>
              </a:ext>
            </a:extLst>
          </p:cNvPr>
          <p:cNvCxnSpPr>
            <a:cxnSpLocks/>
          </p:cNvCxnSpPr>
          <p:nvPr/>
        </p:nvCxnSpPr>
        <p:spPr>
          <a:xfrm>
            <a:off x="0" y="0"/>
            <a:ext cx="1577591"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128EA5EA-7264-B25D-2A8C-25A613C99D92}"/>
              </a:ext>
            </a:extLst>
          </p:cNvPr>
          <p:cNvCxnSpPr>
            <a:cxnSpLocks/>
          </p:cNvCxnSpPr>
          <p:nvPr/>
        </p:nvCxnSpPr>
        <p:spPr>
          <a:xfrm>
            <a:off x="1513583" y="0"/>
            <a:ext cx="1577591"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970DEAA-D22D-7DFF-4C39-8811FD35AEDA}"/>
              </a:ext>
            </a:extLst>
          </p:cNvPr>
          <p:cNvCxnSpPr>
            <a:cxnSpLocks/>
          </p:cNvCxnSpPr>
          <p:nvPr/>
        </p:nvCxnSpPr>
        <p:spPr>
          <a:xfrm>
            <a:off x="3091174" y="0"/>
            <a:ext cx="1577591"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B97DB90C-1661-F80C-1E1C-6AAE4125AD86}"/>
              </a:ext>
            </a:extLst>
          </p:cNvPr>
          <p:cNvCxnSpPr>
            <a:cxnSpLocks/>
          </p:cNvCxnSpPr>
          <p:nvPr/>
        </p:nvCxnSpPr>
        <p:spPr>
          <a:xfrm>
            <a:off x="4668765" y="0"/>
            <a:ext cx="1577591"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0F52640-0A48-3301-DBD1-43760ECC411C}"/>
              </a:ext>
            </a:extLst>
          </p:cNvPr>
          <p:cNvCxnSpPr>
            <a:cxnSpLocks/>
          </p:cNvCxnSpPr>
          <p:nvPr/>
        </p:nvCxnSpPr>
        <p:spPr>
          <a:xfrm>
            <a:off x="6246356" y="0"/>
            <a:ext cx="1577591"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CE73374F-5920-D178-17A2-C23DB59FEA94}"/>
              </a:ext>
            </a:extLst>
          </p:cNvPr>
          <p:cNvSpPr/>
          <p:nvPr/>
        </p:nvSpPr>
        <p:spPr>
          <a:xfrm>
            <a:off x="1666163" y="503434"/>
            <a:ext cx="130294" cy="130294"/>
          </a:xfrm>
          <a:prstGeom prst="ellipse">
            <a:avLst/>
          </a:prstGeom>
          <a:solidFill>
            <a:srgbClr val="0063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23" name="Rectangle 22">
            <a:extLst>
              <a:ext uri="{FF2B5EF4-FFF2-40B4-BE49-F238E27FC236}">
                <a16:creationId xmlns:a16="http://schemas.microsoft.com/office/drawing/2014/main" id="{917FAD0C-74BD-CB64-BE86-4D2C3DFA11B6}"/>
              </a:ext>
            </a:extLst>
          </p:cNvPr>
          <p:cNvSpPr/>
          <p:nvPr/>
        </p:nvSpPr>
        <p:spPr>
          <a:xfrm>
            <a:off x="0" y="857263"/>
            <a:ext cx="9233554" cy="53558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r>
              <a:rPr lang="de-DE" sz="1800" dirty="0">
                <a:solidFill>
                  <a:schemeClr val="bg1"/>
                </a:solidFill>
                <a:latin typeface="Arial" panose="020B0604020202020204" pitchFamily="34" charset="0"/>
                <a:cs typeface="Arial" panose="020B0604020202020204" pitchFamily="34" charset="0"/>
              </a:rPr>
              <a:t>RQ</a:t>
            </a:r>
            <a:r>
              <a:rPr lang="en-US" altLang="zh-CN" sz="1800" dirty="0">
                <a:solidFill>
                  <a:schemeClr val="bg1"/>
                </a:solidFill>
                <a:latin typeface="Arial" panose="020B0604020202020204" pitchFamily="34" charset="0"/>
                <a:cs typeface="Arial" panose="020B0604020202020204" pitchFamily="34" charset="0"/>
              </a:rPr>
              <a:t>4</a:t>
            </a:r>
            <a:r>
              <a:rPr lang="de-DE" sz="1800" dirty="0">
                <a:solidFill>
                  <a:schemeClr val="bg1"/>
                </a:solidFill>
                <a:latin typeface="Arial" panose="020B0604020202020204" pitchFamily="34" charset="0"/>
                <a:cs typeface="Arial" panose="020B0604020202020204" pitchFamily="34" charset="0"/>
              </a:rPr>
              <a:t>: </a:t>
            </a:r>
            <a:r>
              <a:rPr lang="en-US" sz="1800" b="1" dirty="0">
                <a:solidFill>
                  <a:schemeClr val="bg1"/>
                </a:solidFill>
                <a:effectLst/>
                <a:latin typeface="Arial" panose="020B0604020202020204" pitchFamily="34" charset="0"/>
                <a:cs typeface="Arial" panose="020B0604020202020204" pitchFamily="34" charset="0"/>
              </a:rPr>
              <a:t>How acceptable are our updated SO</a:t>
            </a:r>
            <a:r>
              <a:rPr lang="zh-CN" altLang="en-US" sz="1800" b="1" dirty="0">
                <a:solidFill>
                  <a:schemeClr val="bg1"/>
                </a:solidFill>
                <a:effectLst/>
                <a:latin typeface="Arial" panose="020B0604020202020204" pitchFamily="34" charset="0"/>
                <a:cs typeface="Arial" panose="020B0604020202020204" pitchFamily="34" charset="0"/>
              </a:rPr>
              <a:t> </a:t>
            </a:r>
            <a:r>
              <a:rPr lang="en-US" sz="1800" b="1" dirty="0">
                <a:solidFill>
                  <a:schemeClr val="bg1"/>
                </a:solidFill>
                <a:effectLst/>
                <a:latin typeface="Arial" panose="020B0604020202020204" pitchFamily="34" charset="0"/>
                <a:cs typeface="Arial" panose="020B0604020202020204" pitchFamily="34" charset="0"/>
              </a:rPr>
              <a:t>posts in real-world scenarios?</a:t>
            </a:r>
          </a:p>
          <a:p>
            <a:pPr algn="ctr">
              <a:lnSpc>
                <a:spcPct val="114000"/>
              </a:lnSpc>
            </a:pPr>
            <a:br>
              <a:rPr lang="en-US" sz="1800" b="1" dirty="0">
                <a:solidFill>
                  <a:schemeClr val="bg1"/>
                </a:solidFill>
                <a:effectLst/>
                <a:latin typeface="Arial" panose="020B0604020202020204" pitchFamily="34" charset="0"/>
                <a:cs typeface="Arial" panose="020B0604020202020204" pitchFamily="34" charset="0"/>
              </a:rPr>
            </a:br>
            <a:endParaRPr lang="en-US" dirty="0"/>
          </a:p>
        </p:txBody>
      </p:sp>
      <p:sp>
        <p:nvSpPr>
          <p:cNvPr id="25" name="Inhaltsplatzhalter 6">
            <a:extLst>
              <a:ext uri="{FF2B5EF4-FFF2-40B4-BE49-F238E27FC236}">
                <a16:creationId xmlns:a16="http://schemas.microsoft.com/office/drawing/2014/main" id="{148CE8D4-EACB-0BFF-96CC-3AA4E27DDD0D}"/>
              </a:ext>
            </a:extLst>
          </p:cNvPr>
          <p:cNvSpPr txBox="1">
            <a:spLocks/>
          </p:cNvSpPr>
          <p:nvPr/>
        </p:nvSpPr>
        <p:spPr>
          <a:xfrm>
            <a:off x="251905" y="1570115"/>
            <a:ext cx="8512178" cy="679527"/>
          </a:xfrm>
          <a:prstGeom prst="rect">
            <a:avLst/>
          </a:prstGeom>
        </p:spPr>
        <p:txBody>
          <a:bodyPr/>
          <a:lst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de-DE" dirty="0"/>
              <a:t>Experiment:</a:t>
            </a:r>
          </a:p>
          <a:p>
            <a:endParaRPr lang="en-US" altLang="zh-CN" dirty="0"/>
          </a:p>
          <a:p>
            <a:endParaRPr lang="en-US" altLang="zh-CN" dirty="0"/>
          </a:p>
          <a:p>
            <a:endParaRPr lang="en-US" dirty="0"/>
          </a:p>
          <a:p>
            <a:endParaRPr lang="en-US" dirty="0"/>
          </a:p>
          <a:p>
            <a:endParaRPr lang="en-US" dirty="0"/>
          </a:p>
          <a:p>
            <a:endParaRPr lang="de-DE" dirty="0"/>
          </a:p>
        </p:txBody>
      </p:sp>
      <p:grpSp>
        <p:nvGrpSpPr>
          <p:cNvPr id="26" name="Group 25">
            <a:extLst>
              <a:ext uri="{FF2B5EF4-FFF2-40B4-BE49-F238E27FC236}">
                <a16:creationId xmlns:a16="http://schemas.microsoft.com/office/drawing/2014/main" id="{F9750224-06D9-80D2-ED24-4B46477A8223}"/>
              </a:ext>
            </a:extLst>
          </p:cNvPr>
          <p:cNvGrpSpPr/>
          <p:nvPr/>
        </p:nvGrpSpPr>
        <p:grpSpPr>
          <a:xfrm>
            <a:off x="662837" y="2252691"/>
            <a:ext cx="1639541" cy="615509"/>
            <a:chOff x="2195564" y="1694671"/>
            <a:chExt cx="1986067" cy="698361"/>
          </a:xfrm>
        </p:grpSpPr>
        <p:sp>
          <p:nvSpPr>
            <p:cNvPr id="27" name="Rounded Rectangle 26">
              <a:extLst>
                <a:ext uri="{FF2B5EF4-FFF2-40B4-BE49-F238E27FC236}">
                  <a16:creationId xmlns:a16="http://schemas.microsoft.com/office/drawing/2014/main" id="{D3765D9D-319F-5872-B22A-F5ED676CAF56}"/>
                </a:ext>
              </a:extLst>
            </p:cNvPr>
            <p:cNvSpPr/>
            <p:nvPr/>
          </p:nvSpPr>
          <p:spPr>
            <a:xfrm>
              <a:off x="2195564" y="1726591"/>
              <a:ext cx="1521810" cy="638507"/>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sz="700" dirty="0"/>
            </a:p>
          </p:txBody>
        </p:sp>
        <p:pic>
          <p:nvPicPr>
            <p:cNvPr id="28" name="Picture 2">
              <a:extLst>
                <a:ext uri="{FF2B5EF4-FFF2-40B4-BE49-F238E27FC236}">
                  <a16:creationId xmlns:a16="http://schemas.microsoft.com/office/drawing/2014/main" id="{5FCD0E69-D1BE-472A-25FE-9C77AF0ACD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5564" y="1694671"/>
              <a:ext cx="698361" cy="698361"/>
            </a:xfrm>
            <a:prstGeom prst="rect">
              <a:avLst/>
            </a:prstGeom>
            <a:noFill/>
            <a:extLst>
              <a:ext uri="{909E8E84-426E-40DD-AFC4-6F175D3DCCD1}">
                <a14:hiddenFill xmlns:a14="http://schemas.microsoft.com/office/drawing/2010/main">
                  <a:solidFill>
                    <a:srgbClr val="FFFFFF"/>
                  </a:solidFill>
                </a14:hiddenFill>
              </a:ext>
            </a:extLst>
          </p:spPr>
        </p:pic>
        <p:sp>
          <p:nvSpPr>
            <p:cNvPr id="29" name="TextBox 28">
              <a:extLst>
                <a:ext uri="{FF2B5EF4-FFF2-40B4-BE49-F238E27FC236}">
                  <a16:creationId xmlns:a16="http://schemas.microsoft.com/office/drawing/2014/main" id="{04E6FD9A-35F2-E26C-5A4B-4902B629DECA}"/>
                </a:ext>
              </a:extLst>
            </p:cNvPr>
            <p:cNvSpPr txBox="1"/>
            <p:nvPr/>
          </p:nvSpPr>
          <p:spPr>
            <a:xfrm>
              <a:off x="2302588" y="1869752"/>
              <a:ext cx="1879043" cy="371759"/>
            </a:xfrm>
            <a:prstGeom prst="rect">
              <a:avLst/>
            </a:prstGeom>
            <a:noFill/>
          </p:spPr>
          <p:txBody>
            <a:bodyPr wrap="square">
              <a:spAutoFit/>
            </a:bodyPr>
            <a:lstStyle/>
            <a:p>
              <a:pPr algn="ctr">
                <a:lnSpc>
                  <a:spcPct val="114000"/>
                </a:lnSpc>
              </a:pPr>
              <a:r>
                <a:rPr lang="en-US" sz="700" dirty="0"/>
                <a:t>Stack Overflow</a:t>
              </a:r>
            </a:p>
            <a:p>
              <a:pPr algn="ctr">
                <a:lnSpc>
                  <a:spcPct val="114000"/>
                </a:lnSpc>
              </a:pPr>
              <a:r>
                <a:rPr lang="en-US" sz="700" dirty="0"/>
                <a:t>Post Edit History</a:t>
              </a:r>
            </a:p>
          </p:txBody>
        </p:sp>
      </p:grpSp>
      <p:sp>
        <p:nvSpPr>
          <p:cNvPr id="30" name="Right Arrow 29">
            <a:extLst>
              <a:ext uri="{FF2B5EF4-FFF2-40B4-BE49-F238E27FC236}">
                <a16:creationId xmlns:a16="http://schemas.microsoft.com/office/drawing/2014/main" id="{95865270-51E7-06B1-B020-02545E4C81BE}"/>
              </a:ext>
            </a:extLst>
          </p:cNvPr>
          <p:cNvSpPr/>
          <p:nvPr/>
        </p:nvSpPr>
        <p:spPr>
          <a:xfrm>
            <a:off x="1953219" y="2515731"/>
            <a:ext cx="471827" cy="110193"/>
          </a:xfrm>
          <a:prstGeom prst="rightArrow">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grpSp>
        <p:nvGrpSpPr>
          <p:cNvPr id="36" name="Group 35">
            <a:extLst>
              <a:ext uri="{FF2B5EF4-FFF2-40B4-BE49-F238E27FC236}">
                <a16:creationId xmlns:a16="http://schemas.microsoft.com/office/drawing/2014/main" id="{F03D8785-314C-9A72-45C6-618AB14E15DF}"/>
              </a:ext>
            </a:extLst>
          </p:cNvPr>
          <p:cNvGrpSpPr/>
          <p:nvPr/>
        </p:nvGrpSpPr>
        <p:grpSpPr>
          <a:xfrm>
            <a:off x="2330056" y="2199363"/>
            <a:ext cx="1681343" cy="644215"/>
            <a:chOff x="5397874" y="931841"/>
            <a:chExt cx="1874342" cy="661328"/>
          </a:xfrm>
        </p:grpSpPr>
        <p:sp>
          <p:nvSpPr>
            <p:cNvPr id="38" name="Rounded Rectangle 37">
              <a:extLst>
                <a:ext uri="{FF2B5EF4-FFF2-40B4-BE49-F238E27FC236}">
                  <a16:creationId xmlns:a16="http://schemas.microsoft.com/office/drawing/2014/main" id="{854878DC-BEF3-5E8D-0C28-0D8CBBE3E855}"/>
                </a:ext>
              </a:extLst>
            </p:cNvPr>
            <p:cNvSpPr/>
            <p:nvPr/>
          </p:nvSpPr>
          <p:spPr>
            <a:xfrm>
              <a:off x="5541776" y="931841"/>
              <a:ext cx="1568477" cy="661328"/>
            </a:xfrm>
            <a:prstGeom prst="roundRect">
              <a:avLst/>
            </a:prstGeom>
            <a:solidFill>
              <a:schemeClr val="accent3">
                <a:lumMod val="60000"/>
                <a:lumOff val="40000"/>
              </a:schemeClr>
            </a:solidFill>
            <a:ln w="38100"/>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39" name="Rounded Rectangle 38">
              <a:extLst>
                <a:ext uri="{FF2B5EF4-FFF2-40B4-BE49-F238E27FC236}">
                  <a16:creationId xmlns:a16="http://schemas.microsoft.com/office/drawing/2014/main" id="{5CE2ADF3-7E06-EC24-C74F-1DC904C0C324}"/>
                </a:ext>
              </a:extLst>
            </p:cNvPr>
            <p:cNvSpPr/>
            <p:nvPr/>
          </p:nvSpPr>
          <p:spPr>
            <a:xfrm>
              <a:off x="5670673" y="1170368"/>
              <a:ext cx="596702" cy="279455"/>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sz="1000" dirty="0">
                  <a:solidFill>
                    <a:schemeClr val="tx1"/>
                  </a:solidFill>
                  <a:latin typeface="Arial" panose="020B0604020202020204" pitchFamily="34" charset="0"/>
                  <a:cs typeface="Arial" panose="020B0604020202020204" pitchFamily="34" charset="0"/>
                </a:rPr>
                <a:t> </a:t>
              </a:r>
              <a:r>
                <a:rPr lang="en-US" sz="700" dirty="0">
                  <a:solidFill>
                    <a:schemeClr val="tx1"/>
                  </a:solidFill>
                  <a:latin typeface="Arial" panose="020B0604020202020204" pitchFamily="34" charset="0"/>
                  <a:cs typeface="Arial" panose="020B0604020202020204" pitchFamily="34" charset="0"/>
                </a:rPr>
                <a:t>1 Year</a:t>
              </a:r>
            </a:p>
          </p:txBody>
        </p:sp>
        <p:sp>
          <p:nvSpPr>
            <p:cNvPr id="40" name="Rounded Rectangle 39">
              <a:extLst>
                <a:ext uri="{FF2B5EF4-FFF2-40B4-BE49-F238E27FC236}">
                  <a16:creationId xmlns:a16="http://schemas.microsoft.com/office/drawing/2014/main" id="{847C02F5-BC4A-A304-CEC1-CF46A975B168}"/>
                </a:ext>
              </a:extLst>
            </p:cNvPr>
            <p:cNvSpPr/>
            <p:nvPr/>
          </p:nvSpPr>
          <p:spPr>
            <a:xfrm>
              <a:off x="6335044" y="1161455"/>
              <a:ext cx="654965" cy="291468"/>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sz="700" dirty="0">
                  <a:solidFill>
                    <a:schemeClr val="tx1"/>
                  </a:solidFill>
                  <a:latin typeface="Arial" panose="020B0604020202020204" pitchFamily="34" charset="0"/>
                  <a:cs typeface="Arial" panose="020B0604020202020204" pitchFamily="34" charset="0"/>
                </a:rPr>
                <a:t>keyword</a:t>
              </a:r>
            </a:p>
          </p:txBody>
        </p:sp>
        <p:sp>
          <p:nvSpPr>
            <p:cNvPr id="42" name="TextBox 41">
              <a:extLst>
                <a:ext uri="{FF2B5EF4-FFF2-40B4-BE49-F238E27FC236}">
                  <a16:creationId xmlns:a16="http://schemas.microsoft.com/office/drawing/2014/main" id="{6A0AB789-A865-BF1C-E97A-ED318DEEF1BE}"/>
                </a:ext>
              </a:extLst>
            </p:cNvPr>
            <p:cNvSpPr txBox="1"/>
            <p:nvPr/>
          </p:nvSpPr>
          <p:spPr>
            <a:xfrm>
              <a:off x="5397874" y="962317"/>
              <a:ext cx="1874342" cy="181878"/>
            </a:xfrm>
            <a:prstGeom prst="rect">
              <a:avLst/>
            </a:prstGeom>
            <a:noFill/>
          </p:spPr>
          <p:txBody>
            <a:bodyPr wrap="square" lIns="0" tIns="0" rIns="0" bIns="0" rtlCol="0">
              <a:spAutoFit/>
            </a:bodyPr>
            <a:lstStyle/>
            <a:p>
              <a:pPr algn="ctr">
                <a:lnSpc>
                  <a:spcPct val="114000"/>
                </a:lnSpc>
              </a:pPr>
              <a:r>
                <a:rPr lang="en-US" sz="1100" dirty="0">
                  <a:solidFill>
                    <a:schemeClr val="accent3">
                      <a:lumMod val="75000"/>
                    </a:schemeClr>
                  </a:solidFill>
                  <a:latin typeface="Arial" panose="020B0604020202020204" pitchFamily="34" charset="0"/>
                  <a:cs typeface="Arial" panose="020B0604020202020204" pitchFamily="34" charset="0"/>
                </a:rPr>
                <a:t>rules</a:t>
              </a:r>
            </a:p>
          </p:txBody>
        </p:sp>
      </p:grpSp>
      <p:sp>
        <p:nvSpPr>
          <p:cNvPr id="43" name="Right Arrow 42">
            <a:extLst>
              <a:ext uri="{FF2B5EF4-FFF2-40B4-BE49-F238E27FC236}">
                <a16:creationId xmlns:a16="http://schemas.microsoft.com/office/drawing/2014/main" id="{1363831B-D024-4270-38CB-28BCCEE87CC0}"/>
              </a:ext>
            </a:extLst>
          </p:cNvPr>
          <p:cNvSpPr/>
          <p:nvPr/>
        </p:nvSpPr>
        <p:spPr>
          <a:xfrm>
            <a:off x="3934304" y="2512733"/>
            <a:ext cx="471827" cy="110193"/>
          </a:xfrm>
          <a:prstGeom prst="rightArrow">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grpSp>
        <p:nvGrpSpPr>
          <p:cNvPr id="44" name="Group 43">
            <a:extLst>
              <a:ext uri="{FF2B5EF4-FFF2-40B4-BE49-F238E27FC236}">
                <a16:creationId xmlns:a16="http://schemas.microsoft.com/office/drawing/2014/main" id="{94FE7477-AD3D-8ECB-493B-2C41D39D2E41}"/>
              </a:ext>
            </a:extLst>
          </p:cNvPr>
          <p:cNvGrpSpPr/>
          <p:nvPr/>
        </p:nvGrpSpPr>
        <p:grpSpPr>
          <a:xfrm>
            <a:off x="4084142" y="2240344"/>
            <a:ext cx="1493572" cy="562251"/>
            <a:chOff x="5236950" y="3354549"/>
            <a:chExt cx="1493572" cy="562251"/>
          </a:xfrm>
        </p:grpSpPr>
        <p:sp>
          <p:nvSpPr>
            <p:cNvPr id="45" name="Rounded Rectangle 44">
              <a:extLst>
                <a:ext uri="{FF2B5EF4-FFF2-40B4-BE49-F238E27FC236}">
                  <a16:creationId xmlns:a16="http://schemas.microsoft.com/office/drawing/2014/main" id="{37D2D661-0CB2-51AA-ABAF-CC0C2FB0BBB3}"/>
                </a:ext>
              </a:extLst>
            </p:cNvPr>
            <p:cNvSpPr/>
            <p:nvPr/>
          </p:nvSpPr>
          <p:spPr>
            <a:xfrm>
              <a:off x="5565200" y="3354549"/>
              <a:ext cx="839301" cy="562251"/>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pic>
          <p:nvPicPr>
            <p:cNvPr id="46" name="Graphic 45" descr="Programmer male with solid fill">
              <a:extLst>
                <a:ext uri="{FF2B5EF4-FFF2-40B4-BE49-F238E27FC236}">
                  <a16:creationId xmlns:a16="http://schemas.microsoft.com/office/drawing/2014/main" id="{89603B6C-256B-46B1-BEB7-154CD7287F2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745597" y="3501829"/>
              <a:ext cx="391280" cy="391280"/>
            </a:xfrm>
            <a:prstGeom prst="rect">
              <a:avLst/>
            </a:prstGeom>
          </p:spPr>
        </p:pic>
        <p:sp>
          <p:nvSpPr>
            <p:cNvPr id="48" name="TextBox 47">
              <a:extLst>
                <a:ext uri="{FF2B5EF4-FFF2-40B4-BE49-F238E27FC236}">
                  <a16:creationId xmlns:a16="http://schemas.microsoft.com/office/drawing/2014/main" id="{3F0233D3-1936-5E0F-673F-92C9092DBA8C}"/>
                </a:ext>
              </a:extLst>
            </p:cNvPr>
            <p:cNvSpPr txBox="1"/>
            <p:nvPr/>
          </p:nvSpPr>
          <p:spPr>
            <a:xfrm>
              <a:off x="5236950" y="3401747"/>
              <a:ext cx="1493572" cy="112531"/>
            </a:xfrm>
            <a:prstGeom prst="rect">
              <a:avLst/>
            </a:prstGeom>
            <a:noFill/>
          </p:spPr>
          <p:txBody>
            <a:bodyPr wrap="square" lIns="0" tIns="0" rIns="0" bIns="0" rtlCol="0">
              <a:spAutoFit/>
            </a:bodyPr>
            <a:lstStyle/>
            <a:p>
              <a:pPr algn="ctr">
                <a:lnSpc>
                  <a:spcPct val="114000"/>
                </a:lnSpc>
              </a:pPr>
              <a:r>
                <a:rPr lang="en-US" sz="700" dirty="0">
                  <a:latin typeface="+mn-lt"/>
                </a:rPr>
                <a:t>Human Selection</a:t>
              </a:r>
            </a:p>
          </p:txBody>
        </p:sp>
      </p:grpSp>
      <p:sp>
        <p:nvSpPr>
          <p:cNvPr id="49" name="Right Arrow 48">
            <a:extLst>
              <a:ext uri="{FF2B5EF4-FFF2-40B4-BE49-F238E27FC236}">
                <a16:creationId xmlns:a16="http://schemas.microsoft.com/office/drawing/2014/main" id="{B71877F0-91B2-5D28-490E-DAE6E142562F}"/>
              </a:ext>
            </a:extLst>
          </p:cNvPr>
          <p:cNvSpPr/>
          <p:nvPr/>
        </p:nvSpPr>
        <p:spPr>
          <a:xfrm>
            <a:off x="5303494" y="2466372"/>
            <a:ext cx="471827" cy="110193"/>
          </a:xfrm>
          <a:prstGeom prst="rightArrow">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grpSp>
        <p:nvGrpSpPr>
          <p:cNvPr id="50" name="Group 49">
            <a:extLst>
              <a:ext uri="{FF2B5EF4-FFF2-40B4-BE49-F238E27FC236}">
                <a16:creationId xmlns:a16="http://schemas.microsoft.com/office/drawing/2014/main" id="{FA39A9BC-6257-99BE-3405-2AE0639F11C3}"/>
              </a:ext>
            </a:extLst>
          </p:cNvPr>
          <p:cNvGrpSpPr/>
          <p:nvPr/>
        </p:nvGrpSpPr>
        <p:grpSpPr>
          <a:xfrm>
            <a:off x="5594052" y="2204778"/>
            <a:ext cx="824875" cy="598951"/>
            <a:chOff x="4919679" y="1888852"/>
            <a:chExt cx="824875" cy="598951"/>
          </a:xfrm>
        </p:grpSpPr>
        <p:pic>
          <p:nvPicPr>
            <p:cNvPr id="51" name="Picture 50">
              <a:extLst>
                <a:ext uri="{FF2B5EF4-FFF2-40B4-BE49-F238E27FC236}">
                  <a16:creationId xmlns:a16="http://schemas.microsoft.com/office/drawing/2014/main" id="{901B4304-0B00-7E98-E230-77BFBCA2145F}"/>
                </a:ext>
              </a:extLst>
            </p:cNvPr>
            <p:cNvPicPr>
              <a:picLocks noChangeAspect="1"/>
            </p:cNvPicPr>
            <p:nvPr/>
          </p:nvPicPr>
          <p:blipFill>
            <a:blip r:embed="rId6"/>
            <a:stretch>
              <a:fillRect/>
            </a:stretch>
          </p:blipFill>
          <p:spPr>
            <a:xfrm>
              <a:off x="5140802" y="1888852"/>
              <a:ext cx="471828" cy="481265"/>
            </a:xfrm>
            <a:prstGeom prst="rect">
              <a:avLst/>
            </a:prstGeom>
          </p:spPr>
        </p:pic>
        <p:sp>
          <p:nvSpPr>
            <p:cNvPr id="52" name="TextBox 51">
              <a:extLst>
                <a:ext uri="{FF2B5EF4-FFF2-40B4-BE49-F238E27FC236}">
                  <a16:creationId xmlns:a16="http://schemas.microsoft.com/office/drawing/2014/main" id="{A0A0F1C8-EAEE-1B61-4486-7C222216BFC8}"/>
                </a:ext>
              </a:extLst>
            </p:cNvPr>
            <p:cNvSpPr txBox="1"/>
            <p:nvPr/>
          </p:nvSpPr>
          <p:spPr>
            <a:xfrm>
              <a:off x="4919679" y="2375272"/>
              <a:ext cx="824875" cy="112531"/>
            </a:xfrm>
            <a:prstGeom prst="rect">
              <a:avLst/>
            </a:prstGeom>
            <a:noFill/>
          </p:spPr>
          <p:txBody>
            <a:bodyPr wrap="square" lIns="0" tIns="0" rIns="0" bIns="0" rtlCol="0">
              <a:spAutoFit/>
            </a:bodyPr>
            <a:lstStyle/>
            <a:p>
              <a:pPr algn="ctr">
                <a:lnSpc>
                  <a:spcPct val="114000"/>
                </a:lnSpc>
              </a:pPr>
              <a:r>
                <a:rPr lang="en-US" sz="700" dirty="0" err="1">
                  <a:latin typeface="+mn-lt"/>
                </a:rPr>
                <a:t>SOUP</a:t>
              </a:r>
              <a:r>
                <a:rPr lang="en-US" sz="700" baseline="-25000" dirty="0" err="1">
                  <a:latin typeface="+mn-lt"/>
                </a:rPr>
                <a:t>u</a:t>
              </a:r>
              <a:endParaRPr lang="en-US" sz="700" dirty="0">
                <a:latin typeface="+mn-lt"/>
              </a:endParaRPr>
            </a:p>
          </p:txBody>
        </p:sp>
      </p:grpSp>
      <p:grpSp>
        <p:nvGrpSpPr>
          <p:cNvPr id="53" name="Group 52">
            <a:extLst>
              <a:ext uri="{FF2B5EF4-FFF2-40B4-BE49-F238E27FC236}">
                <a16:creationId xmlns:a16="http://schemas.microsoft.com/office/drawing/2014/main" id="{810BEFCC-ECF0-8A79-B77B-2C0F17B93BA7}"/>
              </a:ext>
            </a:extLst>
          </p:cNvPr>
          <p:cNvGrpSpPr/>
          <p:nvPr/>
        </p:nvGrpSpPr>
        <p:grpSpPr>
          <a:xfrm>
            <a:off x="6749761" y="2206385"/>
            <a:ext cx="986838" cy="522916"/>
            <a:chOff x="4729424" y="1726591"/>
            <a:chExt cx="1879042" cy="743578"/>
          </a:xfrm>
        </p:grpSpPr>
        <p:sp>
          <p:nvSpPr>
            <p:cNvPr id="54" name="Rounded Rectangle 53">
              <a:extLst>
                <a:ext uri="{FF2B5EF4-FFF2-40B4-BE49-F238E27FC236}">
                  <a16:creationId xmlns:a16="http://schemas.microsoft.com/office/drawing/2014/main" id="{C023DF88-83D7-679E-2C14-8D3B93AE5FC7}"/>
                </a:ext>
              </a:extLst>
            </p:cNvPr>
            <p:cNvSpPr/>
            <p:nvPr/>
          </p:nvSpPr>
          <p:spPr>
            <a:xfrm>
              <a:off x="4729424" y="1726591"/>
              <a:ext cx="1879042" cy="743578"/>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55" name="Rounded Rectangular Callout 54">
              <a:extLst>
                <a:ext uri="{FF2B5EF4-FFF2-40B4-BE49-F238E27FC236}">
                  <a16:creationId xmlns:a16="http://schemas.microsoft.com/office/drawing/2014/main" id="{43F204F4-B83E-495D-B116-AF26CD16C7F7}"/>
                </a:ext>
              </a:extLst>
            </p:cNvPr>
            <p:cNvSpPr/>
            <p:nvPr/>
          </p:nvSpPr>
          <p:spPr>
            <a:xfrm>
              <a:off x="4853354" y="1918967"/>
              <a:ext cx="482321" cy="317395"/>
            </a:xfrm>
            <a:prstGeom prst="wedgeRoundRectCallout">
              <a:avLst/>
            </a:prstGeom>
            <a:solidFill>
              <a:srgbClr val="F5802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56" name="TextBox 55">
              <a:extLst>
                <a:ext uri="{FF2B5EF4-FFF2-40B4-BE49-F238E27FC236}">
                  <a16:creationId xmlns:a16="http://schemas.microsoft.com/office/drawing/2014/main" id="{FD17244B-1F6F-13C7-F364-BDA15B3B54F0}"/>
                </a:ext>
              </a:extLst>
            </p:cNvPr>
            <p:cNvSpPr txBox="1"/>
            <p:nvPr/>
          </p:nvSpPr>
          <p:spPr>
            <a:xfrm>
              <a:off x="5578511" y="2013940"/>
              <a:ext cx="909838" cy="160017"/>
            </a:xfrm>
            <a:prstGeom prst="rect">
              <a:avLst/>
            </a:prstGeom>
            <a:noFill/>
          </p:spPr>
          <p:txBody>
            <a:bodyPr wrap="square" lIns="0" tIns="0" rIns="0" bIns="0" rtlCol="0">
              <a:spAutoFit/>
            </a:bodyPr>
            <a:lstStyle/>
            <a:p>
              <a:pPr>
                <a:lnSpc>
                  <a:spcPct val="114000"/>
                </a:lnSpc>
              </a:pPr>
              <a:r>
                <a:rPr lang="en-US" sz="700" dirty="0">
                  <a:latin typeface="+mn-lt"/>
                </a:rPr>
                <a:t>Proposal</a:t>
              </a:r>
            </a:p>
          </p:txBody>
        </p:sp>
      </p:grpSp>
      <p:sp>
        <p:nvSpPr>
          <p:cNvPr id="57" name="Right Arrow 56">
            <a:extLst>
              <a:ext uri="{FF2B5EF4-FFF2-40B4-BE49-F238E27FC236}">
                <a16:creationId xmlns:a16="http://schemas.microsoft.com/office/drawing/2014/main" id="{4ECA2EAC-0715-AB9E-ADCE-138498A31A1F}"/>
              </a:ext>
            </a:extLst>
          </p:cNvPr>
          <p:cNvSpPr/>
          <p:nvPr/>
        </p:nvSpPr>
        <p:spPr>
          <a:xfrm>
            <a:off x="6246356" y="2431233"/>
            <a:ext cx="471827" cy="110193"/>
          </a:xfrm>
          <a:prstGeom prst="rightArrow">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58" name="Rounded Rectangle 57">
            <a:extLst>
              <a:ext uri="{FF2B5EF4-FFF2-40B4-BE49-F238E27FC236}">
                <a16:creationId xmlns:a16="http://schemas.microsoft.com/office/drawing/2014/main" id="{FE8123DE-3103-CEF7-0F5E-D3391A89A856}"/>
              </a:ext>
            </a:extLst>
          </p:cNvPr>
          <p:cNvSpPr/>
          <p:nvPr/>
        </p:nvSpPr>
        <p:spPr>
          <a:xfrm>
            <a:off x="251905" y="3400652"/>
            <a:ext cx="1017255" cy="349999"/>
          </a:xfrm>
          <a:prstGeom prst="roundRect">
            <a:avLst/>
          </a:prstGeom>
          <a:solidFill>
            <a:srgbClr val="98C6E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nSpc>
                <a:spcPct val="114000"/>
              </a:lnSpc>
            </a:pPr>
            <a:r>
              <a:rPr lang="en-US" sz="1600" dirty="0">
                <a:latin typeface="Arial" panose="020B0604020202020204" pitchFamily="34" charset="0"/>
                <a:cs typeface="Arial" panose="020B0604020202020204" pitchFamily="34" charset="0"/>
              </a:rPr>
              <a:t>Analysis</a:t>
            </a:r>
          </a:p>
        </p:txBody>
      </p:sp>
      <p:graphicFrame>
        <p:nvGraphicFramePr>
          <p:cNvPr id="61" name="Chart 60">
            <a:extLst>
              <a:ext uri="{FF2B5EF4-FFF2-40B4-BE49-F238E27FC236}">
                <a16:creationId xmlns:a16="http://schemas.microsoft.com/office/drawing/2014/main" id="{DEE83FCF-35DB-AEBD-2E67-684E8D0329E8}"/>
              </a:ext>
            </a:extLst>
          </p:cNvPr>
          <p:cNvGraphicFramePr/>
          <p:nvPr>
            <p:extLst>
              <p:ext uri="{D42A27DB-BD31-4B8C-83A1-F6EECF244321}">
                <p14:modId xmlns:p14="http://schemas.microsoft.com/office/powerpoint/2010/main" val="1198937727"/>
              </p:ext>
            </p:extLst>
          </p:nvPr>
        </p:nvGraphicFramePr>
        <p:xfrm>
          <a:off x="5506590" y="2989447"/>
          <a:ext cx="3057121" cy="2017492"/>
        </p:xfrm>
        <a:graphic>
          <a:graphicData uri="http://schemas.openxmlformats.org/drawingml/2006/chart">
            <c:chart xmlns:c="http://schemas.openxmlformats.org/drawingml/2006/chart" xmlns:r="http://schemas.openxmlformats.org/officeDocument/2006/relationships" r:id="rId7"/>
          </a:graphicData>
        </a:graphic>
      </p:graphicFrame>
      <p:sp>
        <p:nvSpPr>
          <p:cNvPr id="62" name="TextBox 61">
            <a:extLst>
              <a:ext uri="{FF2B5EF4-FFF2-40B4-BE49-F238E27FC236}">
                <a16:creationId xmlns:a16="http://schemas.microsoft.com/office/drawing/2014/main" id="{1994DCC9-4467-82E0-9CB7-C5BC3331A601}"/>
              </a:ext>
            </a:extLst>
          </p:cNvPr>
          <p:cNvSpPr txBox="1"/>
          <p:nvPr/>
        </p:nvSpPr>
        <p:spPr>
          <a:xfrm>
            <a:off x="311304" y="4004367"/>
            <a:ext cx="6566457" cy="738664"/>
          </a:xfrm>
          <a:prstGeom prst="rect">
            <a:avLst/>
          </a:prstGeom>
          <a:noFill/>
        </p:spPr>
        <p:txBody>
          <a:bodyPr wrap="square" lIns="0" tIns="0" rIns="0" bIns="0" rtlCol="0">
            <a:spAutoFit/>
          </a:bodyPr>
          <a:lstStyle/>
          <a:p>
            <a:r>
              <a:rPr lang="en-US" sz="1600" dirty="0">
                <a:solidFill>
                  <a:srgbClr val="141413"/>
                </a:solidFill>
                <a:effectLst/>
                <a:latin typeface="Arial" panose="020B0604020202020204" pitchFamily="34" charset="0"/>
                <a:cs typeface="Arial" panose="020B0604020202020204" pitchFamily="34" charset="0"/>
              </a:rPr>
              <a:t> 21 out of the 50 suggested edits generated by Soup were accepted, with an acceptance rate of 42%.</a:t>
            </a:r>
          </a:p>
          <a:p>
            <a:r>
              <a:rPr lang="en-US" sz="1600" dirty="0">
                <a:solidFill>
                  <a:srgbClr val="141413"/>
                </a:solidFill>
                <a:latin typeface="Arial" panose="020B0604020202020204" pitchFamily="34" charset="0"/>
                <a:cs typeface="Arial" panose="020B0604020202020204" pitchFamily="34" charset="0"/>
              </a:rPr>
              <a:t>Shows the practical value of our framework.</a:t>
            </a:r>
            <a:endParaRPr lang="en-US" sz="1600" dirty="0">
              <a:solidFill>
                <a:srgbClr val="141413"/>
              </a:solidFill>
              <a:effectLst/>
              <a:latin typeface="Arial" panose="020B0604020202020204" pitchFamily="34" charset="0"/>
              <a:cs typeface="Arial" panose="020B0604020202020204" pitchFamily="34" charset="0"/>
            </a:endParaRPr>
          </a:p>
        </p:txBody>
      </p:sp>
      <p:sp>
        <p:nvSpPr>
          <p:cNvPr id="63" name="Oval 62">
            <a:extLst>
              <a:ext uri="{FF2B5EF4-FFF2-40B4-BE49-F238E27FC236}">
                <a16:creationId xmlns:a16="http://schemas.microsoft.com/office/drawing/2014/main" id="{31E4EB03-DD50-90E1-0C86-879CD7DB5B7C}"/>
              </a:ext>
            </a:extLst>
          </p:cNvPr>
          <p:cNvSpPr/>
          <p:nvPr/>
        </p:nvSpPr>
        <p:spPr>
          <a:xfrm>
            <a:off x="1919124" y="503434"/>
            <a:ext cx="130294" cy="130294"/>
          </a:xfrm>
          <a:prstGeom prst="ellipse">
            <a:avLst/>
          </a:prstGeom>
          <a:solidFill>
            <a:srgbClr val="0063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1024" name="Oval 1023">
            <a:extLst>
              <a:ext uri="{FF2B5EF4-FFF2-40B4-BE49-F238E27FC236}">
                <a16:creationId xmlns:a16="http://schemas.microsoft.com/office/drawing/2014/main" id="{37F4CCB6-4688-22A1-F07D-10EFD3533192}"/>
              </a:ext>
            </a:extLst>
          </p:cNvPr>
          <p:cNvSpPr/>
          <p:nvPr/>
        </p:nvSpPr>
        <p:spPr>
          <a:xfrm>
            <a:off x="2168272" y="503434"/>
            <a:ext cx="130294" cy="130294"/>
          </a:xfrm>
          <a:prstGeom prst="ellipse">
            <a:avLst/>
          </a:prstGeom>
          <a:solidFill>
            <a:srgbClr val="0063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1025" name="Oval 1024">
            <a:extLst>
              <a:ext uri="{FF2B5EF4-FFF2-40B4-BE49-F238E27FC236}">
                <a16:creationId xmlns:a16="http://schemas.microsoft.com/office/drawing/2014/main" id="{A5F1352B-3ED8-64CE-B0CC-3DF196B9232B}"/>
              </a:ext>
            </a:extLst>
          </p:cNvPr>
          <p:cNvSpPr/>
          <p:nvPr/>
        </p:nvSpPr>
        <p:spPr>
          <a:xfrm>
            <a:off x="2425046" y="500610"/>
            <a:ext cx="130294" cy="130294"/>
          </a:xfrm>
          <a:prstGeom prst="ellipse">
            <a:avLst/>
          </a:prstGeom>
          <a:solidFill>
            <a:srgbClr val="0063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1028" name="Date Placeholder 3">
            <a:extLst>
              <a:ext uri="{FF2B5EF4-FFF2-40B4-BE49-F238E27FC236}">
                <a16:creationId xmlns:a16="http://schemas.microsoft.com/office/drawing/2014/main" id="{6AAFF580-A8C9-258F-1C96-B250DA66EE04}"/>
              </a:ext>
            </a:extLst>
          </p:cNvPr>
          <p:cNvSpPr txBox="1">
            <a:spLocks/>
          </p:cNvSpPr>
          <p:nvPr/>
        </p:nvSpPr>
        <p:spPr>
          <a:xfrm>
            <a:off x="25673" y="4922595"/>
            <a:ext cx="811609" cy="22090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gn="l" rtl="0" eaLnBrk="1" fontAlgn="base" hangingPunct="1">
              <a:lnSpc>
                <a:spcPct val="150000"/>
              </a:lnSpc>
              <a:spcBef>
                <a:spcPct val="0"/>
              </a:spcBef>
              <a:spcAft>
                <a:spcPct val="0"/>
              </a:spcAft>
              <a:defRPr lang="de-DE" sz="1400" kern="1200" baseline="0" noProof="0" dirty="0" smtClean="0">
                <a:solidFill>
                  <a:schemeClr val="tx1"/>
                </a:solidFill>
                <a:latin typeface="+mn-lt"/>
                <a:ea typeface="+mn-ea"/>
                <a:cs typeface="+mn-cs"/>
              </a:defRPr>
            </a:lvl1pPr>
            <a:lvl2pPr marL="176213" indent="-176213" algn="l" rtl="0" eaLnBrk="1" fontAlgn="base" hangingPunct="1">
              <a:lnSpc>
                <a:spcPct val="100000"/>
              </a:lnSpc>
              <a:spcBef>
                <a:spcPct val="0"/>
              </a:spcBef>
              <a:spcAft>
                <a:spcPct val="0"/>
              </a:spcAft>
              <a:buFont typeface="Arial" charset="0"/>
              <a:buChar char="•"/>
              <a:defRPr lang="de-DE" sz="1600" kern="1200" noProof="0" dirty="0" smtClean="0">
                <a:solidFill>
                  <a:schemeClr val="tx1"/>
                </a:solidFill>
                <a:latin typeface="+mn-lt"/>
                <a:ea typeface="+mn-ea"/>
                <a:cs typeface="+mn-cs"/>
              </a:defRPr>
            </a:lvl2pPr>
            <a:lvl3pPr marL="360363" indent="-184150"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fld id="{E6E0805E-65D9-544D-8805-556D80FFC742}" type="datetime1">
              <a:rPr lang="en-US" sz="1000" smtClean="0">
                <a:solidFill>
                  <a:schemeClr val="bg1">
                    <a:lumMod val="85000"/>
                  </a:schemeClr>
                </a:solidFill>
              </a:rPr>
              <a:pPr/>
              <a:t>12/7/25</a:t>
            </a:fld>
            <a:endParaRPr lang="en-US" sz="1000" dirty="0">
              <a:solidFill>
                <a:schemeClr val="bg1">
                  <a:lumMod val="85000"/>
                </a:schemeClr>
              </a:solidFill>
            </a:endParaRPr>
          </a:p>
        </p:txBody>
      </p:sp>
      <p:sp>
        <p:nvSpPr>
          <p:cNvPr id="2" name="Footer Placeholder 4">
            <a:extLst>
              <a:ext uri="{FF2B5EF4-FFF2-40B4-BE49-F238E27FC236}">
                <a16:creationId xmlns:a16="http://schemas.microsoft.com/office/drawing/2014/main" id="{FF9D1CEB-D044-4DBA-A620-BB444DD0D70F}"/>
              </a:ext>
            </a:extLst>
          </p:cNvPr>
          <p:cNvSpPr txBox="1">
            <a:spLocks/>
          </p:cNvSpPr>
          <p:nvPr/>
        </p:nvSpPr>
        <p:spPr>
          <a:xfrm>
            <a:off x="2394860" y="4787044"/>
            <a:ext cx="4482901" cy="360210"/>
          </a:xfrm>
          <a:prstGeom prst="rect">
            <a:avLst/>
          </a:prstGeom>
        </p:spPr>
        <p:txBody>
          <a:bodyPr/>
          <a:ls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lgn="ctr"/>
            <a:br>
              <a:rPr lang="en-US" sz="1000" dirty="0">
                <a:solidFill>
                  <a:schemeClr val="bg1">
                    <a:lumMod val="85000"/>
                  </a:schemeClr>
                </a:solidFill>
              </a:rPr>
            </a:br>
            <a:r>
              <a:rPr lang="en-US" sz="1000" dirty="0">
                <a:solidFill>
                  <a:schemeClr val="bg1">
                    <a:lumMod val="85000"/>
                  </a:schemeClr>
                </a:solidFill>
              </a:rPr>
              <a:t>Algorithmic Decision Making: Metaheuristics and Decomposition in Practice</a:t>
            </a:r>
          </a:p>
        </p:txBody>
      </p:sp>
    </p:spTree>
    <p:extLst>
      <p:ext uri="{BB962C8B-B14F-4D97-AF65-F5344CB8AC3E}">
        <p14:creationId xmlns:p14="http://schemas.microsoft.com/office/powerpoint/2010/main" val="694248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43" grpId="0" animBg="1"/>
      <p:bldP spid="49" grpId="0" animBg="1"/>
      <p:bldP spid="57" grpId="0" animBg="1"/>
      <p:bldP spid="58" grpId="0" animBg="1"/>
      <p:bldGraphic spid="61" grpId="0">
        <p:bldAsOne/>
      </p:bldGraphic>
      <p:bldP spid="6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D065B8-B7C8-52F8-4649-9A0FDC3AC205}"/>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DA5F11A-DA7B-2F59-2453-28E7A274E522}"/>
              </a:ext>
            </a:extLst>
          </p:cNvPr>
          <p:cNvSpPr>
            <a:spLocks noGrp="1"/>
          </p:cNvSpPr>
          <p:nvPr>
            <p:ph type="sldNum" sz="quarter" idx="12"/>
          </p:nvPr>
        </p:nvSpPr>
        <p:spPr/>
        <p:txBody>
          <a:bodyPr/>
          <a:lstStyle/>
          <a:p>
            <a:fld id="{CE58CB1E-F828-4F11-99E0-327109AF9DA4}" type="slidenum">
              <a:rPr lang="de-DE" smtClean="0"/>
              <a:pPr/>
              <a:t>15</a:t>
            </a:fld>
            <a:endParaRPr lang="de-DE" dirty="0"/>
          </a:p>
        </p:txBody>
      </p:sp>
      <p:sp>
        <p:nvSpPr>
          <p:cNvPr id="10" name="Rectangle 9">
            <a:extLst>
              <a:ext uri="{FF2B5EF4-FFF2-40B4-BE49-F238E27FC236}">
                <a16:creationId xmlns:a16="http://schemas.microsoft.com/office/drawing/2014/main" id="{512F94B8-1223-C09F-24C4-1F8568957CCB}"/>
              </a:ext>
            </a:extLst>
          </p:cNvPr>
          <p:cNvSpPr/>
          <p:nvPr/>
        </p:nvSpPr>
        <p:spPr>
          <a:xfrm>
            <a:off x="0" y="252983"/>
            <a:ext cx="1577591" cy="380745"/>
          </a:xfrm>
          <a:prstGeom prst="rect">
            <a:avLst/>
          </a:prstGeom>
          <a:solidFill>
            <a:srgbClr val="0064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nSpc>
                <a:spcPct val="114000"/>
              </a:lnSpc>
            </a:pPr>
            <a:r>
              <a:rPr lang="en-US" dirty="0"/>
              <a:t>Conclusion</a:t>
            </a:r>
          </a:p>
        </p:txBody>
      </p:sp>
      <p:cxnSp>
        <p:nvCxnSpPr>
          <p:cNvPr id="11" name="Straight Connector 10">
            <a:extLst>
              <a:ext uri="{FF2B5EF4-FFF2-40B4-BE49-F238E27FC236}">
                <a16:creationId xmlns:a16="http://schemas.microsoft.com/office/drawing/2014/main" id="{1ADE0D91-D384-256A-D1D0-112ADE0B88AD}"/>
              </a:ext>
            </a:extLst>
          </p:cNvPr>
          <p:cNvCxnSpPr>
            <a:cxnSpLocks/>
          </p:cNvCxnSpPr>
          <p:nvPr/>
        </p:nvCxnSpPr>
        <p:spPr>
          <a:xfrm>
            <a:off x="0" y="0"/>
            <a:ext cx="1577591"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0C2C695-3D7B-F0D6-B82C-4B9343FEB6E9}"/>
              </a:ext>
            </a:extLst>
          </p:cNvPr>
          <p:cNvCxnSpPr>
            <a:cxnSpLocks/>
          </p:cNvCxnSpPr>
          <p:nvPr/>
        </p:nvCxnSpPr>
        <p:spPr>
          <a:xfrm>
            <a:off x="1513583" y="0"/>
            <a:ext cx="1577591"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396F8DF-ACA6-2FC8-AB11-E2714EAECB55}"/>
              </a:ext>
            </a:extLst>
          </p:cNvPr>
          <p:cNvCxnSpPr>
            <a:cxnSpLocks/>
          </p:cNvCxnSpPr>
          <p:nvPr/>
        </p:nvCxnSpPr>
        <p:spPr>
          <a:xfrm>
            <a:off x="3091174" y="0"/>
            <a:ext cx="1577591"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20D3E0E-F534-4F3E-9A24-3F17999BFC87}"/>
              </a:ext>
            </a:extLst>
          </p:cNvPr>
          <p:cNvCxnSpPr>
            <a:cxnSpLocks/>
          </p:cNvCxnSpPr>
          <p:nvPr/>
        </p:nvCxnSpPr>
        <p:spPr>
          <a:xfrm>
            <a:off x="4668765" y="0"/>
            <a:ext cx="1577591"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A8F679A-F8A4-F630-7D3A-62CB108312B9}"/>
              </a:ext>
            </a:extLst>
          </p:cNvPr>
          <p:cNvCxnSpPr>
            <a:cxnSpLocks/>
          </p:cNvCxnSpPr>
          <p:nvPr/>
        </p:nvCxnSpPr>
        <p:spPr>
          <a:xfrm>
            <a:off x="6246356" y="0"/>
            <a:ext cx="1577591"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2BCFD01-087F-A1CD-5066-DD9289A43939}"/>
              </a:ext>
            </a:extLst>
          </p:cNvPr>
          <p:cNvCxnSpPr>
            <a:cxnSpLocks/>
          </p:cNvCxnSpPr>
          <p:nvPr/>
        </p:nvCxnSpPr>
        <p:spPr>
          <a:xfrm>
            <a:off x="7823947" y="0"/>
            <a:ext cx="1577591"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3" name="Rounded Rectangle 22">
            <a:extLst>
              <a:ext uri="{FF2B5EF4-FFF2-40B4-BE49-F238E27FC236}">
                <a16:creationId xmlns:a16="http://schemas.microsoft.com/office/drawing/2014/main" id="{D3B1BC7F-60BD-E6D8-6B46-5A6821794237}"/>
              </a:ext>
            </a:extLst>
          </p:cNvPr>
          <p:cNvSpPr/>
          <p:nvPr/>
        </p:nvSpPr>
        <p:spPr>
          <a:xfrm>
            <a:off x="892366" y="1165713"/>
            <a:ext cx="7359268" cy="1057619"/>
          </a:xfrm>
          <a:prstGeom prst="roundRect">
            <a:avLst/>
          </a:prstGeom>
          <a:ln w="38100"/>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rgbClr val="141413"/>
                </a:solidFill>
                <a:effectLst/>
                <a:latin typeface="Arial" panose="020B0604020202020204" pitchFamily="34" charset="0"/>
                <a:cs typeface="Arial" panose="020B0604020202020204" pitchFamily="34" charset="0"/>
              </a:rPr>
              <a:t>We constructed</a:t>
            </a:r>
          </a:p>
          <a:p>
            <a:pPr algn="ctr"/>
            <a:r>
              <a:rPr lang="en-US" dirty="0">
                <a:solidFill>
                  <a:srgbClr val="141413"/>
                </a:solidFill>
                <a:effectLst/>
                <a:latin typeface="Arial" panose="020B0604020202020204" pitchFamily="34" charset="0"/>
                <a:cs typeface="Arial" panose="020B0604020202020204" pitchFamily="34" charset="0"/>
              </a:rPr>
              <a:t> a high quality dataset of 78K valid comment-edit pairs.</a:t>
            </a:r>
          </a:p>
        </p:txBody>
      </p:sp>
      <p:sp>
        <p:nvSpPr>
          <p:cNvPr id="24" name="Rounded Rectangle 23">
            <a:extLst>
              <a:ext uri="{FF2B5EF4-FFF2-40B4-BE49-F238E27FC236}">
                <a16:creationId xmlns:a16="http://schemas.microsoft.com/office/drawing/2014/main" id="{4D61B21E-474A-1333-BC72-2A4D9BA1BFFF}"/>
              </a:ext>
            </a:extLst>
          </p:cNvPr>
          <p:cNvSpPr/>
          <p:nvPr/>
        </p:nvSpPr>
        <p:spPr>
          <a:xfrm>
            <a:off x="892366" y="2631654"/>
            <a:ext cx="7359268" cy="1057619"/>
          </a:xfrm>
          <a:prstGeom prst="roundRect">
            <a:avLst/>
          </a:prstGeom>
          <a:ln w="38100"/>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rgbClr val="141413"/>
                </a:solidFill>
                <a:effectLst/>
                <a:latin typeface="Arial" panose="020B0604020202020204" pitchFamily="34" charset="0"/>
                <a:cs typeface="Arial" panose="020B0604020202020204" pitchFamily="34" charset="0"/>
              </a:rPr>
              <a:t>We proposed </a:t>
            </a:r>
          </a:p>
          <a:p>
            <a:pPr algn="ctr"/>
            <a:r>
              <a:rPr lang="en-US" dirty="0">
                <a:solidFill>
                  <a:srgbClr val="141413"/>
                </a:solidFill>
                <a:effectLst/>
                <a:latin typeface="Arial" panose="020B0604020202020204" pitchFamily="34" charset="0"/>
                <a:cs typeface="Arial" panose="020B0604020202020204" pitchFamily="34" charset="0"/>
              </a:rPr>
              <a:t>a framework SOUP to perform SO post updating efficiently.</a:t>
            </a:r>
          </a:p>
        </p:txBody>
      </p:sp>
      <p:sp>
        <p:nvSpPr>
          <p:cNvPr id="2" name="Oval 1">
            <a:extLst>
              <a:ext uri="{FF2B5EF4-FFF2-40B4-BE49-F238E27FC236}">
                <a16:creationId xmlns:a16="http://schemas.microsoft.com/office/drawing/2014/main" id="{15611718-70AA-D9C9-2A0E-63C3F150DF41}"/>
              </a:ext>
            </a:extLst>
          </p:cNvPr>
          <p:cNvSpPr/>
          <p:nvPr/>
        </p:nvSpPr>
        <p:spPr>
          <a:xfrm>
            <a:off x="1666163" y="503434"/>
            <a:ext cx="130294" cy="130294"/>
          </a:xfrm>
          <a:prstGeom prst="ellipse">
            <a:avLst/>
          </a:prstGeom>
          <a:solidFill>
            <a:srgbClr val="0063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4" name="Oval 3">
            <a:extLst>
              <a:ext uri="{FF2B5EF4-FFF2-40B4-BE49-F238E27FC236}">
                <a16:creationId xmlns:a16="http://schemas.microsoft.com/office/drawing/2014/main" id="{AF79EAFA-5F11-274A-9A04-75BACFD1D08C}"/>
              </a:ext>
            </a:extLst>
          </p:cNvPr>
          <p:cNvSpPr/>
          <p:nvPr/>
        </p:nvSpPr>
        <p:spPr>
          <a:xfrm>
            <a:off x="1919124" y="503434"/>
            <a:ext cx="130294" cy="130294"/>
          </a:xfrm>
          <a:prstGeom prst="ellipse">
            <a:avLst/>
          </a:prstGeom>
          <a:noFill/>
          <a:ln w="12700">
            <a:solidFill>
              <a:srgbClr val="0063BD"/>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7" name="Date Placeholder 3">
            <a:extLst>
              <a:ext uri="{FF2B5EF4-FFF2-40B4-BE49-F238E27FC236}">
                <a16:creationId xmlns:a16="http://schemas.microsoft.com/office/drawing/2014/main" id="{684D7C0E-99A8-1FA6-1528-9A9F2BBABC2B}"/>
              </a:ext>
            </a:extLst>
          </p:cNvPr>
          <p:cNvSpPr txBox="1">
            <a:spLocks/>
          </p:cNvSpPr>
          <p:nvPr/>
        </p:nvSpPr>
        <p:spPr>
          <a:xfrm>
            <a:off x="25673" y="4922595"/>
            <a:ext cx="811609" cy="22090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gn="l" rtl="0" eaLnBrk="1" fontAlgn="base" hangingPunct="1">
              <a:lnSpc>
                <a:spcPct val="150000"/>
              </a:lnSpc>
              <a:spcBef>
                <a:spcPct val="0"/>
              </a:spcBef>
              <a:spcAft>
                <a:spcPct val="0"/>
              </a:spcAft>
              <a:defRPr lang="de-DE" sz="1400" kern="1200" baseline="0" noProof="0" dirty="0" smtClean="0">
                <a:solidFill>
                  <a:schemeClr val="tx1"/>
                </a:solidFill>
                <a:latin typeface="+mn-lt"/>
                <a:ea typeface="+mn-ea"/>
                <a:cs typeface="+mn-cs"/>
              </a:defRPr>
            </a:lvl1pPr>
            <a:lvl2pPr marL="176213" indent="-176213" algn="l" rtl="0" eaLnBrk="1" fontAlgn="base" hangingPunct="1">
              <a:lnSpc>
                <a:spcPct val="100000"/>
              </a:lnSpc>
              <a:spcBef>
                <a:spcPct val="0"/>
              </a:spcBef>
              <a:spcAft>
                <a:spcPct val="0"/>
              </a:spcAft>
              <a:buFont typeface="Arial" charset="0"/>
              <a:buChar char="•"/>
              <a:defRPr lang="de-DE" sz="1600" kern="1200" noProof="0" dirty="0" smtClean="0">
                <a:solidFill>
                  <a:schemeClr val="tx1"/>
                </a:solidFill>
                <a:latin typeface="+mn-lt"/>
                <a:ea typeface="+mn-ea"/>
                <a:cs typeface="+mn-cs"/>
              </a:defRPr>
            </a:lvl2pPr>
            <a:lvl3pPr marL="360363" indent="-184150"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fld id="{E6E0805E-65D9-544D-8805-556D80FFC742}" type="datetime1">
              <a:rPr lang="en-US" sz="1000" smtClean="0">
                <a:solidFill>
                  <a:schemeClr val="bg1">
                    <a:lumMod val="85000"/>
                  </a:schemeClr>
                </a:solidFill>
              </a:rPr>
              <a:pPr/>
              <a:t>12/7/25</a:t>
            </a:fld>
            <a:endParaRPr lang="en-US" sz="1000" dirty="0">
              <a:solidFill>
                <a:schemeClr val="bg1">
                  <a:lumMod val="85000"/>
                </a:schemeClr>
              </a:solidFill>
            </a:endParaRPr>
          </a:p>
        </p:txBody>
      </p:sp>
      <p:sp>
        <p:nvSpPr>
          <p:cNvPr id="5" name="Footer Placeholder 4">
            <a:extLst>
              <a:ext uri="{FF2B5EF4-FFF2-40B4-BE49-F238E27FC236}">
                <a16:creationId xmlns:a16="http://schemas.microsoft.com/office/drawing/2014/main" id="{03354F8E-9483-1D15-8999-A671B8FD0211}"/>
              </a:ext>
            </a:extLst>
          </p:cNvPr>
          <p:cNvSpPr txBox="1">
            <a:spLocks/>
          </p:cNvSpPr>
          <p:nvPr/>
        </p:nvSpPr>
        <p:spPr>
          <a:xfrm>
            <a:off x="2394860" y="4787044"/>
            <a:ext cx="4482901" cy="360210"/>
          </a:xfrm>
          <a:prstGeom prst="rect">
            <a:avLst/>
          </a:prstGeom>
        </p:spPr>
        <p:txBody>
          <a:bodyPr/>
          <a:ls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lgn="ctr"/>
            <a:br>
              <a:rPr lang="en-US" sz="1000" dirty="0">
                <a:solidFill>
                  <a:schemeClr val="bg1">
                    <a:lumMod val="85000"/>
                  </a:schemeClr>
                </a:solidFill>
              </a:rPr>
            </a:br>
            <a:r>
              <a:rPr lang="en-US" sz="1000" dirty="0">
                <a:solidFill>
                  <a:schemeClr val="bg1">
                    <a:lumMod val="85000"/>
                  </a:schemeClr>
                </a:solidFill>
              </a:rPr>
              <a:t>Algorithmic Decision Making: Metaheuristics and Decomposition in Practice</a:t>
            </a:r>
          </a:p>
        </p:txBody>
      </p:sp>
    </p:spTree>
    <p:extLst>
      <p:ext uri="{BB962C8B-B14F-4D97-AF65-F5344CB8AC3E}">
        <p14:creationId xmlns:p14="http://schemas.microsoft.com/office/powerpoint/2010/main" val="2738248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E4F34D8-1891-8B15-DA59-09F76A3C89E9}"/>
              </a:ext>
            </a:extLst>
          </p:cNvPr>
          <p:cNvSpPr>
            <a:spLocks noGrp="1"/>
          </p:cNvSpPr>
          <p:nvPr>
            <p:ph type="sldNum" sz="quarter" idx="12"/>
          </p:nvPr>
        </p:nvSpPr>
        <p:spPr/>
        <p:txBody>
          <a:bodyPr/>
          <a:lstStyle/>
          <a:p>
            <a:fld id="{CE58CB1E-F828-4F11-99E0-327109AF9DA4}" type="slidenum">
              <a:rPr lang="de-DE" smtClean="0"/>
              <a:pPr/>
              <a:t>16</a:t>
            </a:fld>
            <a:endParaRPr lang="de-DE" dirty="0"/>
          </a:p>
        </p:txBody>
      </p:sp>
      <p:sp>
        <p:nvSpPr>
          <p:cNvPr id="10" name="Rectangle 9">
            <a:extLst>
              <a:ext uri="{FF2B5EF4-FFF2-40B4-BE49-F238E27FC236}">
                <a16:creationId xmlns:a16="http://schemas.microsoft.com/office/drawing/2014/main" id="{4D11CDFF-E9A2-DC0A-F34F-00A23696D604}"/>
              </a:ext>
            </a:extLst>
          </p:cNvPr>
          <p:cNvSpPr/>
          <p:nvPr/>
        </p:nvSpPr>
        <p:spPr>
          <a:xfrm>
            <a:off x="0" y="252983"/>
            <a:ext cx="1577591" cy="380745"/>
          </a:xfrm>
          <a:prstGeom prst="rect">
            <a:avLst/>
          </a:prstGeom>
          <a:solidFill>
            <a:srgbClr val="0064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nSpc>
                <a:spcPct val="114000"/>
              </a:lnSpc>
            </a:pPr>
            <a:r>
              <a:rPr lang="en-US" dirty="0"/>
              <a:t>Conclusion</a:t>
            </a:r>
          </a:p>
        </p:txBody>
      </p:sp>
      <p:cxnSp>
        <p:nvCxnSpPr>
          <p:cNvPr id="11" name="Straight Connector 10">
            <a:extLst>
              <a:ext uri="{FF2B5EF4-FFF2-40B4-BE49-F238E27FC236}">
                <a16:creationId xmlns:a16="http://schemas.microsoft.com/office/drawing/2014/main" id="{E39A911E-3D3B-6E53-DB28-09DBD44C44B6}"/>
              </a:ext>
            </a:extLst>
          </p:cNvPr>
          <p:cNvCxnSpPr>
            <a:cxnSpLocks/>
          </p:cNvCxnSpPr>
          <p:nvPr/>
        </p:nvCxnSpPr>
        <p:spPr>
          <a:xfrm>
            <a:off x="0" y="0"/>
            <a:ext cx="1577591"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6671380-143A-200A-C979-3514CE665C6C}"/>
              </a:ext>
            </a:extLst>
          </p:cNvPr>
          <p:cNvCxnSpPr>
            <a:cxnSpLocks/>
          </p:cNvCxnSpPr>
          <p:nvPr/>
        </p:nvCxnSpPr>
        <p:spPr>
          <a:xfrm>
            <a:off x="1513583" y="0"/>
            <a:ext cx="1577591"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0DECFA4E-7435-89E8-F5B0-D13C9D2B9012}"/>
              </a:ext>
            </a:extLst>
          </p:cNvPr>
          <p:cNvCxnSpPr>
            <a:cxnSpLocks/>
          </p:cNvCxnSpPr>
          <p:nvPr/>
        </p:nvCxnSpPr>
        <p:spPr>
          <a:xfrm>
            <a:off x="3091174" y="0"/>
            <a:ext cx="1577591"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D284FA5-113F-FDFA-9529-38B95FE734CE}"/>
              </a:ext>
            </a:extLst>
          </p:cNvPr>
          <p:cNvCxnSpPr>
            <a:cxnSpLocks/>
          </p:cNvCxnSpPr>
          <p:nvPr/>
        </p:nvCxnSpPr>
        <p:spPr>
          <a:xfrm>
            <a:off x="4668765" y="0"/>
            <a:ext cx="1577591"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E4E64A7-9FB9-E502-7EA7-56CD06C1A381}"/>
              </a:ext>
            </a:extLst>
          </p:cNvPr>
          <p:cNvCxnSpPr>
            <a:cxnSpLocks/>
          </p:cNvCxnSpPr>
          <p:nvPr/>
        </p:nvCxnSpPr>
        <p:spPr>
          <a:xfrm>
            <a:off x="6246356" y="0"/>
            <a:ext cx="1577591"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E7735981-FC5B-86FF-1D34-63C8F140B5A5}"/>
              </a:ext>
            </a:extLst>
          </p:cNvPr>
          <p:cNvCxnSpPr>
            <a:cxnSpLocks/>
          </p:cNvCxnSpPr>
          <p:nvPr/>
        </p:nvCxnSpPr>
        <p:spPr>
          <a:xfrm>
            <a:off x="7823947" y="0"/>
            <a:ext cx="1577591"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3" name="Rounded Rectangle 22">
            <a:extLst>
              <a:ext uri="{FF2B5EF4-FFF2-40B4-BE49-F238E27FC236}">
                <a16:creationId xmlns:a16="http://schemas.microsoft.com/office/drawing/2014/main" id="{B8BAF34C-8CD7-ADC6-1044-024BAD1B66C8}"/>
              </a:ext>
            </a:extLst>
          </p:cNvPr>
          <p:cNvSpPr/>
          <p:nvPr/>
        </p:nvSpPr>
        <p:spPr>
          <a:xfrm>
            <a:off x="892366" y="1165713"/>
            <a:ext cx="7359268" cy="1057619"/>
          </a:xfrm>
          <a:prstGeom prst="roundRect">
            <a:avLst/>
          </a:prstGeom>
          <a:ln w="38100"/>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800" dirty="0">
                <a:solidFill>
                  <a:srgbClr val="141413"/>
                </a:solidFill>
                <a:effectLst/>
                <a:latin typeface="Arial" panose="020B0604020202020204" pitchFamily="34" charset="0"/>
                <a:cs typeface="Arial" panose="020B0604020202020204" pitchFamily="34" charset="0"/>
              </a:rPr>
              <a:t>Thanks !</a:t>
            </a:r>
          </a:p>
        </p:txBody>
      </p:sp>
      <p:sp>
        <p:nvSpPr>
          <p:cNvPr id="24" name="Rounded Rectangle 23">
            <a:extLst>
              <a:ext uri="{FF2B5EF4-FFF2-40B4-BE49-F238E27FC236}">
                <a16:creationId xmlns:a16="http://schemas.microsoft.com/office/drawing/2014/main" id="{AB8FF952-00D6-0D91-2315-384AD988FAAD}"/>
              </a:ext>
            </a:extLst>
          </p:cNvPr>
          <p:cNvSpPr/>
          <p:nvPr/>
        </p:nvSpPr>
        <p:spPr>
          <a:xfrm>
            <a:off x="892366" y="2631654"/>
            <a:ext cx="7359268" cy="1057619"/>
          </a:xfrm>
          <a:prstGeom prst="roundRect">
            <a:avLst/>
          </a:prstGeom>
          <a:ln w="38100"/>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800" dirty="0">
                <a:solidFill>
                  <a:srgbClr val="141413"/>
                </a:solidFill>
                <a:effectLst/>
                <a:latin typeface="Helvetica" pitchFamily="2" charset="0"/>
              </a:rPr>
              <a:t>Q&amp;A</a:t>
            </a:r>
          </a:p>
        </p:txBody>
      </p:sp>
      <p:sp>
        <p:nvSpPr>
          <p:cNvPr id="25" name="Oval 24">
            <a:extLst>
              <a:ext uri="{FF2B5EF4-FFF2-40B4-BE49-F238E27FC236}">
                <a16:creationId xmlns:a16="http://schemas.microsoft.com/office/drawing/2014/main" id="{A6A500BA-DC4A-7164-1176-2916BEF7D399}"/>
              </a:ext>
            </a:extLst>
          </p:cNvPr>
          <p:cNvSpPr/>
          <p:nvPr/>
        </p:nvSpPr>
        <p:spPr>
          <a:xfrm>
            <a:off x="1666163" y="503434"/>
            <a:ext cx="130294" cy="130294"/>
          </a:xfrm>
          <a:prstGeom prst="ellipse">
            <a:avLst/>
          </a:prstGeom>
          <a:solidFill>
            <a:srgbClr val="0063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26" name="Oval 25">
            <a:extLst>
              <a:ext uri="{FF2B5EF4-FFF2-40B4-BE49-F238E27FC236}">
                <a16:creationId xmlns:a16="http://schemas.microsoft.com/office/drawing/2014/main" id="{2C43F333-DAB8-9DC2-5BE0-FC5EACE262F0}"/>
              </a:ext>
            </a:extLst>
          </p:cNvPr>
          <p:cNvSpPr/>
          <p:nvPr/>
        </p:nvSpPr>
        <p:spPr>
          <a:xfrm>
            <a:off x="1919124" y="503434"/>
            <a:ext cx="130294" cy="130294"/>
          </a:xfrm>
          <a:prstGeom prst="ellipse">
            <a:avLst/>
          </a:prstGeom>
          <a:solidFill>
            <a:srgbClr val="0063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28" name="Date Placeholder 3">
            <a:extLst>
              <a:ext uri="{FF2B5EF4-FFF2-40B4-BE49-F238E27FC236}">
                <a16:creationId xmlns:a16="http://schemas.microsoft.com/office/drawing/2014/main" id="{BD4B3D8C-C792-FC01-7DCF-9FB9306D8146}"/>
              </a:ext>
            </a:extLst>
          </p:cNvPr>
          <p:cNvSpPr txBox="1">
            <a:spLocks/>
          </p:cNvSpPr>
          <p:nvPr/>
        </p:nvSpPr>
        <p:spPr>
          <a:xfrm>
            <a:off x="25673" y="4922595"/>
            <a:ext cx="811609" cy="22090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gn="l" rtl="0" eaLnBrk="1" fontAlgn="base" hangingPunct="1">
              <a:lnSpc>
                <a:spcPct val="150000"/>
              </a:lnSpc>
              <a:spcBef>
                <a:spcPct val="0"/>
              </a:spcBef>
              <a:spcAft>
                <a:spcPct val="0"/>
              </a:spcAft>
              <a:defRPr lang="de-DE" sz="1400" kern="1200" baseline="0" noProof="0" dirty="0" smtClean="0">
                <a:solidFill>
                  <a:schemeClr val="tx1"/>
                </a:solidFill>
                <a:latin typeface="+mn-lt"/>
                <a:ea typeface="+mn-ea"/>
                <a:cs typeface="+mn-cs"/>
              </a:defRPr>
            </a:lvl1pPr>
            <a:lvl2pPr marL="176213" indent="-176213" algn="l" rtl="0" eaLnBrk="1" fontAlgn="base" hangingPunct="1">
              <a:lnSpc>
                <a:spcPct val="100000"/>
              </a:lnSpc>
              <a:spcBef>
                <a:spcPct val="0"/>
              </a:spcBef>
              <a:spcAft>
                <a:spcPct val="0"/>
              </a:spcAft>
              <a:buFont typeface="Arial" charset="0"/>
              <a:buChar char="•"/>
              <a:defRPr lang="de-DE" sz="1600" kern="1200" noProof="0" dirty="0" smtClean="0">
                <a:solidFill>
                  <a:schemeClr val="tx1"/>
                </a:solidFill>
                <a:latin typeface="+mn-lt"/>
                <a:ea typeface="+mn-ea"/>
                <a:cs typeface="+mn-cs"/>
              </a:defRPr>
            </a:lvl2pPr>
            <a:lvl3pPr marL="360363" indent="-184150"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fld id="{E6E0805E-65D9-544D-8805-556D80FFC742}" type="datetime1">
              <a:rPr lang="en-US" sz="1000" smtClean="0">
                <a:solidFill>
                  <a:schemeClr val="bg1">
                    <a:lumMod val="85000"/>
                  </a:schemeClr>
                </a:solidFill>
              </a:rPr>
              <a:pPr/>
              <a:t>12/7/25</a:t>
            </a:fld>
            <a:endParaRPr lang="en-US" sz="1000" dirty="0">
              <a:solidFill>
                <a:schemeClr val="bg1">
                  <a:lumMod val="85000"/>
                </a:schemeClr>
              </a:solidFill>
            </a:endParaRPr>
          </a:p>
        </p:txBody>
      </p:sp>
      <p:sp>
        <p:nvSpPr>
          <p:cNvPr id="2" name="Footer Placeholder 4">
            <a:extLst>
              <a:ext uri="{FF2B5EF4-FFF2-40B4-BE49-F238E27FC236}">
                <a16:creationId xmlns:a16="http://schemas.microsoft.com/office/drawing/2014/main" id="{746608A5-05DB-10C2-B2DB-AFBCE220ECF2}"/>
              </a:ext>
            </a:extLst>
          </p:cNvPr>
          <p:cNvSpPr txBox="1">
            <a:spLocks/>
          </p:cNvSpPr>
          <p:nvPr/>
        </p:nvSpPr>
        <p:spPr>
          <a:xfrm>
            <a:off x="2394860" y="4787044"/>
            <a:ext cx="4482901" cy="360210"/>
          </a:xfrm>
          <a:prstGeom prst="rect">
            <a:avLst/>
          </a:prstGeom>
        </p:spPr>
        <p:txBody>
          <a:bodyPr/>
          <a:ls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lgn="ctr"/>
            <a:br>
              <a:rPr lang="en-US" sz="1000" dirty="0">
                <a:solidFill>
                  <a:schemeClr val="bg1">
                    <a:lumMod val="85000"/>
                  </a:schemeClr>
                </a:solidFill>
              </a:rPr>
            </a:br>
            <a:r>
              <a:rPr lang="en-US" sz="1000" dirty="0">
                <a:solidFill>
                  <a:schemeClr val="bg1">
                    <a:lumMod val="85000"/>
                  </a:schemeClr>
                </a:solidFill>
              </a:rPr>
              <a:t>Algorithmic Decision Making: Metaheuristics and Decomposition in Practice</a:t>
            </a:r>
          </a:p>
        </p:txBody>
      </p:sp>
    </p:spTree>
    <p:extLst>
      <p:ext uri="{BB962C8B-B14F-4D97-AF65-F5344CB8AC3E}">
        <p14:creationId xmlns:p14="http://schemas.microsoft.com/office/powerpoint/2010/main" val="297917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Lst>
  </p:timing>
</p:sld>
</file>

<file path=ppt/theme/theme1.xml><?xml version="1.0" encoding="utf-8"?>
<a:theme xmlns:a="http://schemas.openxmlformats.org/drawingml/2006/main" name="Titel 1">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1" id="{71F9E29F-9B65-4C06-A32E-848D689232B9}" vid="{1E03A00F-5A34-475F-BA84-E2EBED434790}"/>
    </a:ext>
  </a:extLst>
</a:theme>
</file>

<file path=ppt/theme/theme2.xml><?xml version="1.0" encoding="utf-8"?>
<a:theme xmlns:a="http://schemas.openxmlformats.org/drawingml/2006/main" name="Titel 2">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1" id="{71F9E29F-9B65-4C06-A32E-848D689232B9}" vid="{008B5212-AD15-4DA8-AB6C-182350FFA4EA}"/>
    </a:ext>
  </a:extLst>
</a:theme>
</file>

<file path=ppt/theme/theme3.xml><?xml version="1.0" encoding="utf-8"?>
<a:theme xmlns:a="http://schemas.openxmlformats.org/drawingml/2006/main" name="Titel 3">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1" id="{71F9E29F-9B65-4C06-A32E-848D689232B9}" vid="{CFAC8027-78A3-4001-93FE-AE371D2D92B1}"/>
    </a:ext>
  </a:extLst>
</a:theme>
</file>

<file path=ppt/theme/theme4.xml><?xml version="1.0" encoding="utf-8"?>
<a:theme xmlns:a="http://schemas.openxmlformats.org/drawingml/2006/main" name="Inhalt">
  <a:themeElements>
    <a:clrScheme name="TUM">
      <a:dk1>
        <a:sysClr val="windowText" lastClr="000000"/>
      </a:dk1>
      <a:lt1>
        <a:sysClr val="window" lastClr="FFFFFF"/>
      </a:lt1>
      <a:dk2>
        <a:srgbClr val="003359"/>
      </a:dk2>
      <a:lt2>
        <a:srgbClr val="0065BD"/>
      </a:lt2>
      <a:accent1>
        <a:srgbClr val="005293"/>
      </a:accent1>
      <a:accent2>
        <a:srgbClr val="64A0C8"/>
      </a:accent2>
      <a:accent3>
        <a:srgbClr val="98C6EA"/>
      </a:accent3>
      <a:accent4>
        <a:srgbClr val="A2AD00"/>
      </a:accent4>
      <a:accent5>
        <a:srgbClr val="E37222"/>
      </a:accent5>
      <a:accent6>
        <a:srgbClr val="DAD7CB"/>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1" id="{71F9E29F-9B65-4C06-A32E-848D689232B9}" vid="{94C99F27-547F-408F-8FEB-51CB360826DB}"/>
    </a:ext>
  </a:extLst>
</a:theme>
</file>

<file path=ppt/theme/theme5.xml><?xml version="1.0" encoding="utf-8"?>
<a:theme xmlns:a="http://schemas.openxmlformats.org/drawingml/2006/main" name="Kapiteltrenner blau">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1" id="{71F9E29F-9B65-4C06-A32E-848D689232B9}" vid="{D62E0DEB-27C1-4887-9BB6-4AC5FC555B75}"/>
    </a:ext>
  </a:extLst>
</a:theme>
</file>

<file path=ppt/theme/theme6.xml><?xml version="1.0" encoding="utf-8"?>
<a:theme xmlns:a="http://schemas.openxmlformats.org/drawingml/2006/main" name="Kapiteltrenner schwarz">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1" id="{71F9E29F-9B65-4C06-A32E-848D689232B9}" vid="{D4175650-7EAE-421A-870A-005CB3789E30}"/>
    </a:ext>
  </a:extLst>
</a:theme>
</file>

<file path=ppt/theme/theme7.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Titel 1</Template>
  <TotalTime>3980</TotalTime>
  <Words>2606</Words>
  <Application>Microsoft Macintosh PowerPoint</Application>
  <PresentationFormat>On-screen Show (16:9)</PresentationFormat>
  <Paragraphs>449</Paragraphs>
  <Slides>16</Slides>
  <Notes>16</Notes>
  <HiddenSlides>0</HiddenSlides>
  <MMClips>0</MMClips>
  <ScaleCrop>false</ScaleCrop>
  <HeadingPairs>
    <vt:vector size="6" baseType="variant">
      <vt:variant>
        <vt:lpstr>Fonts Used</vt:lpstr>
      </vt:variant>
      <vt:variant>
        <vt:i4>7</vt:i4>
      </vt:variant>
      <vt:variant>
        <vt:lpstr>Theme</vt:lpstr>
      </vt:variant>
      <vt:variant>
        <vt:i4>6</vt:i4>
      </vt:variant>
      <vt:variant>
        <vt:lpstr>Slide Titles</vt:lpstr>
      </vt:variant>
      <vt:variant>
        <vt:i4>16</vt:i4>
      </vt:variant>
    </vt:vector>
  </HeadingPairs>
  <TitlesOfParts>
    <vt:vector size="29" baseType="lpstr">
      <vt:lpstr>Arial</vt:lpstr>
      <vt:lpstr>Calibri</vt:lpstr>
      <vt:lpstr>Cambria Math</vt:lpstr>
      <vt:lpstr>Courier New</vt:lpstr>
      <vt:lpstr>Helvetica</vt:lpstr>
      <vt:lpstr>Symbol</vt:lpstr>
      <vt:lpstr>Wingdings</vt:lpstr>
      <vt:lpstr>Titel 1</vt:lpstr>
      <vt:lpstr>Titel 2</vt:lpstr>
      <vt:lpstr>Titel 3</vt:lpstr>
      <vt:lpstr>Inhalt</vt:lpstr>
      <vt:lpstr>Kapiteltrenner blau</vt:lpstr>
      <vt:lpstr>Kapiteltrenner schwarz</vt:lpstr>
      <vt:lpstr>VRPTW Problem and its Solver</vt:lpstr>
      <vt:lpstr>PowerPoint Presentation</vt:lpstr>
      <vt:lpstr>PowerPoint Presentation</vt:lpstr>
      <vt:lpstr>PowerPoint Presentation</vt:lpstr>
      <vt:lpstr>PowerPoint Presentation</vt:lpstr>
      <vt:lpstr>PowerPoint Presentation</vt:lpstr>
      <vt:lpstr>SOUP VCP Task</vt:lpstr>
      <vt:lpstr>VCP Fine-tuning</vt:lpstr>
      <vt:lpstr>SOUP APU Task</vt:lpstr>
      <vt:lpstr>APU Fine-tuning</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Weiyuan Du</dc:creator>
  <cp:lastModifiedBy>Weiyuan Du</cp:lastModifiedBy>
  <cp:revision>14</cp:revision>
  <cp:lastPrinted>2015-07-30T14:04:45Z</cp:lastPrinted>
  <dcterms:created xsi:type="dcterms:W3CDTF">2025-07-12T14:00:57Z</dcterms:created>
  <dcterms:modified xsi:type="dcterms:W3CDTF">2025-12-07T17:15:19Z</dcterms:modified>
</cp:coreProperties>
</file>